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07" r:id="rId2"/>
    <p:sldId id="308" r:id="rId3"/>
    <p:sldId id="259" r:id="rId4"/>
    <p:sldId id="309" r:id="rId5"/>
    <p:sldId id="310" r:id="rId6"/>
    <p:sldId id="311" r:id="rId7"/>
    <p:sldId id="263" r:id="rId8"/>
    <p:sldId id="312" r:id="rId9"/>
    <p:sldId id="313" r:id="rId10"/>
    <p:sldId id="267" r:id="rId11"/>
    <p:sldId id="314" r:id="rId12"/>
    <p:sldId id="270" r:id="rId13"/>
    <p:sldId id="271" r:id="rId14"/>
    <p:sldId id="315" r:id="rId15"/>
    <p:sldId id="275" r:id="rId16"/>
    <p:sldId id="316" r:id="rId17"/>
    <p:sldId id="281" r:id="rId18"/>
    <p:sldId id="317" r:id="rId19"/>
    <p:sldId id="284" r:id="rId20"/>
    <p:sldId id="318" r:id="rId21"/>
    <p:sldId id="324" r:id="rId22"/>
    <p:sldId id="325" r:id="rId23"/>
    <p:sldId id="326" r:id="rId24"/>
    <p:sldId id="289" r:id="rId25"/>
    <p:sldId id="327" r:id="rId26"/>
    <p:sldId id="291" r:id="rId27"/>
    <p:sldId id="319" r:id="rId28"/>
    <p:sldId id="328" r:id="rId29"/>
    <p:sldId id="332" r:id="rId30"/>
    <p:sldId id="333" r:id="rId31"/>
    <p:sldId id="321" r:id="rId32"/>
    <p:sldId id="299" r:id="rId33"/>
    <p:sldId id="322" r:id="rId34"/>
    <p:sldId id="329" r:id="rId35"/>
    <p:sldId id="323" r:id="rId36"/>
    <p:sldId id="305" r:id="rId37"/>
    <p:sldId id="330"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18" autoAdjust="0"/>
    <p:restoredTop sz="94660"/>
  </p:normalViewPr>
  <p:slideViewPr>
    <p:cSldViewPr snapToGrid="0">
      <p:cViewPr varScale="1">
        <p:scale>
          <a:sx n="72" d="100"/>
          <a:sy n="72" d="100"/>
        </p:scale>
        <p:origin x="67" y="3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77C85-ACFA-C65F-74D7-6DC12922A7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D1B2217-C19A-5D80-D2C7-DC530F3C0E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8E7CA67-323C-AF86-118F-B3554BB639E8}"/>
              </a:ext>
            </a:extLst>
          </p:cNvPr>
          <p:cNvSpPr>
            <a:spLocks noGrp="1"/>
          </p:cNvSpPr>
          <p:nvPr>
            <p:ph type="dt" sz="half" idx="10"/>
          </p:nvPr>
        </p:nvSpPr>
        <p:spPr/>
        <p:txBody>
          <a:bodyPr/>
          <a:lstStyle/>
          <a:p>
            <a:fld id="{4A9E8DCC-C784-47CB-8C36-1BB2923580DA}" type="datetimeFigureOut">
              <a:rPr lang="en-US" smtClean="0"/>
              <a:t>3/4/2026</a:t>
            </a:fld>
            <a:endParaRPr lang="en-US"/>
          </a:p>
        </p:txBody>
      </p:sp>
      <p:sp>
        <p:nvSpPr>
          <p:cNvPr id="5" name="Footer Placeholder 4">
            <a:extLst>
              <a:ext uri="{FF2B5EF4-FFF2-40B4-BE49-F238E27FC236}">
                <a16:creationId xmlns:a16="http://schemas.microsoft.com/office/drawing/2014/main" id="{3776560B-BC2D-B181-C429-4E632402D6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493FBC-A352-E1F7-4737-4A45C0451D78}"/>
              </a:ext>
            </a:extLst>
          </p:cNvPr>
          <p:cNvSpPr>
            <a:spLocks noGrp="1"/>
          </p:cNvSpPr>
          <p:nvPr>
            <p:ph type="sldNum" sz="quarter" idx="12"/>
          </p:nvPr>
        </p:nvSpPr>
        <p:spPr/>
        <p:txBody>
          <a:bodyPr/>
          <a:lstStyle/>
          <a:p>
            <a:fld id="{F6E57CD4-E127-4498-BC96-7DE34A5C4F7F}" type="slidenum">
              <a:rPr lang="en-US" smtClean="0"/>
              <a:t>‹#›</a:t>
            </a:fld>
            <a:endParaRPr lang="en-US"/>
          </a:p>
        </p:txBody>
      </p:sp>
    </p:spTree>
    <p:extLst>
      <p:ext uri="{BB962C8B-B14F-4D97-AF65-F5344CB8AC3E}">
        <p14:creationId xmlns:p14="http://schemas.microsoft.com/office/powerpoint/2010/main" val="27095775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9272B-A9CA-B564-7EAE-7260311B5B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2CE5EA-00EC-7FA8-D2EE-27F2D91A7C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6241AC-DE77-D50A-0042-B436D4A83DFF}"/>
              </a:ext>
            </a:extLst>
          </p:cNvPr>
          <p:cNvSpPr>
            <a:spLocks noGrp="1"/>
          </p:cNvSpPr>
          <p:nvPr>
            <p:ph type="dt" sz="half" idx="10"/>
          </p:nvPr>
        </p:nvSpPr>
        <p:spPr/>
        <p:txBody>
          <a:bodyPr/>
          <a:lstStyle/>
          <a:p>
            <a:fld id="{4A9E8DCC-C784-47CB-8C36-1BB2923580DA}" type="datetimeFigureOut">
              <a:rPr lang="en-US" smtClean="0"/>
              <a:t>3/4/2026</a:t>
            </a:fld>
            <a:endParaRPr lang="en-US"/>
          </a:p>
        </p:txBody>
      </p:sp>
      <p:sp>
        <p:nvSpPr>
          <p:cNvPr id="5" name="Footer Placeholder 4">
            <a:extLst>
              <a:ext uri="{FF2B5EF4-FFF2-40B4-BE49-F238E27FC236}">
                <a16:creationId xmlns:a16="http://schemas.microsoft.com/office/drawing/2014/main" id="{E6A11541-3BEB-F010-CC1B-6BCCDA4F2F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6B9F9A-8E25-87CB-0F31-CAEE39028651}"/>
              </a:ext>
            </a:extLst>
          </p:cNvPr>
          <p:cNvSpPr>
            <a:spLocks noGrp="1"/>
          </p:cNvSpPr>
          <p:nvPr>
            <p:ph type="sldNum" sz="quarter" idx="12"/>
          </p:nvPr>
        </p:nvSpPr>
        <p:spPr/>
        <p:txBody>
          <a:bodyPr/>
          <a:lstStyle/>
          <a:p>
            <a:fld id="{F6E57CD4-E127-4498-BC96-7DE34A5C4F7F}" type="slidenum">
              <a:rPr lang="en-US" smtClean="0"/>
              <a:t>‹#›</a:t>
            </a:fld>
            <a:endParaRPr lang="en-US"/>
          </a:p>
        </p:txBody>
      </p:sp>
    </p:spTree>
    <p:extLst>
      <p:ext uri="{BB962C8B-B14F-4D97-AF65-F5344CB8AC3E}">
        <p14:creationId xmlns:p14="http://schemas.microsoft.com/office/powerpoint/2010/main" val="4231813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F80C6-5A05-A83B-E8D3-D8FC609C122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AEE6ADC-54D3-7D61-DEF8-5C90547F072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4D052D7-D631-0AAA-96F2-1D0636A7FE32}"/>
              </a:ext>
            </a:extLst>
          </p:cNvPr>
          <p:cNvSpPr>
            <a:spLocks noGrp="1"/>
          </p:cNvSpPr>
          <p:nvPr>
            <p:ph type="dt" sz="half" idx="10"/>
          </p:nvPr>
        </p:nvSpPr>
        <p:spPr/>
        <p:txBody>
          <a:bodyPr/>
          <a:lstStyle/>
          <a:p>
            <a:fld id="{4A9E8DCC-C784-47CB-8C36-1BB2923580DA}" type="datetimeFigureOut">
              <a:rPr lang="en-US" smtClean="0"/>
              <a:t>3/4/2026</a:t>
            </a:fld>
            <a:endParaRPr lang="en-US"/>
          </a:p>
        </p:txBody>
      </p:sp>
      <p:sp>
        <p:nvSpPr>
          <p:cNvPr id="5" name="Footer Placeholder 4">
            <a:extLst>
              <a:ext uri="{FF2B5EF4-FFF2-40B4-BE49-F238E27FC236}">
                <a16:creationId xmlns:a16="http://schemas.microsoft.com/office/drawing/2014/main" id="{736657B9-BA2B-AACD-B13E-1A3A986F09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543587-AA62-4CF4-EE41-33D75897C5A7}"/>
              </a:ext>
            </a:extLst>
          </p:cNvPr>
          <p:cNvSpPr>
            <a:spLocks noGrp="1"/>
          </p:cNvSpPr>
          <p:nvPr>
            <p:ph type="sldNum" sz="quarter" idx="12"/>
          </p:nvPr>
        </p:nvSpPr>
        <p:spPr/>
        <p:txBody>
          <a:bodyPr/>
          <a:lstStyle/>
          <a:p>
            <a:fld id="{F6E57CD4-E127-4498-BC96-7DE34A5C4F7F}" type="slidenum">
              <a:rPr lang="en-US" smtClean="0"/>
              <a:t>‹#›</a:t>
            </a:fld>
            <a:endParaRPr lang="en-US"/>
          </a:p>
        </p:txBody>
      </p:sp>
    </p:spTree>
    <p:extLst>
      <p:ext uri="{BB962C8B-B14F-4D97-AF65-F5344CB8AC3E}">
        <p14:creationId xmlns:p14="http://schemas.microsoft.com/office/powerpoint/2010/main" val="2164795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41806-B349-FEE9-3CF2-12D5F046C7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A96AD8D-E09D-C913-A142-75461D7909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873437E-A8B7-D735-9CBC-2A185F9DA9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2A3FD41-CC50-4E36-63F3-DEE4BACAD6E0}"/>
              </a:ext>
            </a:extLst>
          </p:cNvPr>
          <p:cNvSpPr>
            <a:spLocks noGrp="1"/>
          </p:cNvSpPr>
          <p:nvPr>
            <p:ph type="dt" sz="half" idx="10"/>
          </p:nvPr>
        </p:nvSpPr>
        <p:spPr/>
        <p:txBody>
          <a:bodyPr/>
          <a:lstStyle/>
          <a:p>
            <a:fld id="{4A9E8DCC-C784-47CB-8C36-1BB2923580DA}" type="datetimeFigureOut">
              <a:rPr lang="en-US" smtClean="0"/>
              <a:t>3/4/2026</a:t>
            </a:fld>
            <a:endParaRPr lang="en-US"/>
          </a:p>
        </p:txBody>
      </p:sp>
      <p:sp>
        <p:nvSpPr>
          <p:cNvPr id="6" name="Footer Placeholder 5">
            <a:extLst>
              <a:ext uri="{FF2B5EF4-FFF2-40B4-BE49-F238E27FC236}">
                <a16:creationId xmlns:a16="http://schemas.microsoft.com/office/drawing/2014/main" id="{77D02D38-FF4F-2F41-B051-BBD7FB787F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7408D9-3B62-DD94-A171-E29406255DBB}"/>
              </a:ext>
            </a:extLst>
          </p:cNvPr>
          <p:cNvSpPr>
            <a:spLocks noGrp="1"/>
          </p:cNvSpPr>
          <p:nvPr>
            <p:ph type="sldNum" sz="quarter" idx="12"/>
          </p:nvPr>
        </p:nvSpPr>
        <p:spPr/>
        <p:txBody>
          <a:bodyPr/>
          <a:lstStyle/>
          <a:p>
            <a:fld id="{F6E57CD4-E127-4498-BC96-7DE34A5C4F7F}" type="slidenum">
              <a:rPr lang="en-US" smtClean="0"/>
              <a:t>‹#›</a:t>
            </a:fld>
            <a:endParaRPr lang="en-US"/>
          </a:p>
        </p:txBody>
      </p:sp>
    </p:spTree>
    <p:extLst>
      <p:ext uri="{BB962C8B-B14F-4D97-AF65-F5344CB8AC3E}">
        <p14:creationId xmlns:p14="http://schemas.microsoft.com/office/powerpoint/2010/main" val="13874378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783AD-559F-372E-2ABD-E1C00B25D62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414EDE5-DDED-AF9C-4F7C-84084E17BF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4C68743-37DA-B8B5-CAFB-B1CB466A641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851DCD4-722E-0829-3CAD-8BAFA83A2A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A98204-1781-49C8-5DE0-412A3FBE8AC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C0FBA43-60F4-CE51-C10B-113CD922123B}"/>
              </a:ext>
            </a:extLst>
          </p:cNvPr>
          <p:cNvSpPr>
            <a:spLocks noGrp="1"/>
          </p:cNvSpPr>
          <p:nvPr>
            <p:ph type="dt" sz="half" idx="10"/>
          </p:nvPr>
        </p:nvSpPr>
        <p:spPr/>
        <p:txBody>
          <a:bodyPr/>
          <a:lstStyle/>
          <a:p>
            <a:fld id="{4A9E8DCC-C784-47CB-8C36-1BB2923580DA}" type="datetimeFigureOut">
              <a:rPr lang="en-US" smtClean="0"/>
              <a:t>3/4/2026</a:t>
            </a:fld>
            <a:endParaRPr lang="en-US"/>
          </a:p>
        </p:txBody>
      </p:sp>
      <p:sp>
        <p:nvSpPr>
          <p:cNvPr id="8" name="Footer Placeholder 7">
            <a:extLst>
              <a:ext uri="{FF2B5EF4-FFF2-40B4-BE49-F238E27FC236}">
                <a16:creationId xmlns:a16="http://schemas.microsoft.com/office/drawing/2014/main" id="{D73ABD48-A64F-4193-8C2D-315357D699D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70973EA-11BC-57A1-7481-29092E39DEE6}"/>
              </a:ext>
            </a:extLst>
          </p:cNvPr>
          <p:cNvSpPr>
            <a:spLocks noGrp="1"/>
          </p:cNvSpPr>
          <p:nvPr>
            <p:ph type="sldNum" sz="quarter" idx="12"/>
          </p:nvPr>
        </p:nvSpPr>
        <p:spPr/>
        <p:txBody>
          <a:bodyPr/>
          <a:lstStyle/>
          <a:p>
            <a:fld id="{F6E57CD4-E127-4498-BC96-7DE34A5C4F7F}" type="slidenum">
              <a:rPr lang="en-US" smtClean="0"/>
              <a:t>‹#›</a:t>
            </a:fld>
            <a:endParaRPr lang="en-US"/>
          </a:p>
        </p:txBody>
      </p:sp>
    </p:spTree>
    <p:extLst>
      <p:ext uri="{BB962C8B-B14F-4D97-AF65-F5344CB8AC3E}">
        <p14:creationId xmlns:p14="http://schemas.microsoft.com/office/powerpoint/2010/main" val="23216964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1A2B7-B213-BFD7-8C75-A6866EB68E6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FC222EB-C9ED-00A7-0BA5-D86DD2DDE0AA}"/>
              </a:ext>
            </a:extLst>
          </p:cNvPr>
          <p:cNvSpPr>
            <a:spLocks noGrp="1"/>
          </p:cNvSpPr>
          <p:nvPr>
            <p:ph type="dt" sz="half" idx="10"/>
          </p:nvPr>
        </p:nvSpPr>
        <p:spPr/>
        <p:txBody>
          <a:bodyPr/>
          <a:lstStyle/>
          <a:p>
            <a:fld id="{4A9E8DCC-C784-47CB-8C36-1BB2923580DA}" type="datetimeFigureOut">
              <a:rPr lang="en-US" smtClean="0"/>
              <a:t>3/4/2026</a:t>
            </a:fld>
            <a:endParaRPr lang="en-US"/>
          </a:p>
        </p:txBody>
      </p:sp>
      <p:sp>
        <p:nvSpPr>
          <p:cNvPr id="4" name="Footer Placeholder 3">
            <a:extLst>
              <a:ext uri="{FF2B5EF4-FFF2-40B4-BE49-F238E27FC236}">
                <a16:creationId xmlns:a16="http://schemas.microsoft.com/office/drawing/2014/main" id="{E063A6BD-25F9-39EC-42EA-19EB1787B49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B8792F-9048-CE3D-335A-651B62746B4F}"/>
              </a:ext>
            </a:extLst>
          </p:cNvPr>
          <p:cNvSpPr>
            <a:spLocks noGrp="1"/>
          </p:cNvSpPr>
          <p:nvPr>
            <p:ph type="sldNum" sz="quarter" idx="12"/>
          </p:nvPr>
        </p:nvSpPr>
        <p:spPr/>
        <p:txBody>
          <a:bodyPr/>
          <a:lstStyle/>
          <a:p>
            <a:fld id="{F6E57CD4-E127-4498-BC96-7DE34A5C4F7F}" type="slidenum">
              <a:rPr lang="en-US" smtClean="0"/>
              <a:t>‹#›</a:t>
            </a:fld>
            <a:endParaRPr lang="en-US"/>
          </a:p>
        </p:txBody>
      </p:sp>
    </p:spTree>
    <p:extLst>
      <p:ext uri="{BB962C8B-B14F-4D97-AF65-F5344CB8AC3E}">
        <p14:creationId xmlns:p14="http://schemas.microsoft.com/office/powerpoint/2010/main" val="20161747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16D9DE-09F6-EA5E-5E98-5A5715F82EDF}"/>
              </a:ext>
            </a:extLst>
          </p:cNvPr>
          <p:cNvSpPr>
            <a:spLocks noGrp="1"/>
          </p:cNvSpPr>
          <p:nvPr>
            <p:ph type="dt" sz="half" idx="10"/>
          </p:nvPr>
        </p:nvSpPr>
        <p:spPr/>
        <p:txBody>
          <a:bodyPr/>
          <a:lstStyle/>
          <a:p>
            <a:fld id="{4A9E8DCC-C784-47CB-8C36-1BB2923580DA}" type="datetimeFigureOut">
              <a:rPr lang="en-US" smtClean="0"/>
              <a:t>3/4/2026</a:t>
            </a:fld>
            <a:endParaRPr lang="en-US"/>
          </a:p>
        </p:txBody>
      </p:sp>
      <p:sp>
        <p:nvSpPr>
          <p:cNvPr id="3" name="Footer Placeholder 2">
            <a:extLst>
              <a:ext uri="{FF2B5EF4-FFF2-40B4-BE49-F238E27FC236}">
                <a16:creationId xmlns:a16="http://schemas.microsoft.com/office/drawing/2014/main" id="{783987E0-35E4-9147-1976-E6166F32AB3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FD84009-0264-E67F-8DCD-F129E297AC60}"/>
              </a:ext>
            </a:extLst>
          </p:cNvPr>
          <p:cNvSpPr>
            <a:spLocks noGrp="1"/>
          </p:cNvSpPr>
          <p:nvPr>
            <p:ph type="sldNum" sz="quarter" idx="12"/>
          </p:nvPr>
        </p:nvSpPr>
        <p:spPr/>
        <p:txBody>
          <a:bodyPr/>
          <a:lstStyle/>
          <a:p>
            <a:fld id="{F6E57CD4-E127-4498-BC96-7DE34A5C4F7F}" type="slidenum">
              <a:rPr lang="en-US" smtClean="0"/>
              <a:t>‹#›</a:t>
            </a:fld>
            <a:endParaRPr lang="en-US"/>
          </a:p>
        </p:txBody>
      </p:sp>
    </p:spTree>
    <p:extLst>
      <p:ext uri="{BB962C8B-B14F-4D97-AF65-F5344CB8AC3E}">
        <p14:creationId xmlns:p14="http://schemas.microsoft.com/office/powerpoint/2010/main" val="19793755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2615A-89B1-1F01-666B-DA7567BD1C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DE73100-5921-E3C7-BFAF-A537AA22DD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6E28664-E68D-0B74-19FA-703ADF1BF1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635823-14D6-404F-11B9-5AAFE6528DF5}"/>
              </a:ext>
            </a:extLst>
          </p:cNvPr>
          <p:cNvSpPr>
            <a:spLocks noGrp="1"/>
          </p:cNvSpPr>
          <p:nvPr>
            <p:ph type="dt" sz="half" idx="10"/>
          </p:nvPr>
        </p:nvSpPr>
        <p:spPr/>
        <p:txBody>
          <a:bodyPr/>
          <a:lstStyle/>
          <a:p>
            <a:fld id="{4A9E8DCC-C784-47CB-8C36-1BB2923580DA}" type="datetimeFigureOut">
              <a:rPr lang="en-US" smtClean="0"/>
              <a:t>3/4/2026</a:t>
            </a:fld>
            <a:endParaRPr lang="en-US"/>
          </a:p>
        </p:txBody>
      </p:sp>
      <p:sp>
        <p:nvSpPr>
          <p:cNvPr id="6" name="Footer Placeholder 5">
            <a:extLst>
              <a:ext uri="{FF2B5EF4-FFF2-40B4-BE49-F238E27FC236}">
                <a16:creationId xmlns:a16="http://schemas.microsoft.com/office/drawing/2014/main" id="{0ECBBCC1-3B53-DA32-BC72-7AABBA7675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03265A-DC56-2E9D-51EE-71A86035B8BA}"/>
              </a:ext>
            </a:extLst>
          </p:cNvPr>
          <p:cNvSpPr>
            <a:spLocks noGrp="1"/>
          </p:cNvSpPr>
          <p:nvPr>
            <p:ph type="sldNum" sz="quarter" idx="12"/>
          </p:nvPr>
        </p:nvSpPr>
        <p:spPr/>
        <p:txBody>
          <a:bodyPr/>
          <a:lstStyle/>
          <a:p>
            <a:fld id="{F6E57CD4-E127-4498-BC96-7DE34A5C4F7F}" type="slidenum">
              <a:rPr lang="en-US" smtClean="0"/>
              <a:t>‹#›</a:t>
            </a:fld>
            <a:endParaRPr lang="en-US"/>
          </a:p>
        </p:txBody>
      </p:sp>
    </p:spTree>
    <p:extLst>
      <p:ext uri="{BB962C8B-B14F-4D97-AF65-F5344CB8AC3E}">
        <p14:creationId xmlns:p14="http://schemas.microsoft.com/office/powerpoint/2010/main" val="3206870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7BA10-B6CF-6460-1550-BEFE6E207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A03F671-D4B9-0AB1-9EFD-C2A95A2E50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D333A95-8E0C-6FE7-9C9A-62A89E3C01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ACE0BC-95A6-5455-97FA-92F46A89A40B}"/>
              </a:ext>
            </a:extLst>
          </p:cNvPr>
          <p:cNvSpPr>
            <a:spLocks noGrp="1"/>
          </p:cNvSpPr>
          <p:nvPr>
            <p:ph type="dt" sz="half" idx="10"/>
          </p:nvPr>
        </p:nvSpPr>
        <p:spPr/>
        <p:txBody>
          <a:bodyPr/>
          <a:lstStyle/>
          <a:p>
            <a:fld id="{4A9E8DCC-C784-47CB-8C36-1BB2923580DA}" type="datetimeFigureOut">
              <a:rPr lang="en-US" smtClean="0"/>
              <a:t>3/4/2026</a:t>
            </a:fld>
            <a:endParaRPr lang="en-US"/>
          </a:p>
        </p:txBody>
      </p:sp>
      <p:sp>
        <p:nvSpPr>
          <p:cNvPr id="6" name="Footer Placeholder 5">
            <a:extLst>
              <a:ext uri="{FF2B5EF4-FFF2-40B4-BE49-F238E27FC236}">
                <a16:creationId xmlns:a16="http://schemas.microsoft.com/office/drawing/2014/main" id="{B51CCB74-F028-5ECE-EA4F-0039494FB1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EFE4FA-B2E6-EC13-924E-1D23659E2E76}"/>
              </a:ext>
            </a:extLst>
          </p:cNvPr>
          <p:cNvSpPr>
            <a:spLocks noGrp="1"/>
          </p:cNvSpPr>
          <p:nvPr>
            <p:ph type="sldNum" sz="quarter" idx="12"/>
          </p:nvPr>
        </p:nvSpPr>
        <p:spPr/>
        <p:txBody>
          <a:bodyPr/>
          <a:lstStyle/>
          <a:p>
            <a:fld id="{F6E57CD4-E127-4498-BC96-7DE34A5C4F7F}" type="slidenum">
              <a:rPr lang="en-US" smtClean="0"/>
              <a:t>‹#›</a:t>
            </a:fld>
            <a:endParaRPr lang="en-US"/>
          </a:p>
        </p:txBody>
      </p:sp>
    </p:spTree>
    <p:extLst>
      <p:ext uri="{BB962C8B-B14F-4D97-AF65-F5344CB8AC3E}">
        <p14:creationId xmlns:p14="http://schemas.microsoft.com/office/powerpoint/2010/main" val="2919962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D6112-E1D7-6C81-F108-908B75664F0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7E16023-BA68-4E1F-9F62-074FAFDF8DF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89FFEA-A5AD-1CAF-A47A-EBD32D529C34}"/>
              </a:ext>
            </a:extLst>
          </p:cNvPr>
          <p:cNvSpPr>
            <a:spLocks noGrp="1"/>
          </p:cNvSpPr>
          <p:nvPr>
            <p:ph type="dt" sz="half" idx="10"/>
          </p:nvPr>
        </p:nvSpPr>
        <p:spPr/>
        <p:txBody>
          <a:bodyPr/>
          <a:lstStyle/>
          <a:p>
            <a:fld id="{4A9E8DCC-C784-47CB-8C36-1BB2923580DA}" type="datetimeFigureOut">
              <a:rPr lang="en-US" smtClean="0"/>
              <a:t>3/4/2026</a:t>
            </a:fld>
            <a:endParaRPr lang="en-US"/>
          </a:p>
        </p:txBody>
      </p:sp>
      <p:sp>
        <p:nvSpPr>
          <p:cNvPr id="5" name="Footer Placeholder 4">
            <a:extLst>
              <a:ext uri="{FF2B5EF4-FFF2-40B4-BE49-F238E27FC236}">
                <a16:creationId xmlns:a16="http://schemas.microsoft.com/office/drawing/2014/main" id="{DE04E922-31B5-2186-C5F2-57BE54BDB9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CBB4BA-2EE3-D206-3985-1B1178EBAF1C}"/>
              </a:ext>
            </a:extLst>
          </p:cNvPr>
          <p:cNvSpPr>
            <a:spLocks noGrp="1"/>
          </p:cNvSpPr>
          <p:nvPr>
            <p:ph type="sldNum" sz="quarter" idx="12"/>
          </p:nvPr>
        </p:nvSpPr>
        <p:spPr/>
        <p:txBody>
          <a:bodyPr/>
          <a:lstStyle/>
          <a:p>
            <a:fld id="{F6E57CD4-E127-4498-BC96-7DE34A5C4F7F}" type="slidenum">
              <a:rPr lang="en-US" smtClean="0"/>
              <a:t>‹#›</a:t>
            </a:fld>
            <a:endParaRPr lang="en-US"/>
          </a:p>
        </p:txBody>
      </p:sp>
    </p:spTree>
    <p:extLst>
      <p:ext uri="{BB962C8B-B14F-4D97-AF65-F5344CB8AC3E}">
        <p14:creationId xmlns:p14="http://schemas.microsoft.com/office/powerpoint/2010/main" val="23969059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9A52C9-1BAA-37E6-825A-B046C259DD4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BDD12A1-8B21-8AB8-6E21-AE0368D920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E1ECB2-ACBF-6A39-4A04-D7757CBFE918}"/>
              </a:ext>
            </a:extLst>
          </p:cNvPr>
          <p:cNvSpPr>
            <a:spLocks noGrp="1"/>
          </p:cNvSpPr>
          <p:nvPr>
            <p:ph type="dt" sz="half" idx="10"/>
          </p:nvPr>
        </p:nvSpPr>
        <p:spPr/>
        <p:txBody>
          <a:bodyPr/>
          <a:lstStyle/>
          <a:p>
            <a:fld id="{4A9E8DCC-C784-47CB-8C36-1BB2923580DA}" type="datetimeFigureOut">
              <a:rPr lang="en-US" smtClean="0"/>
              <a:t>3/4/2026</a:t>
            </a:fld>
            <a:endParaRPr lang="en-US"/>
          </a:p>
        </p:txBody>
      </p:sp>
      <p:sp>
        <p:nvSpPr>
          <p:cNvPr id="5" name="Footer Placeholder 4">
            <a:extLst>
              <a:ext uri="{FF2B5EF4-FFF2-40B4-BE49-F238E27FC236}">
                <a16:creationId xmlns:a16="http://schemas.microsoft.com/office/drawing/2014/main" id="{46CFF88E-E2ED-53D5-B02F-7FB0073854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A9C7EC-6324-E751-1676-826BE1E06ADD}"/>
              </a:ext>
            </a:extLst>
          </p:cNvPr>
          <p:cNvSpPr>
            <a:spLocks noGrp="1"/>
          </p:cNvSpPr>
          <p:nvPr>
            <p:ph type="sldNum" sz="quarter" idx="12"/>
          </p:nvPr>
        </p:nvSpPr>
        <p:spPr/>
        <p:txBody>
          <a:bodyPr/>
          <a:lstStyle/>
          <a:p>
            <a:fld id="{F6E57CD4-E127-4498-BC96-7DE34A5C4F7F}" type="slidenum">
              <a:rPr lang="en-US" smtClean="0"/>
              <a:t>‹#›</a:t>
            </a:fld>
            <a:endParaRPr lang="en-US"/>
          </a:p>
        </p:txBody>
      </p:sp>
    </p:spTree>
    <p:extLst>
      <p:ext uri="{BB962C8B-B14F-4D97-AF65-F5344CB8AC3E}">
        <p14:creationId xmlns:p14="http://schemas.microsoft.com/office/powerpoint/2010/main" val="3240086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0F1117"/>
            </a:gs>
            <a:gs pos="100000">
              <a:srgbClr val="161927"/>
            </a:gs>
          </a:gsLst>
          <a:lin ang="5400000" scaled="1"/>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35DECD-FC89-7EE7-0BCA-723955C4DF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FBDB949-5924-1C76-6D4F-D3875765269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BD1DC8-7AE3-EEB5-0A67-77D6CD97E6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A9E8DCC-C784-47CB-8C36-1BB2923580DA}" type="datetimeFigureOut">
              <a:rPr lang="en-US" smtClean="0"/>
              <a:t>3/4/2026</a:t>
            </a:fld>
            <a:endParaRPr lang="en-US"/>
          </a:p>
        </p:txBody>
      </p:sp>
      <p:sp>
        <p:nvSpPr>
          <p:cNvPr id="5" name="Footer Placeholder 4">
            <a:extLst>
              <a:ext uri="{FF2B5EF4-FFF2-40B4-BE49-F238E27FC236}">
                <a16:creationId xmlns:a16="http://schemas.microsoft.com/office/drawing/2014/main" id="{1FFF9DED-194E-167F-7444-8C343F0858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C5D7FFE-8737-9CB2-15E7-51D025E43C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6E57CD4-E127-4498-BC96-7DE34A5C4F7F}" type="slidenum">
              <a:rPr lang="en-US" smtClean="0"/>
              <a:t>‹#›</a:t>
            </a:fld>
            <a:endParaRPr lang="en-US"/>
          </a:p>
        </p:txBody>
      </p:sp>
      <p:sp>
        <p:nvSpPr>
          <p:cNvPr id="900" name="AccentBar"/>
          <p:cNvSpPr/>
          <p:nvPr/>
        </p:nvSpPr>
        <p:spPr>
          <a:xfrm>
            <a:off x="0" y="0"/>
            <a:ext cx="12192000" cy="57150"/>
          </a:xfrm>
          <a:prstGeom prst="rect">
            <a:avLst/>
          </a:prstGeom>
          <a:gradFill>
            <a:gsLst>
              <a:gs pos="0">
                <a:srgbClr val="6C5CE7"/>
              </a:gs>
              <a:gs pos="50000">
                <a:srgbClr val="54A0FF"/>
              </a:gs>
              <a:gs pos="100000">
                <a:srgbClr val="00D2D3"/>
              </a:gs>
            </a:gsLst>
            <a:lin ang="0" scaled="1"/>
          </a:gradFill>
          <a:ln>
            <a:noFill/>
          </a:ln>
        </p:spPr>
        <p:txBody>
          <a:bodyPr/>
          <a:lstStyle/>
          <a:p>
            <a:endParaRPr lang="en-US"/>
          </a:p>
        </p:txBody>
      </p:sp>
      <p:sp>
        <p:nvSpPr>
          <p:cNvPr id="901" name="BottomLine"/>
          <p:cNvSpPr/>
          <p:nvPr/>
        </p:nvSpPr>
        <p:spPr>
          <a:xfrm>
            <a:off x="457200" y="6629400"/>
            <a:ext cx="11277600" cy="18288"/>
          </a:xfrm>
          <a:prstGeom prst="rect">
            <a:avLst/>
          </a:prstGeom>
          <a:solidFill>
            <a:srgbClr val="6C5CE7">
              <a:alpha val="30000"/>
            </a:srgbClr>
          </a:solidFill>
          <a:ln>
            <a:noFill/>
          </a:ln>
        </p:spPr>
        <p:txBody>
          <a:bodyPr/>
          <a:lstStyle/>
          <a:p>
            <a:endParaRPr lang="en-US"/>
          </a:p>
        </p:txBody>
      </p:sp>
    </p:spTree>
    <p:extLst>
      <p:ext uri="{BB962C8B-B14F-4D97-AF65-F5344CB8AC3E}">
        <p14:creationId xmlns:p14="http://schemas.microsoft.com/office/powerpoint/2010/main" val="30240989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rgbClr val="F0F0F0"/>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D0D4DC"/>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D0D4DC"/>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D0D4DC"/>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D0D4DC"/>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D0D4D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rgbClr val="D0D4DC"/>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0470F-BB06-28C2-6871-89A31323D1B2}"/>
              </a:ext>
            </a:extLst>
          </p:cNvPr>
          <p:cNvSpPr>
            <a:spLocks noGrp="1"/>
          </p:cNvSpPr>
          <p:nvPr>
            <p:ph type="ctrTitle"/>
          </p:nvPr>
        </p:nvSpPr>
        <p:spPr/>
        <p:txBody>
          <a:bodyPr>
            <a:normAutofit/>
          </a:bodyPr>
          <a:lstStyle/>
          <a:p>
            <a:r>
              <a:rPr lang="en-US" sz="3600" b="1"/>
              <a:t>CS &amp; Technical Skills
Crash Course</a:t>
            </a:r>
          </a:p>
        </p:txBody>
      </p:sp>
      <p:sp>
        <p:nvSpPr>
          <p:cNvPr id="3" name="Subtitle 2">
            <a:extLst>
              <a:ext uri="{FF2B5EF4-FFF2-40B4-BE49-F238E27FC236}">
                <a16:creationId xmlns:a16="http://schemas.microsoft.com/office/drawing/2014/main" id="{8EE93434-6E3A-AB89-7FFD-534378F7E371}"/>
              </a:ext>
            </a:extLst>
          </p:cNvPr>
          <p:cNvSpPr>
            <a:spLocks noGrp="1"/>
          </p:cNvSpPr>
          <p:nvPr>
            <p:ph type="subTitle" idx="1"/>
          </p:nvPr>
        </p:nvSpPr>
        <p:spPr/>
        <p:txBody>
          <a:bodyPr>
            <a:normAutofit/>
          </a:bodyPr>
          <a:lstStyle/>
          <a:p>
            <a:r>
              <a:rPr lang="en-US" sz="1800"/>
              <a:t>TAMID Quant Finance  |  NYU  |  Spring 2026</a:t>
            </a:r>
          </a:p>
        </p:txBody>
      </p:sp>
      <p:pic>
        <p:nvPicPr>
          <p:cNvPr id="4" name="Graphic 4" descr="Rocket launch ico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740400" y="381000"/>
            <a:ext cx="711200" cy="711200"/>
          </a:xfrm>
          <a:prstGeom prst="rect">
            <a:avLst/>
          </a:prstGeom>
        </p:spPr>
      </p:pic>
    </p:spTree>
    <p:extLst>
      <p:ext uri="{BB962C8B-B14F-4D97-AF65-F5344CB8AC3E}">
        <p14:creationId xmlns:p14="http://schemas.microsoft.com/office/powerpoint/2010/main" val="25949347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59D36-1164-81A8-D540-A3EC914AFAE5}"/>
              </a:ext>
            </a:extLst>
          </p:cNvPr>
          <p:cNvSpPr>
            <a:spLocks noGrp="1"/>
          </p:cNvSpPr>
          <p:nvPr>
            <p:ph type="title"/>
          </p:nvPr>
        </p:nvSpPr>
        <p:spPr/>
        <p:txBody>
          <a:bodyPr>
            <a:normAutofit/>
          </a:bodyPr>
          <a:lstStyle/>
          <a:p>
            <a:r>
              <a:rPr lang="en-US" sz="4000" b="1"/>
              <a:t>Welcome &amp; Philosophy</a:t>
            </a:r>
          </a:p>
        </p:txBody>
      </p:sp>
      <p:sp>
        <p:nvSpPr>
          <p:cNvPr id="3" name="Text Placeholder 2">
            <a:extLst>
              <a:ext uri="{FF2B5EF4-FFF2-40B4-BE49-F238E27FC236}">
                <a16:creationId xmlns:a16="http://schemas.microsoft.com/office/drawing/2014/main" id="{465BB03E-9889-C396-4EFE-A26E244FA8E5}"/>
              </a:ext>
            </a:extLst>
          </p:cNvPr>
          <p:cNvSpPr>
            <a:spLocks noGrp="1"/>
          </p:cNvSpPr>
          <p:nvPr>
            <p:ph type="body" idx="1"/>
          </p:nvPr>
        </p:nvSpPr>
        <p:spPr/>
        <p:txBody>
          <a:bodyPr>
            <a:normAutofit/>
          </a:bodyPr>
          <a:lstStyle/>
          <a:p>
            <a:r>
              <a:rPr lang="en-US" sz="1600"/>
              <a:t>Section 01  —  Why we embrace AI-assisted coding and what this course will teach you</a:t>
            </a:r>
          </a:p>
        </p:txBody>
      </p:sp>
      <p:pic>
        <p:nvPicPr>
          <p:cNvPr id="4" name="Graphic 4" descr="Target ico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14000" y="1968500"/>
            <a:ext cx="762000" cy="762000"/>
          </a:xfrm>
          <a:prstGeom prst="rect">
            <a:avLst/>
          </a:prstGeom>
        </p:spPr>
      </p:pic>
    </p:spTree>
    <p:extLst>
      <p:ext uri="{BB962C8B-B14F-4D97-AF65-F5344CB8AC3E}">
        <p14:creationId xmlns:p14="http://schemas.microsoft.com/office/powerpoint/2010/main" val="41023237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A47E0EF-82BA-4792-B932-0D34DE96C0EB}"/>
              </a:ext>
            </a:extLst>
          </p:cNvPr>
          <p:cNvSpPr txBox="1"/>
          <p:nvPr/>
        </p:nvSpPr>
        <p:spPr>
          <a:xfrm>
            <a:off x="381000" y="127000"/>
            <a:ext cx="11430000" cy="533400"/>
          </a:xfrm>
          <a:prstGeom prst="rect">
            <a:avLst/>
          </a:prstGeom>
          <a:noFill/>
        </p:spPr>
        <p:txBody>
          <a:bodyPr vertOverflow="overflow" vert="horz" wrap="square" rtlCol="0" anchor="t">
            <a:spAutoFit/>
          </a:bodyPr>
          <a:lstStyle/>
          <a:p>
            <a:pPr algn="l"/>
            <a:r>
              <a:rPr lang="en-US" sz="2600" b="1">
                <a:solidFill>
                  <a:srgbClr val="F0F0F0"/>
                </a:solidFill>
              </a:rPr>
              <a:t>The Vibe Coding Workflow</a:t>
            </a:r>
          </a:p>
        </p:txBody>
      </p:sp>
      <p:sp>
        <p:nvSpPr>
          <p:cNvPr id="7" name="Rectangle: Rounded Corners 6">
            <a:extLst>
              <a:ext uri="{FF2B5EF4-FFF2-40B4-BE49-F238E27FC236}">
                <a16:creationId xmlns:a16="http://schemas.microsoft.com/office/drawing/2014/main" id="{5AE302A8-F219-47D9-B0AA-8921266B2EA2}"/>
              </a:ext>
            </a:extLst>
          </p:cNvPr>
          <p:cNvSpPr/>
          <p:nvPr/>
        </p:nvSpPr>
        <p:spPr>
          <a:xfrm>
            <a:off x="406400" y="914400"/>
            <a:ext cx="1841500" cy="762000"/>
          </a:xfrm>
          <a:prstGeom prst="roundRect">
            <a:avLst/>
          </a:prstGeom>
          <a:solidFill>
            <a:srgbClr val="6C5CE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200" b="1">
                <a:solidFill>
                  <a:srgbClr val="FFFFFF"/>
                </a:solidFill>
              </a:rPr>
              <a:t>YOU
Domain Knowledge</a:t>
            </a:r>
          </a:p>
        </p:txBody>
      </p:sp>
      <p:sp>
        <p:nvSpPr>
          <p:cNvPr id="8" name="Rectangle: Rounded Corners 7">
            <a:extLst>
              <a:ext uri="{FF2B5EF4-FFF2-40B4-BE49-F238E27FC236}">
                <a16:creationId xmlns:a16="http://schemas.microsoft.com/office/drawing/2014/main" id="{539B9F99-56B6-448F-BBDB-A633B42AA1DF}"/>
              </a:ext>
            </a:extLst>
          </p:cNvPr>
          <p:cNvSpPr/>
          <p:nvPr/>
        </p:nvSpPr>
        <p:spPr>
          <a:xfrm>
            <a:off x="2755900" y="914400"/>
            <a:ext cx="1841500" cy="762000"/>
          </a:xfrm>
          <a:prstGeom prst="roundRect">
            <a:avLst/>
          </a:prstGeom>
          <a:solidFill>
            <a:srgbClr val="54A0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200" b="1">
                <a:solidFill>
                  <a:srgbClr val="FFFFFF"/>
                </a:solidFill>
              </a:rPr>
              <a:t>DESCRIBE
Plain English</a:t>
            </a:r>
          </a:p>
        </p:txBody>
      </p:sp>
      <p:sp>
        <p:nvSpPr>
          <p:cNvPr id="9" name="Rectangle: Rounded Corners 8">
            <a:extLst>
              <a:ext uri="{FF2B5EF4-FFF2-40B4-BE49-F238E27FC236}">
                <a16:creationId xmlns:a16="http://schemas.microsoft.com/office/drawing/2014/main" id="{8F2AA361-EF2F-4A18-8B15-22517746F5A5}"/>
              </a:ext>
            </a:extLst>
          </p:cNvPr>
          <p:cNvSpPr/>
          <p:nvPr/>
        </p:nvSpPr>
        <p:spPr>
          <a:xfrm>
            <a:off x="5105400" y="914400"/>
            <a:ext cx="1841500" cy="762000"/>
          </a:xfrm>
          <a:prstGeom prst="roundRect">
            <a:avLst/>
          </a:prstGeom>
          <a:solidFill>
            <a:srgbClr val="FF9F4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200" b="1">
                <a:solidFill>
                  <a:srgbClr val="0F1117"/>
                </a:solidFill>
              </a:rPr>
              <a:t>CLAUDE
Writes the Code</a:t>
            </a:r>
          </a:p>
        </p:txBody>
      </p:sp>
      <p:sp>
        <p:nvSpPr>
          <p:cNvPr id="10" name="Rectangle: Rounded Corners 9">
            <a:extLst>
              <a:ext uri="{FF2B5EF4-FFF2-40B4-BE49-F238E27FC236}">
                <a16:creationId xmlns:a16="http://schemas.microsoft.com/office/drawing/2014/main" id="{BA9BDB7F-1D6B-431C-B908-EB6C8275F4A7}"/>
              </a:ext>
            </a:extLst>
          </p:cNvPr>
          <p:cNvSpPr/>
          <p:nvPr/>
        </p:nvSpPr>
        <p:spPr>
          <a:xfrm>
            <a:off x="7454900" y="914400"/>
            <a:ext cx="1841500" cy="762000"/>
          </a:xfrm>
          <a:prstGeom prst="roundRect">
            <a:avLst/>
          </a:prstGeom>
          <a:solidFill>
            <a:srgbClr val="00D2D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200" b="1">
                <a:solidFill>
                  <a:srgbClr val="0F1117"/>
                </a:solidFill>
              </a:rPr>
              <a:t>CODE
Python / Scripts</a:t>
            </a:r>
          </a:p>
        </p:txBody>
      </p:sp>
      <p:sp>
        <p:nvSpPr>
          <p:cNvPr id="11" name="Rectangle: Rounded Corners 10">
            <a:extLst>
              <a:ext uri="{FF2B5EF4-FFF2-40B4-BE49-F238E27FC236}">
                <a16:creationId xmlns:a16="http://schemas.microsoft.com/office/drawing/2014/main" id="{BAEE8B03-5F8D-478F-B584-87813D40DC84}"/>
              </a:ext>
            </a:extLst>
          </p:cNvPr>
          <p:cNvSpPr/>
          <p:nvPr/>
        </p:nvSpPr>
        <p:spPr>
          <a:xfrm>
            <a:off x="9804400" y="914400"/>
            <a:ext cx="1841500" cy="762000"/>
          </a:xfrm>
          <a:prstGeom prst="roundRect">
            <a:avLst/>
          </a:prstGeom>
          <a:solidFill>
            <a:srgbClr val="5FD06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200" b="1">
                <a:solidFill>
                  <a:srgbClr val="0F1117"/>
                </a:solidFill>
              </a:rPr>
              <a:t>RESULTS
Charts &amp; Insights</a:t>
            </a:r>
          </a:p>
        </p:txBody>
      </p:sp>
      <p:sp>
        <p:nvSpPr>
          <p:cNvPr id="12" name="Arrow: Right 11">
            <a:extLst>
              <a:ext uri="{FF2B5EF4-FFF2-40B4-BE49-F238E27FC236}">
                <a16:creationId xmlns:a16="http://schemas.microsoft.com/office/drawing/2014/main" id="{E2C06C64-8DA9-4B7C-9DF9-1DEC33A66AD1}"/>
              </a:ext>
            </a:extLst>
          </p:cNvPr>
          <p:cNvSpPr/>
          <p:nvPr/>
        </p:nvSpPr>
        <p:spPr>
          <a:xfrm>
            <a:off x="2273300" y="1168400"/>
            <a:ext cx="457200" cy="254000"/>
          </a:xfrm>
          <a:prstGeom prst="rightArrow">
            <a:avLst/>
          </a:prstGeom>
          <a:solidFill>
            <a:srgbClr val="F0F0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Arrow: Right 12">
            <a:extLst>
              <a:ext uri="{FF2B5EF4-FFF2-40B4-BE49-F238E27FC236}">
                <a16:creationId xmlns:a16="http://schemas.microsoft.com/office/drawing/2014/main" id="{64DE7E55-118C-4A12-88BD-52D5B5098CD4}"/>
              </a:ext>
            </a:extLst>
          </p:cNvPr>
          <p:cNvSpPr/>
          <p:nvPr/>
        </p:nvSpPr>
        <p:spPr>
          <a:xfrm>
            <a:off x="4622800" y="1168400"/>
            <a:ext cx="457200" cy="254000"/>
          </a:xfrm>
          <a:prstGeom prst="rightArrow">
            <a:avLst/>
          </a:prstGeom>
          <a:solidFill>
            <a:srgbClr val="F0F0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Arrow: Right 13">
            <a:extLst>
              <a:ext uri="{FF2B5EF4-FFF2-40B4-BE49-F238E27FC236}">
                <a16:creationId xmlns:a16="http://schemas.microsoft.com/office/drawing/2014/main" id="{E11CF1AD-C149-4D05-957F-D9493557C95C}"/>
              </a:ext>
            </a:extLst>
          </p:cNvPr>
          <p:cNvSpPr/>
          <p:nvPr/>
        </p:nvSpPr>
        <p:spPr>
          <a:xfrm>
            <a:off x="6972300" y="1168400"/>
            <a:ext cx="457200" cy="254000"/>
          </a:xfrm>
          <a:prstGeom prst="rightArrow">
            <a:avLst/>
          </a:prstGeom>
          <a:solidFill>
            <a:srgbClr val="F0F0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Arrow: Right 14">
            <a:extLst>
              <a:ext uri="{FF2B5EF4-FFF2-40B4-BE49-F238E27FC236}">
                <a16:creationId xmlns:a16="http://schemas.microsoft.com/office/drawing/2014/main" id="{A4A1DCB8-FD40-4146-8B04-BAC2416CC32A}"/>
              </a:ext>
            </a:extLst>
          </p:cNvPr>
          <p:cNvSpPr/>
          <p:nvPr/>
        </p:nvSpPr>
        <p:spPr>
          <a:xfrm>
            <a:off x="9321800" y="1168400"/>
            <a:ext cx="457200" cy="254000"/>
          </a:xfrm>
          <a:prstGeom prst="rightArrow">
            <a:avLst/>
          </a:prstGeom>
          <a:solidFill>
            <a:srgbClr val="F0F0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AC5A223A-412C-4866-976E-7807890C18CB}"/>
              </a:ext>
            </a:extLst>
          </p:cNvPr>
          <p:cNvSpPr txBox="1"/>
          <p:nvPr/>
        </p:nvSpPr>
        <p:spPr>
          <a:xfrm>
            <a:off x="381000" y="1905000"/>
            <a:ext cx="11430000" cy="3937000"/>
          </a:xfrm>
          <a:prstGeom prst="rect">
            <a:avLst/>
          </a:prstGeom>
          <a:noFill/>
        </p:spPr>
        <p:txBody>
          <a:bodyPr vertOverflow="overflow" vert="horz" wrap="square" rtlCol="0" anchor="t">
            <a:spAutoFit/>
          </a:bodyPr>
          <a:lstStyle/>
          <a:p>
            <a:pPr algn="l"/>
            <a:r>
              <a:rPr lang="en-US" sz="1400">
                <a:solidFill>
                  <a:srgbClr val="D0D4DC"/>
                </a:solidFill>
              </a:rPr>
              <a:t>This is the core philosophy of this course. You are not memorizing syntax or mastering algorithms. You are learning to be the architect — the person who understands the problem, describes what needs to be built, and directs Claude to implement it.
• Your edge is domain knowledge: You understand markets, risk, and portfolio construction. Claude understands Python.
• Vibe coding means you describe what you want in plain English and AI generates the implementation. This is not a shortcut — it is the actual workflow professionals are adopting across the industry.
• After this session you will have a working dev environment and be able to build Python-based quant projects with Claude as your partner.
• Everything in this deck is self-contained — you can follow along at your own pace even if you missed the live session.</a:t>
            </a:r>
          </a:p>
        </p:txBody>
      </p:sp>
    </p:spTree>
    <p:extLst>
      <p:ext uri="{BB962C8B-B14F-4D97-AF65-F5344CB8AC3E}">
        <p14:creationId xmlns:p14="http://schemas.microsoft.com/office/powerpoint/2010/main" val="35137721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F03F0-DDE6-D0D7-ACBC-FAB0FE249266}"/>
              </a:ext>
            </a:extLst>
          </p:cNvPr>
          <p:cNvSpPr>
            <a:spLocks noGrp="1"/>
          </p:cNvSpPr>
          <p:nvPr>
            <p:ph type="title"/>
          </p:nvPr>
        </p:nvSpPr>
        <p:spPr/>
        <p:txBody>
          <a:bodyPr>
            <a:normAutofit/>
          </a:bodyPr>
          <a:lstStyle/>
          <a:p>
            <a:r>
              <a:rPr lang="en-US" sz="4000" b="1"/>
              <a:t>Your Core Tools</a:t>
            </a:r>
          </a:p>
        </p:txBody>
      </p:sp>
      <p:sp>
        <p:nvSpPr>
          <p:cNvPr id="3" name="Text Placeholder 2">
            <a:extLst>
              <a:ext uri="{FF2B5EF4-FFF2-40B4-BE49-F238E27FC236}">
                <a16:creationId xmlns:a16="http://schemas.microsoft.com/office/drawing/2014/main" id="{0B5FC580-4137-1E33-EDA4-B3A19733274E}"/>
              </a:ext>
            </a:extLst>
          </p:cNvPr>
          <p:cNvSpPr>
            <a:spLocks noGrp="1"/>
          </p:cNvSpPr>
          <p:nvPr>
            <p:ph type="body" idx="1"/>
          </p:nvPr>
        </p:nvSpPr>
        <p:spPr/>
        <p:txBody>
          <a:bodyPr>
            <a:normAutofit/>
          </a:bodyPr>
          <a:lstStyle/>
          <a:p>
            <a:r>
              <a:rPr lang="en-US" sz="1600"/>
              <a:t>Section 02  —  VSCode, Cursor, Claude, and the software you need installed before anything else</a:t>
            </a:r>
          </a:p>
        </p:txBody>
      </p:sp>
      <p:pic>
        <p:nvPicPr>
          <p:cNvPr id="4" name="Graphic 4" descr="Tools ico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14000" y="1968500"/>
            <a:ext cx="762000" cy="762000"/>
          </a:xfrm>
          <a:prstGeom prst="rect">
            <a:avLst/>
          </a:prstGeom>
        </p:spPr>
      </p:pic>
      <p:sp>
        <p:nvSpPr>
          <p:cNvPr id="5" name="Oval 4">
            <a:extLst>
              <a:ext uri="{FF2B5EF4-FFF2-40B4-BE49-F238E27FC236}">
                <a16:creationId xmlns:a16="http://schemas.microsoft.com/office/drawing/2014/main" id="{E750A43C-2C7D-47EC-913E-46F8A4FBB4EF}"/>
              </a:ext>
            </a:extLst>
          </p:cNvPr>
          <p:cNvSpPr/>
          <p:nvPr/>
        </p:nvSpPr>
        <p:spPr>
          <a:xfrm>
            <a:off x="3175000" y="1270000"/>
            <a:ext cx="584200" cy="584200"/>
          </a:xfrm>
          <a:prstGeom prst="ellipse">
            <a:avLst/>
          </a:prstGeom>
          <a:solidFill>
            <a:srgbClr val="007AC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FFFFFF"/>
                </a:solidFill>
              </a:rPr>
              <a:t>VS</a:t>
            </a:r>
          </a:p>
        </p:txBody>
      </p:sp>
      <p:sp>
        <p:nvSpPr>
          <p:cNvPr id="6" name="TextBox 5">
            <a:extLst>
              <a:ext uri="{FF2B5EF4-FFF2-40B4-BE49-F238E27FC236}">
                <a16:creationId xmlns:a16="http://schemas.microsoft.com/office/drawing/2014/main" id="{CE297CF2-4464-4CA8-B2CA-AD26858AF477}"/>
              </a:ext>
            </a:extLst>
          </p:cNvPr>
          <p:cNvSpPr txBox="1"/>
          <p:nvPr/>
        </p:nvSpPr>
        <p:spPr>
          <a:xfrm>
            <a:off x="3022600" y="1905000"/>
            <a:ext cx="889000" cy="279400"/>
          </a:xfrm>
          <a:prstGeom prst="rect">
            <a:avLst/>
          </a:prstGeom>
          <a:noFill/>
        </p:spPr>
        <p:txBody>
          <a:bodyPr vertOverflow="overflow" vert="horz" wrap="square" rtlCol="0" anchor="t">
            <a:spAutoFit/>
          </a:bodyPr>
          <a:lstStyle/>
          <a:p>
            <a:pPr algn="l"/>
            <a:r>
              <a:rPr lang="en-US" sz="1400">
                <a:solidFill>
                  <a:srgbClr val="D0D4DC"/>
                </a:solidFill>
              </a:rPr>
              <a:t>VSCode</a:t>
            </a:r>
          </a:p>
        </p:txBody>
      </p:sp>
      <p:sp>
        <p:nvSpPr>
          <p:cNvPr id="7" name="Oval 6">
            <a:extLst>
              <a:ext uri="{FF2B5EF4-FFF2-40B4-BE49-F238E27FC236}">
                <a16:creationId xmlns:a16="http://schemas.microsoft.com/office/drawing/2014/main" id="{A3C6068D-116E-407F-8C24-A349DC95E9D3}"/>
              </a:ext>
            </a:extLst>
          </p:cNvPr>
          <p:cNvSpPr/>
          <p:nvPr/>
        </p:nvSpPr>
        <p:spPr>
          <a:xfrm>
            <a:off x="4699000" y="1270000"/>
            <a:ext cx="584200" cy="584200"/>
          </a:xfrm>
          <a:prstGeom prst="ellipse">
            <a:avLst/>
          </a:prstGeom>
          <a:solidFill>
            <a:srgbClr val="6C5CE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FFFFFF"/>
                </a:solidFill>
              </a:rPr>
              <a:t>AI</a:t>
            </a:r>
          </a:p>
        </p:txBody>
      </p:sp>
      <p:sp>
        <p:nvSpPr>
          <p:cNvPr id="8" name="TextBox 7">
            <a:extLst>
              <a:ext uri="{FF2B5EF4-FFF2-40B4-BE49-F238E27FC236}">
                <a16:creationId xmlns:a16="http://schemas.microsoft.com/office/drawing/2014/main" id="{A4DA5E22-2919-49FB-9804-003AAD615E87}"/>
              </a:ext>
            </a:extLst>
          </p:cNvPr>
          <p:cNvSpPr txBox="1"/>
          <p:nvPr/>
        </p:nvSpPr>
        <p:spPr>
          <a:xfrm>
            <a:off x="4546600" y="1905000"/>
            <a:ext cx="889000" cy="279400"/>
          </a:xfrm>
          <a:prstGeom prst="rect">
            <a:avLst/>
          </a:prstGeom>
          <a:noFill/>
        </p:spPr>
        <p:txBody>
          <a:bodyPr vertOverflow="overflow" vert="horz" wrap="square" rtlCol="0" anchor="t">
            <a:spAutoFit/>
          </a:bodyPr>
          <a:lstStyle/>
          <a:p>
            <a:pPr algn="l"/>
            <a:r>
              <a:rPr lang="en-US" sz="1400">
                <a:solidFill>
                  <a:srgbClr val="D0D4DC"/>
                </a:solidFill>
              </a:rPr>
              <a:t>Cursor</a:t>
            </a:r>
          </a:p>
        </p:txBody>
      </p:sp>
      <p:sp>
        <p:nvSpPr>
          <p:cNvPr id="9" name="Oval 8">
            <a:extLst>
              <a:ext uri="{FF2B5EF4-FFF2-40B4-BE49-F238E27FC236}">
                <a16:creationId xmlns:a16="http://schemas.microsoft.com/office/drawing/2014/main" id="{41D2A6C9-7A5B-4392-8EC1-4FEDD05FCE89}"/>
              </a:ext>
            </a:extLst>
          </p:cNvPr>
          <p:cNvSpPr/>
          <p:nvPr/>
        </p:nvSpPr>
        <p:spPr>
          <a:xfrm>
            <a:off x="6223000" y="1270000"/>
            <a:ext cx="584200" cy="584200"/>
          </a:xfrm>
          <a:prstGeom prst="ellipse">
            <a:avLst/>
          </a:prstGeom>
          <a:solidFill>
            <a:srgbClr val="FF9F4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FFFFFF"/>
                </a:solidFill>
              </a:rPr>
              <a:t>✦</a:t>
            </a:r>
          </a:p>
        </p:txBody>
      </p:sp>
      <p:sp>
        <p:nvSpPr>
          <p:cNvPr id="10" name="TextBox 9">
            <a:extLst>
              <a:ext uri="{FF2B5EF4-FFF2-40B4-BE49-F238E27FC236}">
                <a16:creationId xmlns:a16="http://schemas.microsoft.com/office/drawing/2014/main" id="{A5661EE3-D93C-4259-8853-0118C45CEB5E}"/>
              </a:ext>
            </a:extLst>
          </p:cNvPr>
          <p:cNvSpPr txBox="1"/>
          <p:nvPr/>
        </p:nvSpPr>
        <p:spPr>
          <a:xfrm>
            <a:off x="6070600" y="1905000"/>
            <a:ext cx="889000" cy="279400"/>
          </a:xfrm>
          <a:prstGeom prst="rect">
            <a:avLst/>
          </a:prstGeom>
          <a:noFill/>
        </p:spPr>
        <p:txBody>
          <a:bodyPr vertOverflow="overflow" vert="horz" wrap="square" rtlCol="0" anchor="t">
            <a:spAutoFit/>
          </a:bodyPr>
          <a:lstStyle/>
          <a:p>
            <a:pPr algn="l"/>
            <a:r>
              <a:rPr lang="en-US" sz="1400">
                <a:solidFill>
                  <a:srgbClr val="D0D4DC"/>
                </a:solidFill>
              </a:rPr>
              <a:t>Claude</a:t>
            </a:r>
          </a:p>
        </p:txBody>
      </p:sp>
      <p:sp>
        <p:nvSpPr>
          <p:cNvPr id="11" name="Oval 10">
            <a:extLst>
              <a:ext uri="{FF2B5EF4-FFF2-40B4-BE49-F238E27FC236}">
                <a16:creationId xmlns:a16="http://schemas.microsoft.com/office/drawing/2014/main" id="{EE9807E6-372A-4A99-8040-AB8CBFDD7F2B}"/>
              </a:ext>
            </a:extLst>
          </p:cNvPr>
          <p:cNvSpPr/>
          <p:nvPr/>
        </p:nvSpPr>
        <p:spPr>
          <a:xfrm>
            <a:off x="7747000" y="1270000"/>
            <a:ext cx="584200" cy="584200"/>
          </a:xfrm>
          <a:prstGeom prst="ellipse">
            <a:avLst/>
          </a:prstGeom>
          <a:solidFill>
            <a:srgbClr val="00D2D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0F1117"/>
                </a:solidFill>
              </a:rPr>
              <a:t>&gt;_</a:t>
            </a:r>
          </a:p>
        </p:txBody>
      </p:sp>
      <p:sp>
        <p:nvSpPr>
          <p:cNvPr id="12" name="TextBox 11">
            <a:extLst>
              <a:ext uri="{FF2B5EF4-FFF2-40B4-BE49-F238E27FC236}">
                <a16:creationId xmlns:a16="http://schemas.microsoft.com/office/drawing/2014/main" id="{5FE37D2B-1ED3-4436-A89F-F50AC32226DD}"/>
              </a:ext>
            </a:extLst>
          </p:cNvPr>
          <p:cNvSpPr txBox="1"/>
          <p:nvPr/>
        </p:nvSpPr>
        <p:spPr>
          <a:xfrm>
            <a:off x="7594600" y="1905000"/>
            <a:ext cx="889000" cy="279400"/>
          </a:xfrm>
          <a:prstGeom prst="rect">
            <a:avLst/>
          </a:prstGeom>
          <a:noFill/>
        </p:spPr>
        <p:txBody>
          <a:bodyPr vertOverflow="overflow" vert="horz" wrap="square" rtlCol="0" anchor="t">
            <a:spAutoFit/>
          </a:bodyPr>
          <a:lstStyle/>
          <a:p>
            <a:pPr algn="l"/>
            <a:r>
              <a:rPr lang="en-US" sz="1400">
                <a:solidFill>
                  <a:srgbClr val="D0D4DC"/>
                </a:solidFill>
              </a:rPr>
              <a:t>Terminal</a:t>
            </a:r>
          </a:p>
        </p:txBody>
      </p:sp>
    </p:spTree>
    <p:extLst>
      <p:ext uri="{BB962C8B-B14F-4D97-AF65-F5344CB8AC3E}">
        <p14:creationId xmlns:p14="http://schemas.microsoft.com/office/powerpoint/2010/main" val="23923231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349BDBB-E820-4B32-B59E-A3B2364DD789}"/>
              </a:ext>
            </a:extLst>
          </p:cNvPr>
          <p:cNvSpPr txBox="1"/>
          <p:nvPr/>
        </p:nvSpPr>
        <p:spPr>
          <a:xfrm>
            <a:off x="381000" y="127000"/>
            <a:ext cx="7112000" cy="571500"/>
          </a:xfrm>
          <a:prstGeom prst="rect">
            <a:avLst/>
          </a:prstGeom>
          <a:noFill/>
        </p:spPr>
        <p:txBody>
          <a:bodyPr vertOverflow="overflow" vert="horz" wrap="square" rtlCol="0" anchor="t">
            <a:spAutoFit/>
          </a:bodyPr>
          <a:lstStyle/>
          <a:p>
            <a:pPr algn="l"/>
            <a:r>
              <a:rPr lang="en-US" sz="2600" b="1">
                <a:solidFill>
                  <a:srgbClr val="F0F0F0"/>
                </a:solidFill>
              </a:rPr>
              <a:t>VSCode: Your Code Editor</a:t>
            </a:r>
          </a:p>
        </p:txBody>
      </p:sp>
      <p:sp>
        <p:nvSpPr>
          <p:cNvPr id="7" name="TextBox 6">
            <a:extLst>
              <a:ext uri="{FF2B5EF4-FFF2-40B4-BE49-F238E27FC236}">
                <a16:creationId xmlns:a16="http://schemas.microsoft.com/office/drawing/2014/main" id="{9AA9696F-F732-4B4F-8AE7-3E155D13BA88}"/>
              </a:ext>
            </a:extLst>
          </p:cNvPr>
          <p:cNvSpPr txBox="1"/>
          <p:nvPr/>
        </p:nvSpPr>
        <p:spPr>
          <a:xfrm>
            <a:off x="381000" y="736600"/>
            <a:ext cx="7112000" cy="4699000"/>
          </a:xfrm>
          <a:prstGeom prst="rect">
            <a:avLst/>
          </a:prstGeom>
          <a:noFill/>
        </p:spPr>
        <p:txBody>
          <a:bodyPr vertOverflow="overflow" vert="horz" wrap="square" rtlCol="0" anchor="t">
            <a:spAutoFit/>
          </a:bodyPr>
          <a:lstStyle/>
          <a:p>
            <a:pPr algn="l"/>
            <a:r>
              <a:rPr lang="en-US" sz="1400">
                <a:solidFill>
                  <a:srgbClr val="D0D4DC"/>
                </a:solidFill>
              </a:rPr>
              <a:t>Visual Studio Code (VSCode) is a free, open-source code editor made by Microsoft. It is the industry standard editor used by developers, data scientists, and quant researchers worldwide. Think of it as a supercharged text editor that understands code.
• Why VSCode matters for quant finance: Every Python script, Jupyter notebook, and data pipeline you build will be written here. It provides syntax highlighting, error detection, and a built-in terminal so you can write and run code in one place.
• Key extensions to install immediately: Python (by Microsoft) gives you code execution and debugging. Jupyter lets you run notebook files directly in VSCode. Pylance provides intelligent autocomplete for Python. GitLens shows you Git history inside the editor.
• How to get started: Download VSCode from code.visualstudio.com. Open it, click the Extensions icon on the left sidebar (it looks like four squares), search for each extension above, and click Install. You will have a fully functional coding environment in under five minutes.</a:t>
            </a:r>
          </a:p>
        </p:txBody>
      </p:sp>
      <p:sp>
        <p:nvSpPr>
          <p:cNvPr id="8" name="Rectangle: Rounded Corners 7">
            <a:extLst>
              <a:ext uri="{FF2B5EF4-FFF2-40B4-BE49-F238E27FC236}">
                <a16:creationId xmlns:a16="http://schemas.microsoft.com/office/drawing/2014/main" id="{BA3640F9-A26C-4736-8BBA-6616E91E198A}"/>
              </a:ext>
            </a:extLst>
          </p:cNvPr>
          <p:cNvSpPr/>
          <p:nvPr/>
        </p:nvSpPr>
        <p:spPr>
          <a:xfrm>
            <a:off x="7747000" y="736600"/>
            <a:ext cx="4191000" cy="4699000"/>
          </a:xfrm>
          <a:prstGeom prst="roundRect">
            <a:avLst/>
          </a:prstGeom>
          <a:solidFill>
            <a:srgbClr val="1A1D27"/>
          </a:solidFill>
          <a:ln w="38100" cap="flat" cmpd="sng" algn="ctr">
            <a:solidFill>
              <a:srgbClr val="FF9F4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400" b="1">
                <a:solidFill>
                  <a:srgbClr val="FF9F43"/>
                </a:solidFill>
              </a:rPr>
              <a:t>SCREENSHOT:
VSCode interface with extensions panel open</a:t>
            </a:r>
          </a:p>
        </p:txBody>
      </p:sp>
      <p:pic>
        <p:nvPicPr>
          <p:cNvPr id="9" name="Graphic 9" descr="Code editor icon for VSCod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731000" y="101600"/>
            <a:ext cx="508000" cy="508000"/>
          </a:xfrm>
          <a:prstGeom prst="rect">
            <a:avLst/>
          </a:prstGeom>
        </p:spPr>
      </p:pic>
      <p:sp>
        <p:nvSpPr>
          <p:cNvPr id="2" name="Oval 1">
            <a:extLst>
              <a:ext uri="{FF2B5EF4-FFF2-40B4-BE49-F238E27FC236}">
                <a16:creationId xmlns:a16="http://schemas.microsoft.com/office/drawing/2014/main" id="{2D4718E1-C6A3-405E-91B9-8D7C0D7998A6}"/>
              </a:ext>
            </a:extLst>
          </p:cNvPr>
          <p:cNvSpPr/>
          <p:nvPr/>
        </p:nvSpPr>
        <p:spPr>
          <a:xfrm>
            <a:off x="7239000" y="177800"/>
            <a:ext cx="406400" cy="406400"/>
          </a:xfrm>
          <a:prstGeom prst="ellipse">
            <a:avLst/>
          </a:prstGeom>
          <a:solidFill>
            <a:srgbClr val="007AC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100" b="1">
                <a:solidFill>
                  <a:srgbClr val="FFFFFF"/>
                </a:solidFill>
              </a:rPr>
              <a:t>VS</a:t>
            </a:r>
          </a:p>
        </p:txBody>
      </p:sp>
    </p:spTree>
    <p:extLst>
      <p:ext uri="{BB962C8B-B14F-4D97-AF65-F5344CB8AC3E}">
        <p14:creationId xmlns:p14="http://schemas.microsoft.com/office/powerpoint/2010/main" val="35383351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46BC8D9-6AE3-4558-9132-7AE5A12D07CB}"/>
              </a:ext>
            </a:extLst>
          </p:cNvPr>
          <p:cNvSpPr txBox="1"/>
          <p:nvPr/>
        </p:nvSpPr>
        <p:spPr>
          <a:xfrm>
            <a:off x="381000" y="127000"/>
            <a:ext cx="7112000" cy="571500"/>
          </a:xfrm>
          <a:prstGeom prst="rect">
            <a:avLst/>
          </a:prstGeom>
          <a:noFill/>
        </p:spPr>
        <p:txBody>
          <a:bodyPr vertOverflow="overflow" vert="horz" wrap="square" rtlCol="0" anchor="t">
            <a:spAutoFit/>
          </a:bodyPr>
          <a:lstStyle/>
          <a:p>
            <a:pPr algn="l"/>
            <a:r>
              <a:rPr lang="it-IT" sz="2600" b="1">
                <a:solidFill>
                  <a:srgbClr val="F0F0F0"/>
                </a:solidFill>
              </a:rPr>
              <a:t>Cursor: The AI-Native Code Editor</a:t>
            </a:r>
            <a:endParaRPr lang="en-US" sz="2600" b="1">
              <a:solidFill>
                <a:srgbClr val="F0F0F0"/>
              </a:solidFill>
            </a:endParaRPr>
          </a:p>
        </p:txBody>
      </p:sp>
      <p:sp>
        <p:nvSpPr>
          <p:cNvPr id="7" name="TextBox 6">
            <a:extLst>
              <a:ext uri="{FF2B5EF4-FFF2-40B4-BE49-F238E27FC236}">
                <a16:creationId xmlns:a16="http://schemas.microsoft.com/office/drawing/2014/main" id="{0DE32283-4490-4FBE-A316-26D1F5CA80D9}"/>
              </a:ext>
            </a:extLst>
          </p:cNvPr>
          <p:cNvSpPr txBox="1"/>
          <p:nvPr/>
        </p:nvSpPr>
        <p:spPr>
          <a:xfrm>
            <a:off x="381000" y="736600"/>
            <a:ext cx="7112000" cy="4699000"/>
          </a:xfrm>
          <a:prstGeom prst="rect">
            <a:avLst/>
          </a:prstGeom>
          <a:noFill/>
        </p:spPr>
        <p:txBody>
          <a:bodyPr vertOverflow="overflow" vert="horz" wrap="square" rtlCol="0" anchor="t">
            <a:spAutoFit/>
          </a:bodyPr>
          <a:lstStyle/>
          <a:p>
            <a:pPr algn="l"/>
            <a:r>
              <a:rPr lang="en-US" sz="1400">
                <a:solidFill>
                  <a:srgbClr val="D0D4DC"/>
                </a:solidFill>
              </a:rPr>
              <a:t>Cursor is a code editor built on top of VSCode, but with AI deeply integrated into every part of the experience. It looks and feels like VSCode, supports all the same extensions, but adds AI-powered autocomplete, an inline chat panel, and the ability to reference your entire codebase when asking questions.
• How it differs from VSCode: In VSCode, you write code manually and use AI as an external tool (copy-pasting to Claude). In Cursor, AI is embedded directly in the editor — it autocompletes entire functions, suggests fixes as you type, and lets you chat with an AI that understands your project files.
• When to use Cursor vs VSCode: Use Cursor when you are building new projects from scratch and want maximum AI assistance. Use VSCode when you need a stable, lightweight editor for smaller tasks or when working in environments where Cursor is not available.
• Getting started: Download Cursor from cursor.com. It will import all your VSCode settings and extensions automatically. Open any project folder and start typing — you will immediately see AI suggestions appearing inline.</a:t>
            </a:r>
          </a:p>
        </p:txBody>
      </p:sp>
      <p:sp>
        <p:nvSpPr>
          <p:cNvPr id="8" name="Rectangle: Rounded Corners 7">
            <a:extLst>
              <a:ext uri="{FF2B5EF4-FFF2-40B4-BE49-F238E27FC236}">
                <a16:creationId xmlns:a16="http://schemas.microsoft.com/office/drawing/2014/main" id="{A84458C1-0323-40FE-95BA-68AEF071B1A9}"/>
              </a:ext>
            </a:extLst>
          </p:cNvPr>
          <p:cNvSpPr/>
          <p:nvPr/>
        </p:nvSpPr>
        <p:spPr>
          <a:xfrm>
            <a:off x="7747000" y="736600"/>
            <a:ext cx="4191000" cy="4699000"/>
          </a:xfrm>
          <a:prstGeom prst="roundRect">
            <a:avLst/>
          </a:prstGeom>
          <a:solidFill>
            <a:srgbClr val="1A1D27"/>
          </a:solidFill>
          <a:ln w="38100" cap="flat" cmpd="sng" algn="ctr">
            <a:solidFill>
              <a:srgbClr val="FF9F4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400" b="1">
                <a:solidFill>
                  <a:srgbClr val="FF9F43"/>
                </a:solidFill>
              </a:rPr>
              <a:t>SCREENSHOT:
Cursor interface showing AI autocomplete or chat panel</a:t>
            </a:r>
          </a:p>
        </p:txBody>
      </p:sp>
      <p:pic>
        <p:nvPicPr>
          <p:cNvPr id="9" name="Graphic 9" descr="AI icon for Curso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731000" y="101600"/>
            <a:ext cx="508000" cy="508000"/>
          </a:xfrm>
          <a:prstGeom prst="rect">
            <a:avLst/>
          </a:prstGeom>
        </p:spPr>
      </p:pic>
      <p:sp>
        <p:nvSpPr>
          <p:cNvPr id="2" name="Oval 1">
            <a:extLst>
              <a:ext uri="{FF2B5EF4-FFF2-40B4-BE49-F238E27FC236}">
                <a16:creationId xmlns:a16="http://schemas.microsoft.com/office/drawing/2014/main" id="{0FE94F9F-DAD0-4859-8A0A-C3962A488414}"/>
              </a:ext>
            </a:extLst>
          </p:cNvPr>
          <p:cNvSpPr/>
          <p:nvPr/>
        </p:nvSpPr>
        <p:spPr>
          <a:xfrm>
            <a:off x="7239000" y="177800"/>
            <a:ext cx="406400" cy="406400"/>
          </a:xfrm>
          <a:prstGeom prst="ellipse">
            <a:avLst/>
          </a:prstGeom>
          <a:solidFill>
            <a:srgbClr val="6C5CE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100" b="1">
                <a:solidFill>
                  <a:srgbClr val="FFFFFF"/>
                </a:solidFill>
              </a:rPr>
              <a:t>AI</a:t>
            </a:r>
          </a:p>
        </p:txBody>
      </p:sp>
    </p:spTree>
    <p:extLst>
      <p:ext uri="{BB962C8B-B14F-4D97-AF65-F5344CB8AC3E}">
        <p14:creationId xmlns:p14="http://schemas.microsoft.com/office/powerpoint/2010/main" val="23199085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5382AABB-D456-4BC9-8407-4D75EDFE2C7E}"/>
              </a:ext>
            </a:extLst>
          </p:cNvPr>
          <p:cNvSpPr txBox="1"/>
          <p:nvPr/>
        </p:nvSpPr>
        <p:spPr>
          <a:xfrm>
            <a:off x="381000" y="127000"/>
            <a:ext cx="11430000" cy="508000"/>
          </a:xfrm>
          <a:prstGeom prst="rect">
            <a:avLst/>
          </a:prstGeom>
          <a:noFill/>
        </p:spPr>
        <p:txBody>
          <a:bodyPr vertOverflow="overflow" vert="horz" wrap="square" rtlCol="0" anchor="t">
            <a:spAutoFit/>
          </a:bodyPr>
          <a:lstStyle/>
          <a:p>
            <a:pPr algn="l"/>
            <a:r>
              <a:rPr lang="en-US" sz="2400" b="1">
                <a:solidFill>
                  <a:srgbClr val="F0F0F0"/>
                </a:solidFill>
              </a:rPr>
              <a:t>VSCode vs Cursor: Which Editor to Use</a:t>
            </a:r>
          </a:p>
        </p:txBody>
      </p:sp>
      <p:sp>
        <p:nvSpPr>
          <p:cNvPr id="16" name="Rectangle: Rounded Corners 15">
            <a:extLst>
              <a:ext uri="{FF2B5EF4-FFF2-40B4-BE49-F238E27FC236}">
                <a16:creationId xmlns:a16="http://schemas.microsoft.com/office/drawing/2014/main" id="{2B1F9D00-5DB0-469B-B6DE-2C8F9E2E77CF}"/>
              </a:ext>
            </a:extLst>
          </p:cNvPr>
          <p:cNvSpPr/>
          <p:nvPr/>
        </p:nvSpPr>
        <p:spPr>
          <a:xfrm>
            <a:off x="381000" y="698500"/>
            <a:ext cx="5588000" cy="3619500"/>
          </a:xfrm>
          <a:prstGeom prst="roundRect">
            <a:avLst/>
          </a:prstGeom>
          <a:solidFill>
            <a:srgbClr val="1A1D27"/>
          </a:solidFill>
          <a:ln w="38100" cap="flat" cmpd="sng" algn="ctr">
            <a:solidFill>
              <a:srgbClr val="007AC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oAutofit/>
          </a:bodyPr>
          <a:lstStyle/>
          <a:p>
            <a:pPr algn="l"/>
            <a:endParaRPr lang="en-US"/>
          </a:p>
        </p:txBody>
      </p:sp>
      <p:sp>
        <p:nvSpPr>
          <p:cNvPr id="17" name="Rectangle 16">
            <a:extLst>
              <a:ext uri="{FF2B5EF4-FFF2-40B4-BE49-F238E27FC236}">
                <a16:creationId xmlns:a16="http://schemas.microsoft.com/office/drawing/2014/main" id="{8688308E-C913-4FC8-999A-1A864BD3A23E}"/>
              </a:ext>
            </a:extLst>
          </p:cNvPr>
          <p:cNvSpPr/>
          <p:nvPr/>
        </p:nvSpPr>
        <p:spPr>
          <a:xfrm>
            <a:off x="381000" y="698500"/>
            <a:ext cx="5588000" cy="508000"/>
          </a:xfrm>
          <a:prstGeom prst="rect">
            <a:avLst/>
          </a:prstGeom>
          <a:solidFill>
            <a:srgbClr val="007AC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2000" b="1">
                <a:solidFill>
                  <a:srgbClr val="FFFFFF"/>
                </a:solidFill>
              </a:rPr>
              <a:t>VSCODE</a:t>
            </a:r>
          </a:p>
        </p:txBody>
      </p:sp>
      <p:sp>
        <p:nvSpPr>
          <p:cNvPr id="18" name="TextBox 17">
            <a:extLst>
              <a:ext uri="{FF2B5EF4-FFF2-40B4-BE49-F238E27FC236}">
                <a16:creationId xmlns:a16="http://schemas.microsoft.com/office/drawing/2014/main" id="{CE221EFB-001E-457C-A743-95E0DE58853D}"/>
              </a:ext>
            </a:extLst>
          </p:cNvPr>
          <p:cNvSpPr txBox="1"/>
          <p:nvPr/>
        </p:nvSpPr>
        <p:spPr>
          <a:xfrm>
            <a:off x="571500" y="1308100"/>
            <a:ext cx="5207000" cy="381000"/>
          </a:xfrm>
          <a:prstGeom prst="rect">
            <a:avLst/>
          </a:prstGeom>
          <a:noFill/>
        </p:spPr>
        <p:txBody>
          <a:bodyPr vertOverflow="overflow" vert="horz" wrap="square" rtlCol="0" anchor="ctr" anchorCtr="0">
            <a:spAutoFit/>
          </a:bodyPr>
          <a:lstStyle/>
          <a:p>
            <a:pPr algn="l"/>
            <a:r>
              <a:rPr lang="en-US" sz="1200">
                <a:solidFill>
                  <a:srgbClr val="5FD068"/>
                </a:solidFill>
              </a:rPr>
              <a:t>✔  Free, open source, industry standard</a:t>
            </a:r>
          </a:p>
        </p:txBody>
      </p:sp>
      <p:sp>
        <p:nvSpPr>
          <p:cNvPr id="19" name="TextBox 18">
            <a:extLst>
              <a:ext uri="{FF2B5EF4-FFF2-40B4-BE49-F238E27FC236}">
                <a16:creationId xmlns:a16="http://schemas.microsoft.com/office/drawing/2014/main" id="{D83B3DAD-2B94-4B9F-8D71-F8ADEEE33AF6}"/>
              </a:ext>
            </a:extLst>
          </p:cNvPr>
          <p:cNvSpPr txBox="1"/>
          <p:nvPr/>
        </p:nvSpPr>
        <p:spPr>
          <a:xfrm>
            <a:off x="571500" y="1739900"/>
            <a:ext cx="5207000" cy="381000"/>
          </a:xfrm>
          <a:prstGeom prst="rect">
            <a:avLst/>
          </a:prstGeom>
          <a:noFill/>
        </p:spPr>
        <p:txBody>
          <a:bodyPr vertOverflow="overflow" vert="horz" wrap="square" rtlCol="0" anchor="ctr" anchorCtr="0">
            <a:spAutoFit/>
          </a:bodyPr>
          <a:lstStyle/>
          <a:p>
            <a:pPr algn="l"/>
            <a:r>
              <a:rPr lang="en-US" sz="1200">
                <a:solidFill>
                  <a:srgbClr val="5FD068"/>
                </a:solidFill>
              </a:rPr>
              <a:t>✔  Thousands of extensions</a:t>
            </a:r>
          </a:p>
        </p:txBody>
      </p:sp>
      <p:sp>
        <p:nvSpPr>
          <p:cNvPr id="20" name="TextBox 19">
            <a:extLst>
              <a:ext uri="{FF2B5EF4-FFF2-40B4-BE49-F238E27FC236}">
                <a16:creationId xmlns:a16="http://schemas.microsoft.com/office/drawing/2014/main" id="{3C821EC3-93B9-4A75-9679-1E43A22BDBF5}"/>
              </a:ext>
            </a:extLst>
          </p:cNvPr>
          <p:cNvSpPr txBox="1"/>
          <p:nvPr/>
        </p:nvSpPr>
        <p:spPr>
          <a:xfrm>
            <a:off x="571500" y="2171700"/>
            <a:ext cx="5207000" cy="381000"/>
          </a:xfrm>
          <a:prstGeom prst="rect">
            <a:avLst/>
          </a:prstGeom>
          <a:noFill/>
        </p:spPr>
        <p:txBody>
          <a:bodyPr vertOverflow="overflow" vert="horz" wrap="square" rtlCol="0" anchor="ctr" anchorCtr="0">
            <a:spAutoFit/>
          </a:bodyPr>
          <a:lstStyle/>
          <a:p>
            <a:pPr algn="l"/>
            <a:r>
              <a:rPr lang="en-US" sz="1200">
                <a:solidFill>
                  <a:srgbClr val="5FD068"/>
                </a:solidFill>
              </a:rPr>
              <a:t>✔  Built-in terminal and Git</a:t>
            </a:r>
          </a:p>
        </p:txBody>
      </p:sp>
      <p:sp>
        <p:nvSpPr>
          <p:cNvPr id="21" name="TextBox 20">
            <a:extLst>
              <a:ext uri="{FF2B5EF4-FFF2-40B4-BE49-F238E27FC236}">
                <a16:creationId xmlns:a16="http://schemas.microsoft.com/office/drawing/2014/main" id="{D66C8DDA-6AAD-4CD0-9473-E77BFFFCA400}"/>
              </a:ext>
            </a:extLst>
          </p:cNvPr>
          <p:cNvSpPr txBox="1"/>
          <p:nvPr/>
        </p:nvSpPr>
        <p:spPr>
          <a:xfrm>
            <a:off x="571500" y="2603500"/>
            <a:ext cx="5207000" cy="381000"/>
          </a:xfrm>
          <a:prstGeom prst="rect">
            <a:avLst/>
          </a:prstGeom>
          <a:noFill/>
        </p:spPr>
        <p:txBody>
          <a:bodyPr vertOverflow="overflow" vert="horz" wrap="square" rtlCol="0" anchor="ctr" anchorCtr="0">
            <a:spAutoFit/>
          </a:bodyPr>
          <a:lstStyle/>
          <a:p>
            <a:pPr algn="l"/>
            <a:r>
              <a:rPr lang="en-US" sz="1200">
                <a:solidFill>
                  <a:srgbClr val="5FD068"/>
                </a:solidFill>
              </a:rPr>
              <a:t>✔  Jupyter notebook support</a:t>
            </a:r>
          </a:p>
        </p:txBody>
      </p:sp>
      <p:sp>
        <p:nvSpPr>
          <p:cNvPr id="22" name="TextBox 21">
            <a:extLst>
              <a:ext uri="{FF2B5EF4-FFF2-40B4-BE49-F238E27FC236}">
                <a16:creationId xmlns:a16="http://schemas.microsoft.com/office/drawing/2014/main" id="{8D9A707C-931C-41FD-A45A-6E469AB6CFF7}"/>
              </a:ext>
            </a:extLst>
          </p:cNvPr>
          <p:cNvSpPr txBox="1"/>
          <p:nvPr/>
        </p:nvSpPr>
        <p:spPr>
          <a:xfrm>
            <a:off x="571500" y="3035300"/>
            <a:ext cx="5207000" cy="381000"/>
          </a:xfrm>
          <a:prstGeom prst="rect">
            <a:avLst/>
          </a:prstGeom>
          <a:noFill/>
        </p:spPr>
        <p:txBody>
          <a:bodyPr vertOverflow="overflow" vert="horz" wrap="square" rtlCol="0" anchor="ctr" anchorCtr="0">
            <a:spAutoFit/>
          </a:bodyPr>
          <a:lstStyle/>
          <a:p>
            <a:pPr algn="l"/>
            <a:r>
              <a:rPr lang="en-US" sz="1200">
                <a:solidFill>
                  <a:srgbClr val="FF6B6B"/>
                </a:solidFill>
              </a:rPr>
              <a:t>✖  AI requires extensions (Copilot)</a:t>
            </a:r>
          </a:p>
        </p:txBody>
      </p:sp>
      <p:sp>
        <p:nvSpPr>
          <p:cNvPr id="23" name="TextBox 22">
            <a:extLst>
              <a:ext uri="{FF2B5EF4-FFF2-40B4-BE49-F238E27FC236}">
                <a16:creationId xmlns:a16="http://schemas.microsoft.com/office/drawing/2014/main" id="{455C6562-D74D-45EA-90EF-87BD62E93B95}"/>
              </a:ext>
            </a:extLst>
          </p:cNvPr>
          <p:cNvSpPr txBox="1"/>
          <p:nvPr/>
        </p:nvSpPr>
        <p:spPr>
          <a:xfrm>
            <a:off x="571500" y="3467100"/>
            <a:ext cx="5207000" cy="381000"/>
          </a:xfrm>
          <a:prstGeom prst="rect">
            <a:avLst/>
          </a:prstGeom>
          <a:noFill/>
        </p:spPr>
        <p:txBody>
          <a:bodyPr vertOverflow="overflow" vert="horz" wrap="square" rtlCol="0" anchor="ctr" anchorCtr="0">
            <a:spAutoFit/>
          </a:bodyPr>
          <a:lstStyle/>
          <a:p>
            <a:pPr algn="l"/>
            <a:r>
              <a:rPr lang="en-US" sz="1200">
                <a:solidFill>
                  <a:srgbClr val="FF6B6B"/>
                </a:solidFill>
              </a:rPr>
              <a:t>✖  Less intelligent autocomplete</a:t>
            </a:r>
          </a:p>
        </p:txBody>
      </p:sp>
      <p:sp>
        <p:nvSpPr>
          <p:cNvPr id="24" name="TextBox 23">
            <a:extLst>
              <a:ext uri="{FF2B5EF4-FFF2-40B4-BE49-F238E27FC236}">
                <a16:creationId xmlns:a16="http://schemas.microsoft.com/office/drawing/2014/main" id="{DFC42AD6-DE51-41E9-80B4-BE993A282B85}"/>
              </a:ext>
            </a:extLst>
          </p:cNvPr>
          <p:cNvSpPr txBox="1"/>
          <p:nvPr/>
        </p:nvSpPr>
        <p:spPr>
          <a:xfrm>
            <a:off x="571500" y="3911600"/>
            <a:ext cx="5207000" cy="304800"/>
          </a:xfrm>
          <a:prstGeom prst="rect">
            <a:avLst/>
          </a:prstGeom>
          <a:noFill/>
        </p:spPr>
        <p:txBody>
          <a:bodyPr vertOverflow="overflow" vert="horz" wrap="square" rtlCol="0" anchor="t">
            <a:spAutoFit/>
          </a:bodyPr>
          <a:lstStyle/>
          <a:p>
            <a:pPr algn="l"/>
            <a:r>
              <a:rPr lang="en-US" sz="1100" i="1">
                <a:solidFill>
                  <a:srgbClr val="B0B8C4"/>
                </a:solidFill>
              </a:rPr>
              <a:t>Best for: Learning fundamentals, standard workflows</a:t>
            </a:r>
          </a:p>
        </p:txBody>
      </p:sp>
      <p:sp>
        <p:nvSpPr>
          <p:cNvPr id="25" name="Rectangle: Rounded Corners 24">
            <a:extLst>
              <a:ext uri="{FF2B5EF4-FFF2-40B4-BE49-F238E27FC236}">
                <a16:creationId xmlns:a16="http://schemas.microsoft.com/office/drawing/2014/main" id="{2540AF82-F4FD-41CC-B347-D46E3608C559}"/>
              </a:ext>
            </a:extLst>
          </p:cNvPr>
          <p:cNvSpPr/>
          <p:nvPr/>
        </p:nvSpPr>
        <p:spPr>
          <a:xfrm>
            <a:off x="6350000" y="698500"/>
            <a:ext cx="5588000" cy="3619500"/>
          </a:xfrm>
          <a:prstGeom prst="roundRect">
            <a:avLst/>
          </a:prstGeom>
          <a:solidFill>
            <a:srgbClr val="1A1D27"/>
          </a:solidFill>
          <a:ln w="38100" cap="flat" cmpd="sng" algn="ctr">
            <a:solidFill>
              <a:srgbClr val="6C5CE7"/>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oAutofit/>
          </a:bodyPr>
          <a:lstStyle/>
          <a:p>
            <a:pPr algn="l"/>
            <a:endParaRPr lang="en-US"/>
          </a:p>
        </p:txBody>
      </p:sp>
      <p:sp>
        <p:nvSpPr>
          <p:cNvPr id="26" name="Rectangle 25">
            <a:extLst>
              <a:ext uri="{FF2B5EF4-FFF2-40B4-BE49-F238E27FC236}">
                <a16:creationId xmlns:a16="http://schemas.microsoft.com/office/drawing/2014/main" id="{739A22EF-A631-4FC8-99CB-5318B4307975}"/>
              </a:ext>
            </a:extLst>
          </p:cNvPr>
          <p:cNvSpPr/>
          <p:nvPr/>
        </p:nvSpPr>
        <p:spPr>
          <a:xfrm>
            <a:off x="6350000" y="698500"/>
            <a:ext cx="5588000" cy="508000"/>
          </a:xfrm>
          <a:prstGeom prst="rect">
            <a:avLst/>
          </a:prstGeom>
          <a:solidFill>
            <a:srgbClr val="6C5CE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2000" b="1">
                <a:solidFill>
                  <a:srgbClr val="FFFFFF"/>
                </a:solidFill>
              </a:rPr>
              <a:t>CURSOR</a:t>
            </a:r>
          </a:p>
        </p:txBody>
      </p:sp>
      <p:sp>
        <p:nvSpPr>
          <p:cNvPr id="27" name="TextBox 26">
            <a:extLst>
              <a:ext uri="{FF2B5EF4-FFF2-40B4-BE49-F238E27FC236}">
                <a16:creationId xmlns:a16="http://schemas.microsoft.com/office/drawing/2014/main" id="{5B47FE88-23B3-43E2-B30F-956E68F75466}"/>
              </a:ext>
            </a:extLst>
          </p:cNvPr>
          <p:cNvSpPr txBox="1"/>
          <p:nvPr/>
        </p:nvSpPr>
        <p:spPr>
          <a:xfrm>
            <a:off x="6540500" y="1308100"/>
            <a:ext cx="5207000" cy="381000"/>
          </a:xfrm>
          <a:prstGeom prst="rect">
            <a:avLst/>
          </a:prstGeom>
          <a:noFill/>
        </p:spPr>
        <p:txBody>
          <a:bodyPr vertOverflow="overflow" vert="horz" wrap="square" rtlCol="0" anchor="ctr" anchorCtr="0">
            <a:spAutoFit/>
          </a:bodyPr>
          <a:lstStyle/>
          <a:p>
            <a:pPr algn="l"/>
            <a:r>
              <a:rPr lang="en-US" sz="1200">
                <a:solidFill>
                  <a:srgbClr val="5FD068"/>
                </a:solidFill>
              </a:rPr>
              <a:t>✔  AI-native: built-in Claude/GPT</a:t>
            </a:r>
          </a:p>
        </p:txBody>
      </p:sp>
      <p:sp>
        <p:nvSpPr>
          <p:cNvPr id="28" name="TextBox 27">
            <a:extLst>
              <a:ext uri="{FF2B5EF4-FFF2-40B4-BE49-F238E27FC236}">
                <a16:creationId xmlns:a16="http://schemas.microsoft.com/office/drawing/2014/main" id="{D177885B-5C4B-46E4-9DB0-DA47CDF5E9F5}"/>
              </a:ext>
            </a:extLst>
          </p:cNvPr>
          <p:cNvSpPr txBox="1"/>
          <p:nvPr/>
        </p:nvSpPr>
        <p:spPr>
          <a:xfrm>
            <a:off x="6540500" y="1739900"/>
            <a:ext cx="5207000" cy="381000"/>
          </a:xfrm>
          <a:prstGeom prst="rect">
            <a:avLst/>
          </a:prstGeom>
          <a:noFill/>
        </p:spPr>
        <p:txBody>
          <a:bodyPr vertOverflow="overflow" vert="horz" wrap="square" rtlCol="0" anchor="ctr" anchorCtr="0">
            <a:spAutoFit/>
          </a:bodyPr>
          <a:lstStyle/>
          <a:p>
            <a:pPr algn="l"/>
            <a:r>
              <a:rPr lang="en-US" sz="1200">
                <a:solidFill>
                  <a:srgbClr val="5FD068"/>
                </a:solidFill>
              </a:rPr>
              <a:t>✔  Tab autocomplete from AI context</a:t>
            </a:r>
          </a:p>
        </p:txBody>
      </p:sp>
      <p:sp>
        <p:nvSpPr>
          <p:cNvPr id="29" name="TextBox 28">
            <a:extLst>
              <a:ext uri="{FF2B5EF4-FFF2-40B4-BE49-F238E27FC236}">
                <a16:creationId xmlns:a16="http://schemas.microsoft.com/office/drawing/2014/main" id="{654C3DAF-1108-4DCB-A89D-CB265F5F3F99}"/>
              </a:ext>
            </a:extLst>
          </p:cNvPr>
          <p:cNvSpPr txBox="1"/>
          <p:nvPr/>
        </p:nvSpPr>
        <p:spPr>
          <a:xfrm>
            <a:off x="6540500" y="2171700"/>
            <a:ext cx="5207000" cy="381000"/>
          </a:xfrm>
          <a:prstGeom prst="rect">
            <a:avLst/>
          </a:prstGeom>
          <a:noFill/>
        </p:spPr>
        <p:txBody>
          <a:bodyPr vertOverflow="overflow" vert="horz" wrap="square" rtlCol="0" anchor="ctr" anchorCtr="0">
            <a:spAutoFit/>
          </a:bodyPr>
          <a:lstStyle/>
          <a:p>
            <a:pPr algn="l"/>
            <a:r>
              <a:rPr lang="en-US" sz="1200">
                <a:solidFill>
                  <a:srgbClr val="5FD068"/>
                </a:solidFill>
              </a:rPr>
              <a:t>✔  Chat panel for inline debugging</a:t>
            </a:r>
          </a:p>
        </p:txBody>
      </p:sp>
      <p:sp>
        <p:nvSpPr>
          <p:cNvPr id="30" name="TextBox 29">
            <a:extLst>
              <a:ext uri="{FF2B5EF4-FFF2-40B4-BE49-F238E27FC236}">
                <a16:creationId xmlns:a16="http://schemas.microsoft.com/office/drawing/2014/main" id="{DACD85DC-D4A3-48E6-9F89-E76FF9B21306}"/>
              </a:ext>
            </a:extLst>
          </p:cNvPr>
          <p:cNvSpPr txBox="1"/>
          <p:nvPr/>
        </p:nvSpPr>
        <p:spPr>
          <a:xfrm>
            <a:off x="6540500" y="2603500"/>
            <a:ext cx="5207000" cy="381000"/>
          </a:xfrm>
          <a:prstGeom prst="rect">
            <a:avLst/>
          </a:prstGeom>
          <a:noFill/>
        </p:spPr>
        <p:txBody>
          <a:bodyPr vertOverflow="overflow" vert="horz" wrap="square" rtlCol="0" anchor="ctr" anchorCtr="0">
            <a:spAutoFit/>
          </a:bodyPr>
          <a:lstStyle/>
          <a:p>
            <a:pPr algn="l"/>
            <a:r>
              <a:rPr lang="en-US" sz="1200">
                <a:solidFill>
                  <a:srgbClr val="5FD068"/>
                </a:solidFill>
              </a:rPr>
              <a:t>✔  Built on VSCode (same extensions)</a:t>
            </a:r>
          </a:p>
        </p:txBody>
      </p:sp>
      <p:sp>
        <p:nvSpPr>
          <p:cNvPr id="31" name="TextBox 30">
            <a:extLst>
              <a:ext uri="{FF2B5EF4-FFF2-40B4-BE49-F238E27FC236}">
                <a16:creationId xmlns:a16="http://schemas.microsoft.com/office/drawing/2014/main" id="{56EFD84F-1D15-4269-93D9-0ED7A88D628A}"/>
              </a:ext>
            </a:extLst>
          </p:cNvPr>
          <p:cNvSpPr txBox="1"/>
          <p:nvPr/>
        </p:nvSpPr>
        <p:spPr>
          <a:xfrm>
            <a:off x="6540500" y="3035300"/>
            <a:ext cx="5207000" cy="381000"/>
          </a:xfrm>
          <a:prstGeom prst="rect">
            <a:avLst/>
          </a:prstGeom>
          <a:noFill/>
        </p:spPr>
        <p:txBody>
          <a:bodyPr vertOverflow="overflow" vert="horz" wrap="square" rtlCol="0" anchor="ctr" anchorCtr="0">
            <a:spAutoFit/>
          </a:bodyPr>
          <a:lstStyle/>
          <a:p>
            <a:pPr algn="l"/>
            <a:r>
              <a:rPr lang="en-US" sz="1200">
                <a:solidFill>
                  <a:srgbClr val="FF6B6B"/>
                </a:solidFill>
              </a:rPr>
              <a:t>✖  Free tier has usage limits</a:t>
            </a:r>
          </a:p>
        </p:txBody>
      </p:sp>
      <p:sp>
        <p:nvSpPr>
          <p:cNvPr id="32" name="TextBox 31">
            <a:extLst>
              <a:ext uri="{FF2B5EF4-FFF2-40B4-BE49-F238E27FC236}">
                <a16:creationId xmlns:a16="http://schemas.microsoft.com/office/drawing/2014/main" id="{9101CBE2-60C1-47DD-91CE-F5F97EABE062}"/>
              </a:ext>
            </a:extLst>
          </p:cNvPr>
          <p:cNvSpPr txBox="1"/>
          <p:nvPr/>
        </p:nvSpPr>
        <p:spPr>
          <a:xfrm>
            <a:off x="6540500" y="3467100"/>
            <a:ext cx="5207000" cy="381000"/>
          </a:xfrm>
          <a:prstGeom prst="rect">
            <a:avLst/>
          </a:prstGeom>
          <a:noFill/>
        </p:spPr>
        <p:txBody>
          <a:bodyPr vertOverflow="overflow" vert="horz" wrap="square" rtlCol="0" anchor="ctr" anchorCtr="0">
            <a:spAutoFit/>
          </a:bodyPr>
          <a:lstStyle/>
          <a:p>
            <a:pPr algn="l"/>
            <a:r>
              <a:rPr lang="en-US" sz="1200">
                <a:solidFill>
                  <a:srgbClr val="FF6B6B"/>
                </a:solidFill>
              </a:rPr>
              <a:t>✖  Newer, smaller community</a:t>
            </a:r>
          </a:p>
        </p:txBody>
      </p:sp>
      <p:sp>
        <p:nvSpPr>
          <p:cNvPr id="33" name="TextBox 32">
            <a:extLst>
              <a:ext uri="{FF2B5EF4-FFF2-40B4-BE49-F238E27FC236}">
                <a16:creationId xmlns:a16="http://schemas.microsoft.com/office/drawing/2014/main" id="{879875AC-5235-4B55-9C64-8DB8C41475B5}"/>
              </a:ext>
            </a:extLst>
          </p:cNvPr>
          <p:cNvSpPr txBox="1"/>
          <p:nvPr/>
        </p:nvSpPr>
        <p:spPr>
          <a:xfrm>
            <a:off x="6540500" y="3911600"/>
            <a:ext cx="5207000" cy="304800"/>
          </a:xfrm>
          <a:prstGeom prst="rect">
            <a:avLst/>
          </a:prstGeom>
          <a:noFill/>
        </p:spPr>
        <p:txBody>
          <a:bodyPr vertOverflow="overflow" vert="horz" wrap="square" rtlCol="0" anchor="t">
            <a:spAutoFit/>
          </a:bodyPr>
          <a:lstStyle/>
          <a:p>
            <a:pPr algn="l"/>
            <a:r>
              <a:rPr lang="en-US" sz="1100" i="1">
                <a:solidFill>
                  <a:srgbClr val="B0B8C4"/>
                </a:solidFill>
              </a:rPr>
              <a:t>Best for: Vibe coding, AI-first development</a:t>
            </a:r>
          </a:p>
        </p:txBody>
      </p:sp>
      <p:sp>
        <p:nvSpPr>
          <p:cNvPr id="34" name="Rectangle: Rounded Corners 33">
            <a:extLst>
              <a:ext uri="{FF2B5EF4-FFF2-40B4-BE49-F238E27FC236}">
                <a16:creationId xmlns:a16="http://schemas.microsoft.com/office/drawing/2014/main" id="{FBCB0E87-5790-4246-B8C0-BD56CEECE915}"/>
              </a:ext>
            </a:extLst>
          </p:cNvPr>
          <p:cNvSpPr/>
          <p:nvPr/>
        </p:nvSpPr>
        <p:spPr>
          <a:xfrm>
            <a:off x="381000" y="4445000"/>
            <a:ext cx="11557000" cy="635000"/>
          </a:xfrm>
          <a:prstGeom prst="roundRect">
            <a:avLst/>
          </a:prstGeom>
          <a:solidFill>
            <a:srgbClr val="2A2D3A"/>
          </a:solidFill>
          <a:ln w="25400" cap="flat" cmpd="sng" algn="ctr">
            <a:solidFill>
              <a:srgbClr val="5FD06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200">
                <a:solidFill>
                  <a:srgbClr val="F0F0F0"/>
                </a:solidFill>
              </a:rPr>
              <a:t>OUR RECOMMENDATION: Start with VSCode to learn the basics. Switch to Cursor when you are comfortable and want AI-assisted speed. Both use the same interface — switching is seamless.</a:t>
            </a:r>
          </a:p>
        </p:txBody>
      </p:sp>
    </p:spTree>
    <p:extLst>
      <p:ext uri="{BB962C8B-B14F-4D97-AF65-F5344CB8AC3E}">
        <p14:creationId xmlns:p14="http://schemas.microsoft.com/office/powerpoint/2010/main" val="3872798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1A2C10C9-F513-4687-90FD-993B17DC0E6C}"/>
              </a:ext>
            </a:extLst>
          </p:cNvPr>
          <p:cNvSpPr txBox="1"/>
          <p:nvPr/>
        </p:nvSpPr>
        <p:spPr>
          <a:xfrm>
            <a:off x="381000" y="127000"/>
            <a:ext cx="7112000" cy="571500"/>
          </a:xfrm>
          <a:prstGeom prst="rect">
            <a:avLst/>
          </a:prstGeom>
          <a:noFill/>
        </p:spPr>
        <p:txBody>
          <a:bodyPr vertOverflow="overflow" vert="horz" wrap="square" rtlCol="0" anchor="t">
            <a:spAutoFit/>
          </a:bodyPr>
          <a:lstStyle/>
          <a:p>
            <a:pPr algn="l"/>
            <a:r>
              <a:rPr lang="fr-FR" sz="2400" b="1">
                <a:solidFill>
                  <a:srgbClr val="F0F0F0"/>
                </a:solidFill>
              </a:rPr>
              <a:t>Claude: Browser &amp; Terminal (Claude Code)</a:t>
            </a:r>
            <a:endParaRPr lang="en-US" sz="2400" b="1">
              <a:solidFill>
                <a:srgbClr val="F0F0F0"/>
              </a:solidFill>
            </a:endParaRPr>
          </a:p>
        </p:txBody>
      </p:sp>
      <p:sp>
        <p:nvSpPr>
          <p:cNvPr id="10" name="TextBox 9">
            <a:extLst>
              <a:ext uri="{FF2B5EF4-FFF2-40B4-BE49-F238E27FC236}">
                <a16:creationId xmlns:a16="http://schemas.microsoft.com/office/drawing/2014/main" id="{863D77AC-ADCD-4781-8306-52B46FDCF800}"/>
              </a:ext>
            </a:extLst>
          </p:cNvPr>
          <p:cNvSpPr txBox="1"/>
          <p:nvPr/>
        </p:nvSpPr>
        <p:spPr>
          <a:xfrm>
            <a:off x="381000" y="736600"/>
            <a:ext cx="7112000" cy="4953000"/>
          </a:xfrm>
          <a:prstGeom prst="rect">
            <a:avLst/>
          </a:prstGeom>
          <a:noFill/>
        </p:spPr>
        <p:txBody>
          <a:bodyPr vertOverflow="overflow" vert="horz" wrap="square" rtlCol="0" anchor="t">
            <a:spAutoFit/>
          </a:bodyPr>
          <a:lstStyle/>
          <a:p>
            <a:pPr algn="l"/>
            <a:r>
              <a:rPr lang="en-US" sz="1350">
                <a:solidFill>
                  <a:srgbClr val="D0D4DC"/>
                </a:solidFill>
              </a:rPr>
              <a:t>Claude is the AI that will serve as your coding partner throughout this course and beyond. There are two ways to use it, and understanding the difference is critical.
Claude in the browser (claude.ai) is a conversational interface. You type a question, paste some code, or describe a problem, and Claude responds with explanations, code snippets, or debugging help. This is ideal for learning concepts, understanding error messages, and asking "how do I do X in Python?" Think of it as your always-available tutor.
Claude Code (terminal) is a command-line tool that runs directly in your terminal and can read, write, and modify your actual project files. Instead of copy-pasting code back and forth, you describe what you want to build and Claude Code implements it directly in your codebase. This is how you build real projects — you say "create a Python script that downloads SPY price data and calculates a rolling average" and it writes the file, installs dependencies, and runs it.
For quant finance work, start with Claude in the browser to learn concepts, then graduate to Claude Code when you are building actual projects. The combination of domain knowledge plus AI-assisted coding is the most powerful workflow available to you right now.</a:t>
            </a:r>
          </a:p>
        </p:txBody>
      </p:sp>
      <p:sp>
        <p:nvSpPr>
          <p:cNvPr id="11" name="Rectangle: Rounded Corners 10">
            <a:extLst>
              <a:ext uri="{FF2B5EF4-FFF2-40B4-BE49-F238E27FC236}">
                <a16:creationId xmlns:a16="http://schemas.microsoft.com/office/drawing/2014/main" id="{1F35BC04-39D5-4A77-8AB5-9F313DB7516A}"/>
              </a:ext>
            </a:extLst>
          </p:cNvPr>
          <p:cNvSpPr/>
          <p:nvPr/>
        </p:nvSpPr>
        <p:spPr>
          <a:xfrm>
            <a:off x="7747000" y="736600"/>
            <a:ext cx="4191000" cy="4953000"/>
          </a:xfrm>
          <a:prstGeom prst="roundRect">
            <a:avLst/>
          </a:prstGeom>
          <a:solidFill>
            <a:srgbClr val="1A1D27"/>
          </a:solidFill>
          <a:ln w="38100" cap="flat" cmpd="sng" algn="ctr">
            <a:solidFill>
              <a:srgbClr val="FF9F4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400" b="1">
                <a:solidFill>
                  <a:srgbClr val="FF9F43"/>
                </a:solidFill>
              </a:rPr>
              <a:t>SCREENSHOT:
Claude Code running in terminal with an example task</a:t>
            </a:r>
          </a:p>
        </p:txBody>
      </p:sp>
      <p:pic>
        <p:nvPicPr>
          <p:cNvPr id="12" name="Graphic 12" descr="Robot icon for Claud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731000" y="101600"/>
            <a:ext cx="508000" cy="508000"/>
          </a:xfrm>
          <a:prstGeom prst="rect">
            <a:avLst/>
          </a:prstGeom>
        </p:spPr>
      </p:pic>
    </p:spTree>
    <p:extLst>
      <p:ext uri="{BB962C8B-B14F-4D97-AF65-F5344CB8AC3E}">
        <p14:creationId xmlns:p14="http://schemas.microsoft.com/office/powerpoint/2010/main" val="27726066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C3C93-213E-BF1E-386F-6AFC24FBF6EB}"/>
              </a:ext>
            </a:extLst>
          </p:cNvPr>
          <p:cNvSpPr>
            <a:spLocks noGrp="1"/>
          </p:cNvSpPr>
          <p:nvPr>
            <p:ph type="title"/>
          </p:nvPr>
        </p:nvSpPr>
        <p:spPr/>
        <p:txBody>
          <a:bodyPr>
            <a:normAutofit/>
          </a:bodyPr>
          <a:lstStyle/>
          <a:p>
            <a:r>
              <a:rPr lang="en-US" sz="4000" b="1"/>
              <a:t>The Terminal</a:t>
            </a:r>
          </a:p>
        </p:txBody>
      </p:sp>
      <p:sp>
        <p:nvSpPr>
          <p:cNvPr id="3" name="Text Placeholder 2">
            <a:extLst>
              <a:ext uri="{FF2B5EF4-FFF2-40B4-BE49-F238E27FC236}">
                <a16:creationId xmlns:a16="http://schemas.microsoft.com/office/drawing/2014/main" id="{C0F3E951-D74A-E6AC-017E-C6FAEA499377}"/>
              </a:ext>
            </a:extLst>
          </p:cNvPr>
          <p:cNvSpPr>
            <a:spLocks noGrp="1"/>
          </p:cNvSpPr>
          <p:nvPr>
            <p:ph type="body" idx="1"/>
          </p:nvPr>
        </p:nvSpPr>
        <p:spPr/>
        <p:txBody>
          <a:bodyPr>
            <a:normAutofit/>
          </a:bodyPr>
          <a:lstStyle/>
          <a:p>
            <a:r>
              <a:rPr lang="en-US" sz="1600"/>
              <a:t>Section 03  —  The text-based interface to your computer that runs everything in tech</a:t>
            </a:r>
          </a:p>
        </p:txBody>
      </p:sp>
      <p:pic>
        <p:nvPicPr>
          <p:cNvPr id="4" name="Graphic 4" descr="Terminal/processor ico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14000" y="1968500"/>
            <a:ext cx="762000" cy="762000"/>
          </a:xfrm>
          <a:prstGeom prst="rect">
            <a:avLst/>
          </a:prstGeom>
        </p:spPr>
      </p:pic>
    </p:spTree>
    <p:extLst>
      <p:ext uri="{BB962C8B-B14F-4D97-AF65-F5344CB8AC3E}">
        <p14:creationId xmlns:p14="http://schemas.microsoft.com/office/powerpoint/2010/main" val="1524782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77DCA0D1-BF96-43D1-B068-2D878D9D0024}"/>
              </a:ext>
            </a:extLst>
          </p:cNvPr>
          <p:cNvSpPr txBox="1"/>
          <p:nvPr/>
        </p:nvSpPr>
        <p:spPr>
          <a:xfrm>
            <a:off x="381000" y="127000"/>
            <a:ext cx="11430000" cy="508000"/>
          </a:xfrm>
          <a:prstGeom prst="rect">
            <a:avLst/>
          </a:prstGeom>
          <a:noFill/>
        </p:spPr>
        <p:txBody>
          <a:bodyPr vertOverflow="overflow" vert="horz" wrap="square" rtlCol="0" anchor="t">
            <a:spAutoFit/>
          </a:bodyPr>
          <a:lstStyle/>
          <a:p>
            <a:pPr algn="l"/>
            <a:r>
              <a:rPr lang="en-US" sz="2400" b="1">
                <a:solidFill>
                  <a:srgbClr val="F0F0F0"/>
                </a:solidFill>
              </a:rPr>
              <a:t>The Terminal: Your Filesystem Navigator</a:t>
            </a:r>
          </a:p>
        </p:txBody>
      </p:sp>
      <p:sp>
        <p:nvSpPr>
          <p:cNvPr id="18" name="Rectangle: Rounded Corners 17">
            <a:extLst>
              <a:ext uri="{FF2B5EF4-FFF2-40B4-BE49-F238E27FC236}">
                <a16:creationId xmlns:a16="http://schemas.microsoft.com/office/drawing/2014/main" id="{45233FAD-2DA8-4260-B45F-FE9F8B339936}"/>
              </a:ext>
            </a:extLst>
          </p:cNvPr>
          <p:cNvSpPr/>
          <p:nvPr/>
        </p:nvSpPr>
        <p:spPr>
          <a:xfrm>
            <a:off x="381000" y="698500"/>
            <a:ext cx="1524000" cy="406400"/>
          </a:xfrm>
          <a:prstGeom prst="roundRect">
            <a:avLst/>
          </a:prstGeom>
          <a:solidFill>
            <a:srgbClr val="6C5CE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200" b="1">
                <a:solidFill>
                  <a:srgbClr val="FFFFFF"/>
                </a:solidFill>
                <a:latin typeface="Consolas"/>
              </a:rPr>
              <a:t>~ (home)</a:t>
            </a:r>
          </a:p>
        </p:txBody>
      </p:sp>
      <p:sp>
        <p:nvSpPr>
          <p:cNvPr id="19" name="Rectangle: Rounded Corners 18">
            <a:extLst>
              <a:ext uri="{FF2B5EF4-FFF2-40B4-BE49-F238E27FC236}">
                <a16:creationId xmlns:a16="http://schemas.microsoft.com/office/drawing/2014/main" id="{C6BC0E72-3F64-4FDC-876A-D7A18952222C}"/>
              </a:ext>
            </a:extLst>
          </p:cNvPr>
          <p:cNvSpPr/>
          <p:nvPr/>
        </p:nvSpPr>
        <p:spPr>
          <a:xfrm>
            <a:off x="508000" y="1333500"/>
            <a:ext cx="1460500" cy="355600"/>
          </a:xfrm>
          <a:prstGeom prst="roundRect">
            <a:avLst/>
          </a:prstGeom>
          <a:solidFill>
            <a:srgbClr val="54A0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00" b="1">
                <a:solidFill>
                  <a:srgbClr val="FFFFFF"/>
                </a:solidFill>
                <a:latin typeface="Consolas"/>
              </a:rPr>
              <a:t>projects/</a:t>
            </a:r>
          </a:p>
        </p:txBody>
      </p:sp>
      <p:sp>
        <p:nvSpPr>
          <p:cNvPr id="20" name="Rectangle: Rounded Corners 19">
            <a:extLst>
              <a:ext uri="{FF2B5EF4-FFF2-40B4-BE49-F238E27FC236}">
                <a16:creationId xmlns:a16="http://schemas.microsoft.com/office/drawing/2014/main" id="{731AE940-B67A-4230-8693-B4A949275212}"/>
              </a:ext>
            </a:extLst>
          </p:cNvPr>
          <p:cNvSpPr/>
          <p:nvPr/>
        </p:nvSpPr>
        <p:spPr>
          <a:xfrm>
            <a:off x="2286000" y="1333500"/>
            <a:ext cx="1460500" cy="355600"/>
          </a:xfrm>
          <a:prstGeom prst="roundRect">
            <a:avLst/>
          </a:prstGeom>
          <a:solidFill>
            <a:srgbClr val="8080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00" b="1">
                <a:solidFill>
                  <a:srgbClr val="FFFFFF"/>
                </a:solidFill>
                <a:latin typeface="Consolas"/>
              </a:rPr>
              <a:t>documents/</a:t>
            </a:r>
          </a:p>
        </p:txBody>
      </p:sp>
      <p:sp>
        <p:nvSpPr>
          <p:cNvPr id="21" name="Rectangle: Rounded Corners 20">
            <a:extLst>
              <a:ext uri="{FF2B5EF4-FFF2-40B4-BE49-F238E27FC236}">
                <a16:creationId xmlns:a16="http://schemas.microsoft.com/office/drawing/2014/main" id="{F800F952-FC2E-434F-B85F-472A8EA4EBD7}"/>
              </a:ext>
            </a:extLst>
          </p:cNvPr>
          <p:cNvSpPr/>
          <p:nvPr/>
        </p:nvSpPr>
        <p:spPr>
          <a:xfrm>
            <a:off x="3937000" y="1333500"/>
            <a:ext cx="1460500" cy="355600"/>
          </a:xfrm>
          <a:prstGeom prst="roundRect">
            <a:avLst/>
          </a:prstGeom>
          <a:solidFill>
            <a:srgbClr val="8080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00" b="1">
                <a:solidFill>
                  <a:srgbClr val="FFFFFF"/>
                </a:solidFill>
                <a:latin typeface="Consolas"/>
              </a:rPr>
              <a:t>downloads/</a:t>
            </a:r>
          </a:p>
        </p:txBody>
      </p:sp>
      <p:sp>
        <p:nvSpPr>
          <p:cNvPr id="22" name="Rectangle: Rounded Corners 21">
            <a:extLst>
              <a:ext uri="{FF2B5EF4-FFF2-40B4-BE49-F238E27FC236}">
                <a16:creationId xmlns:a16="http://schemas.microsoft.com/office/drawing/2014/main" id="{F0CA620B-DC94-45BA-8970-A756D7AB7A4B}"/>
              </a:ext>
            </a:extLst>
          </p:cNvPr>
          <p:cNvSpPr/>
          <p:nvPr/>
        </p:nvSpPr>
        <p:spPr>
          <a:xfrm>
            <a:off x="190500" y="1917700"/>
            <a:ext cx="1397000" cy="355600"/>
          </a:xfrm>
          <a:prstGeom prst="roundRect">
            <a:avLst/>
          </a:prstGeom>
          <a:solidFill>
            <a:srgbClr val="00D2D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00" b="1">
                <a:solidFill>
                  <a:srgbClr val="0F1117"/>
                </a:solidFill>
                <a:latin typeface="Consolas"/>
              </a:rPr>
              <a:t>backtester/</a:t>
            </a:r>
          </a:p>
        </p:txBody>
      </p:sp>
      <p:sp>
        <p:nvSpPr>
          <p:cNvPr id="23" name="Rectangle: Rounded Corners 22">
            <a:extLst>
              <a:ext uri="{FF2B5EF4-FFF2-40B4-BE49-F238E27FC236}">
                <a16:creationId xmlns:a16="http://schemas.microsoft.com/office/drawing/2014/main" id="{04D851A6-4E0E-4B35-A6D9-2ADF84CE7ED7}"/>
              </a:ext>
            </a:extLst>
          </p:cNvPr>
          <p:cNvSpPr/>
          <p:nvPr/>
        </p:nvSpPr>
        <p:spPr>
          <a:xfrm>
            <a:off x="1778000" y="1917700"/>
            <a:ext cx="1397000" cy="355600"/>
          </a:xfrm>
          <a:prstGeom prst="roundRect">
            <a:avLst/>
          </a:prstGeom>
          <a:solidFill>
            <a:srgbClr val="FF9F4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00" b="1">
                <a:solidFill>
                  <a:srgbClr val="0F1117"/>
                </a:solidFill>
                <a:latin typeface="Consolas"/>
              </a:rPr>
              <a:t>ml-model/</a:t>
            </a:r>
          </a:p>
        </p:txBody>
      </p:sp>
      <p:sp>
        <p:nvSpPr>
          <p:cNvPr id="24" name="TextBox 23">
            <a:extLst>
              <a:ext uri="{FF2B5EF4-FFF2-40B4-BE49-F238E27FC236}">
                <a16:creationId xmlns:a16="http://schemas.microsoft.com/office/drawing/2014/main" id="{72A6C310-1EFA-4C12-8EA6-4B8FC929902E}"/>
              </a:ext>
            </a:extLst>
          </p:cNvPr>
          <p:cNvSpPr txBox="1"/>
          <p:nvPr/>
        </p:nvSpPr>
        <p:spPr>
          <a:xfrm>
            <a:off x="3238500" y="1917700"/>
            <a:ext cx="2095500" cy="355600"/>
          </a:xfrm>
          <a:prstGeom prst="rect">
            <a:avLst/>
          </a:prstGeom>
          <a:noFill/>
        </p:spPr>
        <p:txBody>
          <a:bodyPr vertOverflow="overflow" vert="horz" wrap="square" rtlCol="0" anchor="ctr" anchorCtr="0">
            <a:spAutoFit/>
          </a:bodyPr>
          <a:lstStyle/>
          <a:p>
            <a:pPr algn="l"/>
            <a:r>
              <a:rPr lang="en-US" sz="1100" b="1">
                <a:solidFill>
                  <a:srgbClr val="5FD068"/>
                </a:solidFill>
              </a:rPr>
              <a:t>◀ YOU ARE HERE (pwd)</a:t>
            </a:r>
          </a:p>
        </p:txBody>
      </p:sp>
      <p:sp>
        <p:nvSpPr>
          <p:cNvPr id="25" name="Rectangle 24">
            <a:extLst>
              <a:ext uri="{FF2B5EF4-FFF2-40B4-BE49-F238E27FC236}">
                <a16:creationId xmlns:a16="http://schemas.microsoft.com/office/drawing/2014/main" id="{B06AD3C0-D54F-4038-8F48-12D065C371EB}"/>
              </a:ext>
            </a:extLst>
          </p:cNvPr>
          <p:cNvSpPr/>
          <p:nvPr/>
        </p:nvSpPr>
        <p:spPr>
          <a:xfrm>
            <a:off x="1143000" y="1104900"/>
            <a:ext cx="25400" cy="228600"/>
          </a:xfrm>
          <a:prstGeom prst="rect">
            <a:avLst/>
          </a:prstGeom>
          <a:solidFill>
            <a:srgbClr val="8080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Rectangle 25">
            <a:extLst>
              <a:ext uri="{FF2B5EF4-FFF2-40B4-BE49-F238E27FC236}">
                <a16:creationId xmlns:a16="http://schemas.microsoft.com/office/drawing/2014/main" id="{AA7B2ED0-6C6C-4CC4-93B8-4AE39741A83A}"/>
              </a:ext>
            </a:extLst>
          </p:cNvPr>
          <p:cNvSpPr/>
          <p:nvPr/>
        </p:nvSpPr>
        <p:spPr>
          <a:xfrm>
            <a:off x="1143000" y="1206500"/>
            <a:ext cx="2222500" cy="25400"/>
          </a:xfrm>
          <a:prstGeom prst="rect">
            <a:avLst/>
          </a:prstGeom>
          <a:solidFill>
            <a:srgbClr val="8080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Rectangle 26">
            <a:extLst>
              <a:ext uri="{FF2B5EF4-FFF2-40B4-BE49-F238E27FC236}">
                <a16:creationId xmlns:a16="http://schemas.microsoft.com/office/drawing/2014/main" id="{C0933907-823D-4608-9994-FAA64357E3D7}"/>
              </a:ext>
            </a:extLst>
          </p:cNvPr>
          <p:cNvSpPr/>
          <p:nvPr/>
        </p:nvSpPr>
        <p:spPr>
          <a:xfrm>
            <a:off x="3009900" y="1206500"/>
            <a:ext cx="25400" cy="127000"/>
          </a:xfrm>
          <a:prstGeom prst="rect">
            <a:avLst/>
          </a:prstGeom>
          <a:solidFill>
            <a:srgbClr val="8080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8" name="Rectangle 27">
            <a:extLst>
              <a:ext uri="{FF2B5EF4-FFF2-40B4-BE49-F238E27FC236}">
                <a16:creationId xmlns:a16="http://schemas.microsoft.com/office/drawing/2014/main" id="{8CC126B7-5C08-4130-9FF4-F7768BF53776}"/>
              </a:ext>
            </a:extLst>
          </p:cNvPr>
          <p:cNvSpPr/>
          <p:nvPr/>
        </p:nvSpPr>
        <p:spPr>
          <a:xfrm>
            <a:off x="4660900" y="1206500"/>
            <a:ext cx="25400" cy="127000"/>
          </a:xfrm>
          <a:prstGeom prst="rect">
            <a:avLst/>
          </a:prstGeom>
          <a:solidFill>
            <a:srgbClr val="8080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9" name="Rectangle 28">
            <a:extLst>
              <a:ext uri="{FF2B5EF4-FFF2-40B4-BE49-F238E27FC236}">
                <a16:creationId xmlns:a16="http://schemas.microsoft.com/office/drawing/2014/main" id="{76EC4643-1B25-415C-AFE9-4430775E26AB}"/>
              </a:ext>
            </a:extLst>
          </p:cNvPr>
          <p:cNvSpPr/>
          <p:nvPr/>
        </p:nvSpPr>
        <p:spPr>
          <a:xfrm>
            <a:off x="889000" y="1689100"/>
            <a:ext cx="25400" cy="228600"/>
          </a:xfrm>
          <a:prstGeom prst="rect">
            <a:avLst/>
          </a:prstGeom>
          <a:solidFill>
            <a:srgbClr val="8080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0" name="Rectangle 29">
            <a:extLst>
              <a:ext uri="{FF2B5EF4-FFF2-40B4-BE49-F238E27FC236}">
                <a16:creationId xmlns:a16="http://schemas.microsoft.com/office/drawing/2014/main" id="{EBA64108-C070-48D7-BA72-36F13C1AA18B}"/>
              </a:ext>
            </a:extLst>
          </p:cNvPr>
          <p:cNvSpPr/>
          <p:nvPr/>
        </p:nvSpPr>
        <p:spPr>
          <a:xfrm>
            <a:off x="889000" y="1790700"/>
            <a:ext cx="1587500" cy="25400"/>
          </a:xfrm>
          <a:prstGeom prst="rect">
            <a:avLst/>
          </a:prstGeom>
          <a:solidFill>
            <a:srgbClr val="8080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1" name="Rectangle 30">
            <a:extLst>
              <a:ext uri="{FF2B5EF4-FFF2-40B4-BE49-F238E27FC236}">
                <a16:creationId xmlns:a16="http://schemas.microsoft.com/office/drawing/2014/main" id="{2A295CEB-81E7-4206-B544-251C485E6AD2}"/>
              </a:ext>
            </a:extLst>
          </p:cNvPr>
          <p:cNvSpPr/>
          <p:nvPr/>
        </p:nvSpPr>
        <p:spPr>
          <a:xfrm>
            <a:off x="2476500" y="1790700"/>
            <a:ext cx="25400" cy="127000"/>
          </a:xfrm>
          <a:prstGeom prst="rect">
            <a:avLst/>
          </a:prstGeom>
          <a:solidFill>
            <a:srgbClr val="8080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2" name="Rectangle: Rounded Corners 31">
            <a:extLst>
              <a:ext uri="{FF2B5EF4-FFF2-40B4-BE49-F238E27FC236}">
                <a16:creationId xmlns:a16="http://schemas.microsoft.com/office/drawing/2014/main" id="{0E114713-9032-4091-86DE-EB6AD5125CCB}"/>
              </a:ext>
            </a:extLst>
          </p:cNvPr>
          <p:cNvSpPr/>
          <p:nvPr/>
        </p:nvSpPr>
        <p:spPr>
          <a:xfrm>
            <a:off x="381000" y="2489200"/>
            <a:ext cx="2222500" cy="609600"/>
          </a:xfrm>
          <a:prstGeom prst="roundRect">
            <a:avLst/>
          </a:prstGeom>
          <a:solidFill>
            <a:srgbClr val="1A1D27"/>
          </a:solidFill>
          <a:ln w="25400" cap="flat" cmpd="sng" algn="ctr">
            <a:solidFill>
              <a:srgbClr val="6C5CE7"/>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000">
                <a:solidFill>
                  <a:srgbClr val="D0D4DC"/>
                </a:solidFill>
              </a:rPr>
              <a:t>pwd
Print where you are</a:t>
            </a:r>
          </a:p>
        </p:txBody>
      </p:sp>
      <p:sp>
        <p:nvSpPr>
          <p:cNvPr id="33" name="Rectangle: Rounded Corners 32">
            <a:extLst>
              <a:ext uri="{FF2B5EF4-FFF2-40B4-BE49-F238E27FC236}">
                <a16:creationId xmlns:a16="http://schemas.microsoft.com/office/drawing/2014/main" id="{859957A5-6E64-4B05-8D41-5EA81264F1A3}"/>
              </a:ext>
            </a:extLst>
          </p:cNvPr>
          <p:cNvSpPr/>
          <p:nvPr/>
        </p:nvSpPr>
        <p:spPr>
          <a:xfrm>
            <a:off x="2705100" y="2489200"/>
            <a:ext cx="2222500" cy="609600"/>
          </a:xfrm>
          <a:prstGeom prst="roundRect">
            <a:avLst/>
          </a:prstGeom>
          <a:solidFill>
            <a:srgbClr val="1A1D27"/>
          </a:solidFill>
          <a:ln w="25400" cap="flat" cmpd="sng" algn="ctr">
            <a:solidFill>
              <a:srgbClr val="54A0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000">
                <a:solidFill>
                  <a:srgbClr val="D0D4DC"/>
                </a:solidFill>
              </a:rPr>
              <a:t>ls
List files here</a:t>
            </a:r>
          </a:p>
        </p:txBody>
      </p:sp>
      <p:sp>
        <p:nvSpPr>
          <p:cNvPr id="34" name="Rectangle: Rounded Corners 33">
            <a:extLst>
              <a:ext uri="{FF2B5EF4-FFF2-40B4-BE49-F238E27FC236}">
                <a16:creationId xmlns:a16="http://schemas.microsoft.com/office/drawing/2014/main" id="{6EDA4EBA-B22F-43FC-A53B-54DDCE4674A0}"/>
              </a:ext>
            </a:extLst>
          </p:cNvPr>
          <p:cNvSpPr/>
          <p:nvPr/>
        </p:nvSpPr>
        <p:spPr>
          <a:xfrm>
            <a:off x="5029200" y="2489200"/>
            <a:ext cx="2222500" cy="609600"/>
          </a:xfrm>
          <a:prstGeom prst="roundRect">
            <a:avLst/>
          </a:prstGeom>
          <a:solidFill>
            <a:srgbClr val="1A1D27"/>
          </a:solidFill>
          <a:ln w="25400" cap="flat" cmpd="sng" algn="ctr">
            <a:solidFill>
              <a:srgbClr val="00D2D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000">
                <a:solidFill>
                  <a:srgbClr val="D0D4DC"/>
                </a:solidFill>
              </a:rPr>
              <a:t>cd folder/
Go into folder</a:t>
            </a:r>
          </a:p>
        </p:txBody>
      </p:sp>
      <p:sp>
        <p:nvSpPr>
          <p:cNvPr id="35" name="Rectangle: Rounded Corners 34">
            <a:extLst>
              <a:ext uri="{FF2B5EF4-FFF2-40B4-BE49-F238E27FC236}">
                <a16:creationId xmlns:a16="http://schemas.microsoft.com/office/drawing/2014/main" id="{C45899EE-32BA-4917-A206-9C0D9FBB63BC}"/>
              </a:ext>
            </a:extLst>
          </p:cNvPr>
          <p:cNvSpPr/>
          <p:nvPr/>
        </p:nvSpPr>
        <p:spPr>
          <a:xfrm>
            <a:off x="7353300" y="2489200"/>
            <a:ext cx="2222500" cy="609600"/>
          </a:xfrm>
          <a:prstGeom prst="roundRect">
            <a:avLst/>
          </a:prstGeom>
          <a:solidFill>
            <a:srgbClr val="1A1D27"/>
          </a:solidFill>
          <a:ln w="25400" cap="flat" cmpd="sng" algn="ctr">
            <a:solidFill>
              <a:srgbClr val="FF9F4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000">
                <a:solidFill>
                  <a:srgbClr val="D0D4DC"/>
                </a:solidFill>
              </a:rPr>
              <a:t>cd ..
Go up one level</a:t>
            </a:r>
          </a:p>
        </p:txBody>
      </p:sp>
      <p:sp>
        <p:nvSpPr>
          <p:cNvPr id="36" name="Rectangle: Rounded Corners 35">
            <a:extLst>
              <a:ext uri="{FF2B5EF4-FFF2-40B4-BE49-F238E27FC236}">
                <a16:creationId xmlns:a16="http://schemas.microsoft.com/office/drawing/2014/main" id="{BA5D0337-A659-4314-8F2B-5C4FD47E5C20}"/>
              </a:ext>
            </a:extLst>
          </p:cNvPr>
          <p:cNvSpPr/>
          <p:nvPr/>
        </p:nvSpPr>
        <p:spPr>
          <a:xfrm>
            <a:off x="9677400" y="2489200"/>
            <a:ext cx="2222500" cy="609600"/>
          </a:xfrm>
          <a:prstGeom prst="roundRect">
            <a:avLst/>
          </a:prstGeom>
          <a:solidFill>
            <a:srgbClr val="1A1D27"/>
          </a:solidFill>
          <a:ln w="25400" cap="flat" cmpd="sng" algn="ctr">
            <a:solidFill>
              <a:srgbClr val="5FD06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000">
                <a:solidFill>
                  <a:srgbClr val="D0D4DC"/>
                </a:solidFill>
              </a:rPr>
              <a:t>mkdir name
Create new folder</a:t>
            </a:r>
          </a:p>
        </p:txBody>
      </p:sp>
      <p:sp>
        <p:nvSpPr>
          <p:cNvPr id="37" name="Rectangle 36">
            <a:extLst>
              <a:ext uri="{FF2B5EF4-FFF2-40B4-BE49-F238E27FC236}">
                <a16:creationId xmlns:a16="http://schemas.microsoft.com/office/drawing/2014/main" id="{4BC71227-EB77-4656-9C3F-8F72F5EF4AB9}"/>
              </a:ext>
            </a:extLst>
          </p:cNvPr>
          <p:cNvSpPr/>
          <p:nvPr/>
        </p:nvSpPr>
        <p:spPr>
          <a:xfrm>
            <a:off x="381000" y="3238500"/>
            <a:ext cx="6731000" cy="2794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900">
                <a:solidFill>
                  <a:srgbClr val="808080"/>
                </a:solidFill>
                <a:latin typeface="Consolas"/>
              </a:rPr>
              <a:t>  ⬤  Terminal — navigation</a:t>
            </a:r>
          </a:p>
        </p:txBody>
      </p:sp>
      <p:sp>
        <p:nvSpPr>
          <p:cNvPr id="38" name="Rectangle 37">
            <a:extLst>
              <a:ext uri="{FF2B5EF4-FFF2-40B4-BE49-F238E27FC236}">
                <a16:creationId xmlns:a16="http://schemas.microsoft.com/office/drawing/2014/main" id="{C7CC51C4-BD2E-4FD3-9269-63E00BFA3BBE}"/>
              </a:ext>
            </a:extLst>
          </p:cNvPr>
          <p:cNvSpPr/>
          <p:nvPr/>
        </p:nvSpPr>
        <p:spPr>
          <a:xfrm>
            <a:off x="381000" y="3517900"/>
            <a:ext cx="6731000" cy="1270000"/>
          </a:xfrm>
          <a:prstGeom prst="rect">
            <a:avLst/>
          </a:prstGeom>
          <a:solidFill>
            <a:srgbClr val="0C0C0C"/>
          </a:solidFill>
          <a:ln w="12700" cap="flat" cmpd="sng" algn="ctr">
            <a:solidFill>
              <a:srgbClr val="33333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oAutofit/>
          </a:bodyPr>
          <a:lstStyle/>
          <a:p>
            <a:pPr algn="l"/>
            <a:r>
              <a:rPr lang="en-US" sz="1000">
                <a:solidFill>
                  <a:srgbClr val="4EC9B0"/>
                </a:solidFill>
                <a:latin typeface="Consolas"/>
              </a:rPr>
              <a:t>$ pwd
/Users/you/projects/backtester
$ ls
data/  strategy.py  backtest.py  README.md
$ cd ..        # go up to projects/
$ mkdir new-project &amp;&amp; cd new-project</a:t>
            </a:r>
          </a:p>
        </p:txBody>
      </p:sp>
      <p:sp>
        <p:nvSpPr>
          <p:cNvPr id="39" name="TextBox 38">
            <a:extLst>
              <a:ext uri="{FF2B5EF4-FFF2-40B4-BE49-F238E27FC236}">
                <a16:creationId xmlns:a16="http://schemas.microsoft.com/office/drawing/2014/main" id="{DD8BD533-B747-48E8-A447-B9E5521FA987}"/>
              </a:ext>
            </a:extLst>
          </p:cNvPr>
          <p:cNvSpPr txBox="1"/>
          <p:nvPr/>
        </p:nvSpPr>
        <p:spPr>
          <a:xfrm>
            <a:off x="381000" y="4889500"/>
            <a:ext cx="6731000" cy="635000"/>
          </a:xfrm>
          <a:prstGeom prst="rect">
            <a:avLst/>
          </a:prstGeom>
          <a:noFill/>
        </p:spPr>
        <p:txBody>
          <a:bodyPr vertOverflow="overflow" vert="horz" wrap="square" rtlCol="0" anchor="t">
            <a:spAutoFit/>
          </a:bodyPr>
          <a:lstStyle/>
          <a:p>
            <a:pPr algn="l"/>
            <a:r>
              <a:rPr lang="en-US" sz="1100">
                <a:solidFill>
                  <a:srgbClr val="B0B8C4"/>
                </a:solidFill>
              </a:rPr>
              <a:t>The terminal is a text-based way to navigate your computer and run programs. Think of it like a file explorer without the graphics — faster and more powerful once you learn the five commands above. Every coding tool you will use in this course (Python, Git, pip, venv) runs through the terminal.</a:t>
            </a:r>
          </a:p>
        </p:txBody>
      </p:sp>
      <p:sp>
        <p:nvSpPr>
          <p:cNvPr id="40" name="Rectangle: Rounded Corners 39">
            <a:extLst>
              <a:ext uri="{FF2B5EF4-FFF2-40B4-BE49-F238E27FC236}">
                <a16:creationId xmlns:a16="http://schemas.microsoft.com/office/drawing/2014/main" id="{AA73FF1A-0D7C-4BAE-A6E2-D842B76E1A8E}"/>
              </a:ext>
            </a:extLst>
          </p:cNvPr>
          <p:cNvSpPr/>
          <p:nvPr/>
        </p:nvSpPr>
        <p:spPr>
          <a:xfrm>
            <a:off x="7366000" y="3200400"/>
            <a:ext cx="4572000" cy="2349500"/>
          </a:xfrm>
          <a:prstGeom prst="roundRect">
            <a:avLst/>
          </a:prstGeom>
          <a:solidFill>
            <a:srgbClr val="1A1D27"/>
          </a:solidFill>
          <a:ln w="38100" cap="flat" cmpd="sng" algn="ctr">
            <a:solidFill>
              <a:srgbClr val="FF9F4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400" b="1">
                <a:solidFill>
                  <a:srgbClr val="FF9F43"/>
                </a:solidFill>
              </a:rPr>
              <a:t>SCREENSHOT:
Terminal window showing basic navigation commands</a:t>
            </a:r>
          </a:p>
        </p:txBody>
      </p:sp>
    </p:spTree>
    <p:extLst>
      <p:ext uri="{BB962C8B-B14F-4D97-AF65-F5344CB8AC3E}">
        <p14:creationId xmlns:p14="http://schemas.microsoft.com/office/powerpoint/2010/main" val="4911301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93B3D-8B0E-B80A-91E3-7F2B950EDDB4}"/>
              </a:ext>
            </a:extLst>
          </p:cNvPr>
          <p:cNvSpPr>
            <a:spLocks noGrp="1"/>
          </p:cNvSpPr>
          <p:nvPr>
            <p:ph type="title"/>
          </p:nvPr>
        </p:nvSpPr>
        <p:spPr/>
        <p:txBody>
          <a:bodyPr>
            <a:normAutofit/>
          </a:bodyPr>
          <a:lstStyle/>
          <a:p>
            <a:r>
              <a:rPr lang="en-US" sz="4000" b="1"/>
              <a:t>Git &amp; GitHub</a:t>
            </a:r>
          </a:p>
        </p:txBody>
      </p:sp>
      <p:sp>
        <p:nvSpPr>
          <p:cNvPr id="3" name="Text Placeholder 2">
            <a:extLst>
              <a:ext uri="{FF2B5EF4-FFF2-40B4-BE49-F238E27FC236}">
                <a16:creationId xmlns:a16="http://schemas.microsoft.com/office/drawing/2014/main" id="{799CF756-E29D-4ACE-7587-C046DA032139}"/>
              </a:ext>
            </a:extLst>
          </p:cNvPr>
          <p:cNvSpPr>
            <a:spLocks noGrp="1"/>
          </p:cNvSpPr>
          <p:nvPr>
            <p:ph type="body" idx="1"/>
          </p:nvPr>
        </p:nvSpPr>
        <p:spPr/>
        <p:txBody>
          <a:bodyPr>
            <a:normAutofit/>
          </a:bodyPr>
          <a:lstStyle/>
          <a:p>
            <a:r>
              <a:rPr lang="en-US" sz="1600"/>
              <a:t>Section 04  —  Version control, collaboration, and building your technical portfolio</a:t>
            </a:r>
          </a:p>
        </p:txBody>
      </p:sp>
      <p:pic>
        <p:nvPicPr>
          <p:cNvPr id="4" name="Graphic 4" descr="Git/version control ico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14000" y="1968500"/>
            <a:ext cx="762000" cy="762000"/>
          </a:xfrm>
          <a:prstGeom prst="rect">
            <a:avLst/>
          </a:prstGeom>
        </p:spPr>
      </p:pic>
    </p:spTree>
    <p:extLst>
      <p:ext uri="{BB962C8B-B14F-4D97-AF65-F5344CB8AC3E}">
        <p14:creationId xmlns:p14="http://schemas.microsoft.com/office/powerpoint/2010/main" val="2693704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36E6071C-8C16-4DAB-A578-54FB840B25E3}"/>
              </a:ext>
            </a:extLst>
          </p:cNvPr>
          <p:cNvSpPr txBox="1"/>
          <p:nvPr/>
        </p:nvSpPr>
        <p:spPr>
          <a:xfrm>
            <a:off x="381000" y="127000"/>
            <a:ext cx="7112000" cy="508000"/>
          </a:xfrm>
          <a:prstGeom prst="rect">
            <a:avLst/>
          </a:prstGeom>
          <a:noFill/>
        </p:spPr>
        <p:txBody>
          <a:bodyPr vertOverflow="overflow" vert="horz" wrap="square" rtlCol="0" anchor="t">
            <a:spAutoFit/>
          </a:bodyPr>
          <a:lstStyle/>
          <a:p>
            <a:pPr algn="l"/>
            <a:r>
              <a:rPr lang="en-US" sz="2400" b="1">
                <a:solidFill>
                  <a:srgbClr val="F0F0F0"/>
                </a:solidFill>
              </a:rPr>
              <a:t>Git: The Version Control Workflow</a:t>
            </a:r>
          </a:p>
        </p:txBody>
      </p:sp>
      <p:sp>
        <p:nvSpPr>
          <p:cNvPr id="19" name="Oval 18">
            <a:extLst>
              <a:ext uri="{FF2B5EF4-FFF2-40B4-BE49-F238E27FC236}">
                <a16:creationId xmlns:a16="http://schemas.microsoft.com/office/drawing/2014/main" id="{AE29EFA3-8F6B-41C2-B09C-7E73377D1442}"/>
              </a:ext>
            </a:extLst>
          </p:cNvPr>
          <p:cNvSpPr/>
          <p:nvPr/>
        </p:nvSpPr>
        <p:spPr>
          <a:xfrm>
            <a:off x="6731000" y="177800"/>
            <a:ext cx="406400" cy="406400"/>
          </a:xfrm>
          <a:prstGeom prst="ellipse">
            <a:avLst/>
          </a:prstGeom>
          <a:solidFill>
            <a:srgbClr val="F0503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000" b="1">
                <a:solidFill>
                  <a:srgbClr val="FFFFFF"/>
                </a:solidFill>
              </a:rPr>
              <a:t>Git</a:t>
            </a:r>
          </a:p>
        </p:txBody>
      </p:sp>
      <p:sp>
        <p:nvSpPr>
          <p:cNvPr id="20" name="Rectangle: Rounded Corners 19">
            <a:extLst>
              <a:ext uri="{FF2B5EF4-FFF2-40B4-BE49-F238E27FC236}">
                <a16:creationId xmlns:a16="http://schemas.microsoft.com/office/drawing/2014/main" id="{1D086218-7BB6-439F-89D9-817700272EB2}"/>
              </a:ext>
            </a:extLst>
          </p:cNvPr>
          <p:cNvSpPr/>
          <p:nvPr/>
        </p:nvSpPr>
        <p:spPr>
          <a:xfrm>
            <a:off x="381000" y="698500"/>
            <a:ext cx="2095500" cy="660400"/>
          </a:xfrm>
          <a:prstGeom prst="roundRect">
            <a:avLst/>
          </a:prstGeom>
          <a:solidFill>
            <a:srgbClr val="2A2D3A"/>
          </a:solidFill>
          <a:ln w="25400" cap="flat" cmpd="sng" algn="ctr">
            <a:solidFill>
              <a:srgbClr val="6C5CE7"/>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100" b="1">
                <a:solidFill>
                  <a:srgbClr val="F0F0F0"/>
                </a:solidFill>
              </a:rPr>
              <a:t>Edit Your Code
Make changes to files</a:t>
            </a:r>
          </a:p>
        </p:txBody>
      </p:sp>
      <p:sp>
        <p:nvSpPr>
          <p:cNvPr id="21" name="Arrow: Down 20">
            <a:extLst>
              <a:ext uri="{FF2B5EF4-FFF2-40B4-BE49-F238E27FC236}">
                <a16:creationId xmlns:a16="http://schemas.microsoft.com/office/drawing/2014/main" id="{4400E2E6-20A4-4668-A460-10429FB543EF}"/>
              </a:ext>
            </a:extLst>
          </p:cNvPr>
          <p:cNvSpPr/>
          <p:nvPr/>
        </p:nvSpPr>
        <p:spPr>
          <a:xfrm>
            <a:off x="1301750" y="1358900"/>
            <a:ext cx="254000" cy="279400"/>
          </a:xfrm>
          <a:prstGeom prst="downArrow">
            <a:avLst/>
          </a:prstGeom>
          <a:solidFill>
            <a:srgbClr val="6C5CE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Rounded Corners 21">
            <a:extLst>
              <a:ext uri="{FF2B5EF4-FFF2-40B4-BE49-F238E27FC236}">
                <a16:creationId xmlns:a16="http://schemas.microsoft.com/office/drawing/2014/main" id="{44A8AC27-7FC4-49CD-8BB7-11A5AE4DAFAD}"/>
              </a:ext>
            </a:extLst>
          </p:cNvPr>
          <p:cNvSpPr/>
          <p:nvPr/>
        </p:nvSpPr>
        <p:spPr>
          <a:xfrm>
            <a:off x="381000" y="1638300"/>
            <a:ext cx="2095500" cy="660400"/>
          </a:xfrm>
          <a:prstGeom prst="roundRect">
            <a:avLst/>
          </a:prstGeom>
          <a:solidFill>
            <a:srgbClr val="1E2030"/>
          </a:solidFill>
          <a:ln w="25400" cap="flat" cmpd="sng" algn="ctr">
            <a:solidFill>
              <a:srgbClr val="54A0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100" b="1">
                <a:solidFill>
                  <a:srgbClr val="F0F0F0"/>
                </a:solidFill>
              </a:rPr>
              <a:t>git add .
Stage all changes</a:t>
            </a:r>
          </a:p>
        </p:txBody>
      </p:sp>
      <p:sp>
        <p:nvSpPr>
          <p:cNvPr id="23" name="Arrow: Down 22">
            <a:extLst>
              <a:ext uri="{FF2B5EF4-FFF2-40B4-BE49-F238E27FC236}">
                <a16:creationId xmlns:a16="http://schemas.microsoft.com/office/drawing/2014/main" id="{26EDFE7B-CD8F-4B07-A44E-0C9CD3FD2B0F}"/>
              </a:ext>
            </a:extLst>
          </p:cNvPr>
          <p:cNvSpPr/>
          <p:nvPr/>
        </p:nvSpPr>
        <p:spPr>
          <a:xfrm>
            <a:off x="1301750" y="2298700"/>
            <a:ext cx="254000" cy="279400"/>
          </a:xfrm>
          <a:prstGeom prst="downArrow">
            <a:avLst/>
          </a:prstGeom>
          <a:solidFill>
            <a:srgbClr val="6C5CE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Rectangle: Rounded Corners 23">
            <a:extLst>
              <a:ext uri="{FF2B5EF4-FFF2-40B4-BE49-F238E27FC236}">
                <a16:creationId xmlns:a16="http://schemas.microsoft.com/office/drawing/2014/main" id="{E385840A-5962-45D6-9DAB-18CA5977C438}"/>
              </a:ext>
            </a:extLst>
          </p:cNvPr>
          <p:cNvSpPr/>
          <p:nvPr/>
        </p:nvSpPr>
        <p:spPr>
          <a:xfrm>
            <a:off x="381000" y="2578100"/>
            <a:ext cx="2095500" cy="660400"/>
          </a:xfrm>
          <a:prstGeom prst="roundRect">
            <a:avLst/>
          </a:prstGeom>
          <a:solidFill>
            <a:srgbClr val="1E2030"/>
          </a:solidFill>
          <a:ln w="25400" cap="flat" cmpd="sng" algn="ctr">
            <a:solidFill>
              <a:srgbClr val="00D2D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100" b="1">
                <a:solidFill>
                  <a:srgbClr val="F0F0F0"/>
                </a:solidFill>
              </a:rPr>
              <a:t>git commit -m "msg"
Save a snapshot</a:t>
            </a:r>
          </a:p>
        </p:txBody>
      </p:sp>
      <p:sp>
        <p:nvSpPr>
          <p:cNvPr id="25" name="Arrow: Down 24">
            <a:extLst>
              <a:ext uri="{FF2B5EF4-FFF2-40B4-BE49-F238E27FC236}">
                <a16:creationId xmlns:a16="http://schemas.microsoft.com/office/drawing/2014/main" id="{2B1ADBF0-8774-43EF-8E9C-7A504D7D907F}"/>
              </a:ext>
            </a:extLst>
          </p:cNvPr>
          <p:cNvSpPr/>
          <p:nvPr/>
        </p:nvSpPr>
        <p:spPr>
          <a:xfrm>
            <a:off x="1301750" y="3238500"/>
            <a:ext cx="254000" cy="279400"/>
          </a:xfrm>
          <a:prstGeom prst="downArrow">
            <a:avLst/>
          </a:prstGeom>
          <a:solidFill>
            <a:srgbClr val="6C5CE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Rectangle: Rounded Corners 25">
            <a:extLst>
              <a:ext uri="{FF2B5EF4-FFF2-40B4-BE49-F238E27FC236}">
                <a16:creationId xmlns:a16="http://schemas.microsoft.com/office/drawing/2014/main" id="{9509D406-E7D7-4C64-8794-04FDA9125FBE}"/>
              </a:ext>
            </a:extLst>
          </p:cNvPr>
          <p:cNvSpPr/>
          <p:nvPr/>
        </p:nvSpPr>
        <p:spPr>
          <a:xfrm>
            <a:off x="381000" y="3517900"/>
            <a:ext cx="2095500" cy="660400"/>
          </a:xfrm>
          <a:prstGeom prst="roundRect">
            <a:avLst/>
          </a:prstGeom>
          <a:solidFill>
            <a:srgbClr val="1E2030"/>
          </a:solidFill>
          <a:ln w="25400" cap="flat" cmpd="sng" algn="ctr">
            <a:solidFill>
              <a:srgbClr val="5FD06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100" b="1">
                <a:solidFill>
                  <a:srgbClr val="F0F0F0"/>
                </a:solidFill>
              </a:rPr>
              <a:t>git push
Upload to GitHub</a:t>
            </a:r>
          </a:p>
        </p:txBody>
      </p:sp>
      <p:sp>
        <p:nvSpPr>
          <p:cNvPr id="27" name="Arrow: Down 26">
            <a:extLst>
              <a:ext uri="{FF2B5EF4-FFF2-40B4-BE49-F238E27FC236}">
                <a16:creationId xmlns:a16="http://schemas.microsoft.com/office/drawing/2014/main" id="{33FF8CF5-262B-4C9F-BE3D-525D2AD49A4C}"/>
              </a:ext>
            </a:extLst>
          </p:cNvPr>
          <p:cNvSpPr/>
          <p:nvPr/>
        </p:nvSpPr>
        <p:spPr>
          <a:xfrm>
            <a:off x="1301750" y="4178300"/>
            <a:ext cx="254000" cy="279400"/>
          </a:xfrm>
          <a:prstGeom prst="downArrow">
            <a:avLst/>
          </a:prstGeom>
          <a:solidFill>
            <a:srgbClr val="6C5CE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8" name="Rectangle: Rounded Corners 27">
            <a:extLst>
              <a:ext uri="{FF2B5EF4-FFF2-40B4-BE49-F238E27FC236}">
                <a16:creationId xmlns:a16="http://schemas.microsoft.com/office/drawing/2014/main" id="{316E054B-94EC-4E4B-96C8-7B176D65C233}"/>
              </a:ext>
            </a:extLst>
          </p:cNvPr>
          <p:cNvSpPr/>
          <p:nvPr/>
        </p:nvSpPr>
        <p:spPr>
          <a:xfrm>
            <a:off x="381000" y="4457700"/>
            <a:ext cx="2095500" cy="660400"/>
          </a:xfrm>
          <a:prstGeom prst="roundRect">
            <a:avLst/>
          </a:prstGeom>
          <a:solidFill>
            <a:srgbClr val="161B22"/>
          </a:solidFill>
          <a:ln w="25400" cap="flat" cmpd="sng" algn="ctr">
            <a:solidFill>
              <a:srgbClr val="F0F0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100" b="1">
                <a:solidFill>
                  <a:srgbClr val="F0F0F0"/>
                </a:solidFill>
              </a:rPr>
              <a:t>GitHub
Safe in the cloud</a:t>
            </a:r>
          </a:p>
        </p:txBody>
      </p:sp>
      <p:sp>
        <p:nvSpPr>
          <p:cNvPr id="29" name="TextBox 28">
            <a:extLst>
              <a:ext uri="{FF2B5EF4-FFF2-40B4-BE49-F238E27FC236}">
                <a16:creationId xmlns:a16="http://schemas.microsoft.com/office/drawing/2014/main" id="{3DB67082-2516-4ADE-B49E-BDBF44658F2F}"/>
              </a:ext>
            </a:extLst>
          </p:cNvPr>
          <p:cNvSpPr txBox="1"/>
          <p:nvPr/>
        </p:nvSpPr>
        <p:spPr>
          <a:xfrm>
            <a:off x="2540000" y="1651000"/>
            <a:ext cx="825500" cy="355600"/>
          </a:xfrm>
          <a:prstGeom prst="rect">
            <a:avLst/>
          </a:prstGeom>
          <a:noFill/>
        </p:spPr>
        <p:txBody>
          <a:bodyPr vertOverflow="overflow" vert="horz" wrap="square" rtlCol="0" anchor="t">
            <a:spAutoFit/>
          </a:bodyPr>
          <a:lstStyle/>
          <a:p>
            <a:pPr algn="l"/>
            <a:r>
              <a:rPr lang="en-US" sz="1400" b="1">
                <a:solidFill>
                  <a:srgbClr val="6C5CE7"/>
                </a:solidFill>
              </a:rPr>
              <a:t>LOCAL</a:t>
            </a:r>
          </a:p>
        </p:txBody>
      </p:sp>
      <p:sp>
        <p:nvSpPr>
          <p:cNvPr id="30" name="TextBox 29">
            <a:extLst>
              <a:ext uri="{FF2B5EF4-FFF2-40B4-BE49-F238E27FC236}">
                <a16:creationId xmlns:a16="http://schemas.microsoft.com/office/drawing/2014/main" id="{8C230050-471F-4D4D-A5ED-B770AFD9A019}"/>
              </a:ext>
            </a:extLst>
          </p:cNvPr>
          <p:cNvSpPr txBox="1"/>
          <p:nvPr/>
        </p:nvSpPr>
        <p:spPr>
          <a:xfrm>
            <a:off x="2540000" y="4445000"/>
            <a:ext cx="825500" cy="355600"/>
          </a:xfrm>
          <a:prstGeom prst="rect">
            <a:avLst/>
          </a:prstGeom>
          <a:noFill/>
        </p:spPr>
        <p:txBody>
          <a:bodyPr vertOverflow="overflow" vert="horz" wrap="square" rtlCol="0" anchor="t">
            <a:spAutoFit/>
          </a:bodyPr>
          <a:lstStyle/>
          <a:p>
            <a:pPr algn="l"/>
            <a:r>
              <a:rPr lang="en-US" sz="1400" b="1">
                <a:solidFill>
                  <a:srgbClr val="5FD068"/>
                </a:solidFill>
              </a:rPr>
              <a:t>CLOUD</a:t>
            </a:r>
          </a:p>
        </p:txBody>
      </p:sp>
      <p:sp>
        <p:nvSpPr>
          <p:cNvPr id="31" name="Rectangle 30">
            <a:extLst>
              <a:ext uri="{FF2B5EF4-FFF2-40B4-BE49-F238E27FC236}">
                <a16:creationId xmlns:a16="http://schemas.microsoft.com/office/drawing/2014/main" id="{671B63A7-D52F-4D00-AE5A-710E995558DB}"/>
              </a:ext>
            </a:extLst>
          </p:cNvPr>
          <p:cNvSpPr/>
          <p:nvPr/>
        </p:nvSpPr>
        <p:spPr>
          <a:xfrm>
            <a:off x="381000" y="4292600"/>
            <a:ext cx="2095500" cy="25400"/>
          </a:xfrm>
          <a:prstGeom prst="rect">
            <a:avLst/>
          </a:prstGeom>
          <a:solidFill>
            <a:srgbClr val="F0F0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2" name="TextBox 31">
            <a:extLst>
              <a:ext uri="{FF2B5EF4-FFF2-40B4-BE49-F238E27FC236}">
                <a16:creationId xmlns:a16="http://schemas.microsoft.com/office/drawing/2014/main" id="{D45354A3-2E69-4A5E-927A-C1390D0BB304}"/>
              </a:ext>
            </a:extLst>
          </p:cNvPr>
          <p:cNvSpPr txBox="1"/>
          <p:nvPr/>
        </p:nvSpPr>
        <p:spPr>
          <a:xfrm>
            <a:off x="3492500" y="698500"/>
            <a:ext cx="3937000" cy="4572000"/>
          </a:xfrm>
          <a:prstGeom prst="rect">
            <a:avLst/>
          </a:prstGeom>
          <a:noFill/>
        </p:spPr>
        <p:txBody>
          <a:bodyPr vertOverflow="overflow" vert="horz" wrap="square" rtlCol="0" anchor="t">
            <a:spAutoFit/>
          </a:bodyPr>
          <a:lstStyle/>
          <a:p>
            <a:pPr algn="l"/>
            <a:r>
              <a:rPr lang="en-US" sz="1200">
                <a:solidFill>
                  <a:srgbClr val="D0D4DC"/>
                </a:solidFill>
              </a:rPr>
              <a:t>Git tracks every change you make so you can always go back. The workflow is a cycle: edit code, stage changes, save a snapshot (commit), and upload to GitHub (push).
Why this matters for quant finance: When building a trading strategy you make dozens of changes over weeks. Without Git, one bad edit can destroy working code. With Git, you always have a safety net.
Commit messages should describe what you did: "added rolling average calculation" — not "updated stuff." Your commit history shows how you think and is visible to recruiters.
GitHub Desktop is a free GUI alternative if the terminal feels overwhelming. Start committing code now, even for small projects.</a:t>
            </a:r>
          </a:p>
        </p:txBody>
      </p:sp>
      <p:sp>
        <p:nvSpPr>
          <p:cNvPr id="33" name="Rectangle: Rounded Corners 32">
            <a:extLst>
              <a:ext uri="{FF2B5EF4-FFF2-40B4-BE49-F238E27FC236}">
                <a16:creationId xmlns:a16="http://schemas.microsoft.com/office/drawing/2014/main" id="{85A3ED7B-B768-4EDB-AF11-02180FA435FB}"/>
              </a:ext>
            </a:extLst>
          </p:cNvPr>
          <p:cNvSpPr/>
          <p:nvPr/>
        </p:nvSpPr>
        <p:spPr>
          <a:xfrm>
            <a:off x="7747000" y="660400"/>
            <a:ext cx="4191000" cy="4635500"/>
          </a:xfrm>
          <a:prstGeom prst="roundRect">
            <a:avLst/>
          </a:prstGeom>
          <a:solidFill>
            <a:srgbClr val="1A1D27"/>
          </a:solidFill>
          <a:ln w="38100" cap="flat" cmpd="sng" algn="ctr">
            <a:solidFill>
              <a:srgbClr val="FF9F4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400" b="1">
                <a:solidFill>
                  <a:srgbClr val="FF9F43"/>
                </a:solidFill>
              </a:rPr>
              <a:t>SCREENSHOT:
Terminal showing a git commit and push sequence</a:t>
            </a:r>
          </a:p>
        </p:txBody>
      </p:sp>
    </p:spTree>
    <p:extLst>
      <p:ext uri="{BB962C8B-B14F-4D97-AF65-F5344CB8AC3E}">
        <p14:creationId xmlns:p14="http://schemas.microsoft.com/office/powerpoint/2010/main" val="22266852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C2B1B3-7EA5-4064-A399-AA9F8C5F0998}"/>
              </a:ext>
            </a:extLst>
          </p:cNvPr>
          <p:cNvSpPr txBox="1"/>
          <p:nvPr/>
        </p:nvSpPr>
        <p:spPr>
          <a:xfrm>
            <a:off x="381000" y="127000"/>
            <a:ext cx="7112000" cy="508000"/>
          </a:xfrm>
          <a:prstGeom prst="rect">
            <a:avLst/>
          </a:prstGeom>
          <a:noFill/>
        </p:spPr>
        <p:txBody>
          <a:bodyPr vertOverflow="overflow" vert="horz" wrap="square" rtlCol="0" anchor="t">
            <a:spAutoFit/>
          </a:bodyPr>
          <a:lstStyle/>
          <a:p>
            <a:pPr algn="l"/>
            <a:r>
              <a:rPr lang="en-US" sz="2400" b="1">
                <a:solidFill>
                  <a:srgbClr val="F0F0F0"/>
                </a:solidFill>
              </a:rPr>
              <a:t>GitHub: Your Code Portfolio</a:t>
            </a:r>
          </a:p>
        </p:txBody>
      </p:sp>
      <p:sp>
        <p:nvSpPr>
          <p:cNvPr id="10" name="TextBox 9">
            <a:extLst>
              <a:ext uri="{FF2B5EF4-FFF2-40B4-BE49-F238E27FC236}">
                <a16:creationId xmlns:a16="http://schemas.microsoft.com/office/drawing/2014/main" id="{1AC50826-5621-4094-8B1B-54FFE7B977D0}"/>
              </a:ext>
            </a:extLst>
          </p:cNvPr>
          <p:cNvSpPr txBox="1"/>
          <p:nvPr/>
        </p:nvSpPr>
        <p:spPr>
          <a:xfrm>
            <a:off x="381000" y="660400"/>
            <a:ext cx="7112000" cy="635000"/>
          </a:xfrm>
          <a:prstGeom prst="rect">
            <a:avLst/>
          </a:prstGeom>
          <a:noFill/>
        </p:spPr>
        <p:txBody>
          <a:bodyPr vertOverflow="overflow" vert="horz" wrap="square" rtlCol="0" anchor="t">
            <a:spAutoFit/>
          </a:bodyPr>
          <a:lstStyle/>
          <a:p>
            <a:pPr algn="l"/>
            <a:r>
              <a:rPr lang="en-US" sz="1200">
                <a:solidFill>
                  <a:srgbClr val="D0D4DC"/>
                </a:solidFill>
              </a:rPr>
              <a:t>GitHub hosts your Git repositories online — backed up, shareable, and visible to collaborators or recruiters. Your GitHub profile functions as a technical portfolio that hiring managers and quant teams check.</a:t>
            </a:r>
          </a:p>
        </p:txBody>
      </p:sp>
      <p:sp>
        <p:nvSpPr>
          <p:cNvPr id="11" name="Rectangle 10">
            <a:extLst>
              <a:ext uri="{FF2B5EF4-FFF2-40B4-BE49-F238E27FC236}">
                <a16:creationId xmlns:a16="http://schemas.microsoft.com/office/drawing/2014/main" id="{A6BF87FD-6F85-4E9D-9B8E-F3B443886799}"/>
              </a:ext>
            </a:extLst>
          </p:cNvPr>
          <p:cNvSpPr/>
          <p:nvPr/>
        </p:nvSpPr>
        <p:spPr>
          <a:xfrm>
            <a:off x="381000" y="1358900"/>
            <a:ext cx="7112000" cy="3048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00">
                <a:solidFill>
                  <a:srgbClr val="808080"/>
                </a:solidFill>
                <a:latin typeface="Consolas"/>
              </a:rPr>
              <a:t>  ⬤  Terminal — bash</a:t>
            </a:r>
          </a:p>
        </p:txBody>
      </p:sp>
      <p:sp>
        <p:nvSpPr>
          <p:cNvPr id="12" name="Rectangle 11">
            <a:extLst>
              <a:ext uri="{FF2B5EF4-FFF2-40B4-BE49-F238E27FC236}">
                <a16:creationId xmlns:a16="http://schemas.microsoft.com/office/drawing/2014/main" id="{19ED4D33-CAE0-4732-961B-A941DC854E94}"/>
              </a:ext>
            </a:extLst>
          </p:cNvPr>
          <p:cNvSpPr/>
          <p:nvPr/>
        </p:nvSpPr>
        <p:spPr>
          <a:xfrm>
            <a:off x="381000" y="1663700"/>
            <a:ext cx="7112000" cy="1206500"/>
          </a:xfrm>
          <a:prstGeom prst="rect">
            <a:avLst/>
          </a:prstGeom>
          <a:solidFill>
            <a:srgbClr val="0C0C0C"/>
          </a:solidFill>
          <a:ln w="12700" cap="flat" cmpd="sng" algn="ctr">
            <a:solidFill>
              <a:srgbClr val="33333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chorCtr="0">
            <a:noAutofit/>
          </a:bodyPr>
          <a:lstStyle/>
          <a:p>
            <a:pPr algn="l"/>
            <a:r>
              <a:rPr lang="en-US" sz="1100">
                <a:solidFill>
                  <a:srgbClr val="4EC9B0"/>
                </a:solidFill>
                <a:latin typeface="Consolas"/>
              </a:rPr>
              <a:t># After creating a repo on github.com, copy the HTTPS URL
$ git remote add origin https://github.com/you/spy-backtest.git
$ git branch -M main
$ git push -u origin main
Enumerating objects: 12, done. Writing objects: 100%</a:t>
            </a:r>
          </a:p>
        </p:txBody>
      </p:sp>
      <p:sp>
        <p:nvSpPr>
          <p:cNvPr id="13" name="TextBox 12">
            <a:extLst>
              <a:ext uri="{FF2B5EF4-FFF2-40B4-BE49-F238E27FC236}">
                <a16:creationId xmlns:a16="http://schemas.microsoft.com/office/drawing/2014/main" id="{2E488FF6-2023-4AF5-AE2E-1CD8EA13A333}"/>
              </a:ext>
            </a:extLst>
          </p:cNvPr>
          <p:cNvSpPr txBox="1"/>
          <p:nvPr/>
        </p:nvSpPr>
        <p:spPr>
          <a:xfrm>
            <a:off x="381000" y="2946400"/>
            <a:ext cx="7112000" cy="1524000"/>
          </a:xfrm>
          <a:prstGeom prst="rect">
            <a:avLst/>
          </a:prstGeom>
          <a:noFill/>
        </p:spPr>
        <p:txBody>
          <a:bodyPr vertOverflow="overflow" vert="horz" wrap="square" rtlCol="0" anchor="t">
            <a:spAutoFit/>
          </a:bodyPr>
          <a:lstStyle/>
          <a:p>
            <a:pPr algn="l"/>
            <a:r>
              <a:rPr lang="en-US" sz="1200">
                <a:solidFill>
                  <a:srgbClr val="D0D4DC"/>
                </a:solidFill>
              </a:rPr>
              <a:t>Setup steps: 1) Create a free account at github.com  2) Click "New" to create a repository  3) Name it descriptively (e.g., spy-rolling-average-backtest)  4) Check "Add a README"  5) Copy the HTTPS URL and run the commands above in your terminal.
If the terminal feels intimidating, GitHub Desktop is a free GUI that lets you do all Git operations with buttons. Many professional developers use GUI tools — no shame in it. Start committing now, even for small projects. A GitHub profile with real projects shows employers you can build.</a:t>
            </a:r>
          </a:p>
        </p:txBody>
      </p:sp>
      <p:sp>
        <p:nvSpPr>
          <p:cNvPr id="14" name="Rectangle: Rounded Corners 13">
            <a:extLst>
              <a:ext uri="{FF2B5EF4-FFF2-40B4-BE49-F238E27FC236}">
                <a16:creationId xmlns:a16="http://schemas.microsoft.com/office/drawing/2014/main" id="{C1003499-C3BF-43F5-8158-8F1146B81929}"/>
              </a:ext>
            </a:extLst>
          </p:cNvPr>
          <p:cNvSpPr/>
          <p:nvPr/>
        </p:nvSpPr>
        <p:spPr>
          <a:xfrm>
            <a:off x="7747000" y="660400"/>
            <a:ext cx="4191000" cy="3810000"/>
          </a:xfrm>
          <a:prstGeom prst="roundRect">
            <a:avLst/>
          </a:prstGeom>
          <a:solidFill>
            <a:srgbClr val="1A1D27"/>
          </a:solidFill>
          <a:ln w="38100" cap="flat" cmpd="sng" algn="ctr">
            <a:solidFill>
              <a:srgbClr val="FF9F4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400" b="1">
                <a:solidFill>
                  <a:srgbClr val="FF9F43"/>
                </a:solidFill>
              </a:rPr>
              <a:t>SCREENSHOT:
GitHub.com new repository creation screen</a:t>
            </a:r>
          </a:p>
        </p:txBody>
      </p:sp>
      <p:sp>
        <p:nvSpPr>
          <p:cNvPr id="15" name="Oval 14">
            <a:extLst>
              <a:ext uri="{FF2B5EF4-FFF2-40B4-BE49-F238E27FC236}">
                <a16:creationId xmlns:a16="http://schemas.microsoft.com/office/drawing/2014/main" id="{2006888D-18C6-4B22-9CA8-18E9281C2EF7}"/>
              </a:ext>
            </a:extLst>
          </p:cNvPr>
          <p:cNvSpPr/>
          <p:nvPr/>
        </p:nvSpPr>
        <p:spPr>
          <a:xfrm>
            <a:off x="6731000" y="177800"/>
            <a:ext cx="406400" cy="406400"/>
          </a:xfrm>
          <a:prstGeom prst="ellipse">
            <a:avLst/>
          </a:prstGeom>
          <a:solidFill>
            <a:srgbClr val="F0F0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100" b="1">
                <a:solidFill>
                  <a:srgbClr val="0F1117"/>
                </a:solidFill>
              </a:rPr>
              <a:t>GH</a:t>
            </a:r>
          </a:p>
        </p:txBody>
      </p:sp>
    </p:spTree>
    <p:extLst>
      <p:ext uri="{BB962C8B-B14F-4D97-AF65-F5344CB8AC3E}">
        <p14:creationId xmlns:p14="http://schemas.microsoft.com/office/powerpoint/2010/main" val="29442246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D15FD-02C4-5AF7-8403-109A3F73E19F}"/>
              </a:ext>
            </a:extLst>
          </p:cNvPr>
          <p:cNvSpPr>
            <a:spLocks noGrp="1"/>
          </p:cNvSpPr>
          <p:nvPr>
            <p:ph type="title"/>
          </p:nvPr>
        </p:nvSpPr>
        <p:spPr/>
        <p:txBody>
          <a:bodyPr>
            <a:normAutofit/>
          </a:bodyPr>
          <a:lstStyle/>
          <a:p>
            <a:r>
              <a:rPr lang="en-US" sz="4000" b="1"/>
              <a:t>Python Environment Setup</a:t>
            </a:r>
          </a:p>
        </p:txBody>
      </p:sp>
      <p:sp>
        <p:nvSpPr>
          <p:cNvPr id="3" name="Text Placeholder 2">
            <a:extLst>
              <a:ext uri="{FF2B5EF4-FFF2-40B4-BE49-F238E27FC236}">
                <a16:creationId xmlns:a16="http://schemas.microsoft.com/office/drawing/2014/main" id="{DA01A80C-FEB4-BD56-0F58-9AF1FB3EF67C}"/>
              </a:ext>
            </a:extLst>
          </p:cNvPr>
          <p:cNvSpPr>
            <a:spLocks noGrp="1"/>
          </p:cNvSpPr>
          <p:nvPr>
            <p:ph type="body" idx="1"/>
          </p:nvPr>
        </p:nvSpPr>
        <p:spPr/>
        <p:txBody>
          <a:bodyPr>
            <a:normAutofit/>
          </a:bodyPr>
          <a:lstStyle/>
          <a:p>
            <a:r>
              <a:rPr lang="en-US" sz="1600"/>
              <a:t>Section 05  —  Installing Python, managing packages, and virtual environments</a:t>
            </a:r>
          </a:p>
        </p:txBody>
      </p:sp>
      <p:pic>
        <p:nvPicPr>
          <p:cNvPr id="4" name="Graphic 4" descr="Python setup gear ico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14000" y="1968500"/>
            <a:ext cx="762000" cy="762000"/>
          </a:xfrm>
          <a:prstGeom prst="rect">
            <a:avLst/>
          </a:prstGeom>
        </p:spPr>
      </p:pic>
    </p:spTree>
    <p:extLst>
      <p:ext uri="{BB962C8B-B14F-4D97-AF65-F5344CB8AC3E}">
        <p14:creationId xmlns:p14="http://schemas.microsoft.com/office/powerpoint/2010/main" val="18294618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89111E3F-E371-488A-AA3C-008A436D7617}"/>
              </a:ext>
            </a:extLst>
          </p:cNvPr>
          <p:cNvSpPr txBox="1"/>
          <p:nvPr/>
        </p:nvSpPr>
        <p:spPr>
          <a:xfrm>
            <a:off x="381000" y="127000"/>
            <a:ext cx="7112000" cy="508000"/>
          </a:xfrm>
          <a:prstGeom prst="rect">
            <a:avLst/>
          </a:prstGeom>
          <a:noFill/>
        </p:spPr>
        <p:txBody>
          <a:bodyPr vertOverflow="overflow" vert="horz" wrap="square" rtlCol="0" anchor="t">
            <a:spAutoFit/>
          </a:bodyPr>
          <a:lstStyle/>
          <a:p>
            <a:pPr algn="l"/>
            <a:r>
              <a:rPr lang="en-US" sz="2200" b="1">
                <a:solidFill>
                  <a:srgbClr val="F0F0F0"/>
                </a:solidFill>
              </a:rPr>
              <a:t>Virtual Environments: Isolated Project Worlds</a:t>
            </a:r>
          </a:p>
        </p:txBody>
      </p:sp>
      <p:sp>
        <p:nvSpPr>
          <p:cNvPr id="19" name="Oval 18">
            <a:extLst>
              <a:ext uri="{FF2B5EF4-FFF2-40B4-BE49-F238E27FC236}">
                <a16:creationId xmlns:a16="http://schemas.microsoft.com/office/drawing/2014/main" id="{7B6F24DC-1F7D-4321-91E2-0E273878B033}"/>
              </a:ext>
            </a:extLst>
          </p:cNvPr>
          <p:cNvSpPr/>
          <p:nvPr/>
        </p:nvSpPr>
        <p:spPr>
          <a:xfrm>
            <a:off x="6731000" y="177800"/>
            <a:ext cx="406400" cy="406400"/>
          </a:xfrm>
          <a:prstGeom prst="ellipse">
            <a:avLst/>
          </a:prstGeom>
          <a:solidFill>
            <a:srgbClr val="3776A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100" b="1">
                <a:solidFill>
                  <a:srgbClr val="FFD43B"/>
                </a:solidFill>
              </a:rPr>
              <a:t>Py</a:t>
            </a:r>
          </a:p>
        </p:txBody>
      </p:sp>
      <p:sp>
        <p:nvSpPr>
          <p:cNvPr id="20" name="Rectangle: Rounded Corners 19">
            <a:extLst>
              <a:ext uri="{FF2B5EF4-FFF2-40B4-BE49-F238E27FC236}">
                <a16:creationId xmlns:a16="http://schemas.microsoft.com/office/drawing/2014/main" id="{D2C52DC4-E94C-4564-9465-27B8AF2166B1}"/>
              </a:ext>
            </a:extLst>
          </p:cNvPr>
          <p:cNvSpPr/>
          <p:nvPr/>
        </p:nvSpPr>
        <p:spPr>
          <a:xfrm>
            <a:off x="381000" y="736600"/>
            <a:ext cx="2159000" cy="1968500"/>
          </a:xfrm>
          <a:prstGeom prst="roundRect">
            <a:avLst/>
          </a:prstGeom>
          <a:solidFill>
            <a:srgbClr val="1A1D27"/>
          </a:solidFill>
          <a:ln w="25400" cap="flat" cmpd="sng" algn="ctr">
            <a:solidFill>
              <a:srgbClr val="6C5CE7"/>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oAutofit/>
          </a:bodyPr>
          <a:lstStyle/>
          <a:p>
            <a:pPr algn="l"/>
            <a:endParaRPr lang="en-US"/>
          </a:p>
        </p:txBody>
      </p:sp>
      <p:sp>
        <p:nvSpPr>
          <p:cNvPr id="21" name="Rectangle 20">
            <a:extLst>
              <a:ext uri="{FF2B5EF4-FFF2-40B4-BE49-F238E27FC236}">
                <a16:creationId xmlns:a16="http://schemas.microsoft.com/office/drawing/2014/main" id="{378C38F6-37B6-4170-9B64-7D42B4604CEF}"/>
              </a:ext>
            </a:extLst>
          </p:cNvPr>
          <p:cNvSpPr/>
          <p:nvPr/>
        </p:nvSpPr>
        <p:spPr>
          <a:xfrm>
            <a:off x="381000" y="736600"/>
            <a:ext cx="2159000" cy="482600"/>
          </a:xfrm>
          <a:prstGeom prst="rect">
            <a:avLst/>
          </a:prstGeom>
          <a:solidFill>
            <a:srgbClr val="6C5CE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000" b="1">
                <a:solidFill>
                  <a:srgbClr val="FFFFFF"/>
                </a:solidFill>
              </a:rPr>
              <a:t>Project A
Backtester</a:t>
            </a:r>
          </a:p>
        </p:txBody>
      </p:sp>
      <p:sp>
        <p:nvSpPr>
          <p:cNvPr id="22" name="TextBox 21">
            <a:extLst>
              <a:ext uri="{FF2B5EF4-FFF2-40B4-BE49-F238E27FC236}">
                <a16:creationId xmlns:a16="http://schemas.microsoft.com/office/drawing/2014/main" id="{057F3F4B-6DEC-4A1F-B8B8-C8E677EA2A27}"/>
              </a:ext>
            </a:extLst>
          </p:cNvPr>
          <p:cNvSpPr txBox="1"/>
          <p:nvPr/>
        </p:nvSpPr>
        <p:spPr>
          <a:xfrm>
            <a:off x="508000" y="1270000"/>
            <a:ext cx="1905000" cy="228600"/>
          </a:xfrm>
          <a:prstGeom prst="rect">
            <a:avLst/>
          </a:prstGeom>
          <a:noFill/>
        </p:spPr>
        <p:txBody>
          <a:bodyPr vertOverflow="overflow" vert="horz" wrap="square" rtlCol="0" anchor="t">
            <a:spAutoFit/>
          </a:bodyPr>
          <a:lstStyle/>
          <a:p>
            <a:pPr algn="l"/>
            <a:r>
              <a:rPr lang="en-US" sz="900">
                <a:solidFill>
                  <a:srgbClr val="FFD43B"/>
                </a:solidFill>
                <a:latin typeface="Consolas"/>
              </a:rPr>
              <a:t>Python 3.11</a:t>
            </a:r>
          </a:p>
        </p:txBody>
      </p:sp>
      <p:sp>
        <p:nvSpPr>
          <p:cNvPr id="23" name="TextBox 22">
            <a:extLst>
              <a:ext uri="{FF2B5EF4-FFF2-40B4-BE49-F238E27FC236}">
                <a16:creationId xmlns:a16="http://schemas.microsoft.com/office/drawing/2014/main" id="{1DFE6F4B-BD17-4516-8ABE-030742FE191C}"/>
              </a:ext>
            </a:extLst>
          </p:cNvPr>
          <p:cNvSpPr txBox="1"/>
          <p:nvPr/>
        </p:nvSpPr>
        <p:spPr>
          <a:xfrm>
            <a:off x="508000" y="1524000"/>
            <a:ext cx="1905000" cy="1016000"/>
          </a:xfrm>
          <a:prstGeom prst="rect">
            <a:avLst/>
          </a:prstGeom>
          <a:noFill/>
        </p:spPr>
        <p:txBody>
          <a:bodyPr vertOverflow="overflow" vert="horz" wrap="square" rtlCol="0" anchor="t">
            <a:spAutoFit/>
          </a:bodyPr>
          <a:lstStyle/>
          <a:p>
            <a:pPr algn="l"/>
            <a:r>
              <a:rPr lang="en-US" sz="900">
                <a:solidFill>
                  <a:srgbClr val="B0B8C4"/>
                </a:solidFill>
                <a:latin typeface="Consolas"/>
              </a:rPr>
              <a:t>pandas 1.5
numpy 1.24
matplotlib 3.6</a:t>
            </a:r>
          </a:p>
        </p:txBody>
      </p:sp>
      <p:sp>
        <p:nvSpPr>
          <p:cNvPr id="24" name="Rectangle: Rounded Corners 23">
            <a:extLst>
              <a:ext uri="{FF2B5EF4-FFF2-40B4-BE49-F238E27FC236}">
                <a16:creationId xmlns:a16="http://schemas.microsoft.com/office/drawing/2014/main" id="{2504886B-598D-4BEE-96CD-9E67E55A8425}"/>
              </a:ext>
            </a:extLst>
          </p:cNvPr>
          <p:cNvSpPr/>
          <p:nvPr/>
        </p:nvSpPr>
        <p:spPr>
          <a:xfrm>
            <a:off x="2692400" y="736600"/>
            <a:ext cx="2159000" cy="1968500"/>
          </a:xfrm>
          <a:prstGeom prst="roundRect">
            <a:avLst/>
          </a:prstGeom>
          <a:solidFill>
            <a:srgbClr val="1A1D27"/>
          </a:solidFill>
          <a:ln w="25400" cap="flat" cmpd="sng" algn="ctr">
            <a:solidFill>
              <a:srgbClr val="54A0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oAutofit/>
          </a:bodyPr>
          <a:lstStyle/>
          <a:p>
            <a:pPr algn="l"/>
            <a:endParaRPr lang="en-US"/>
          </a:p>
        </p:txBody>
      </p:sp>
      <p:sp>
        <p:nvSpPr>
          <p:cNvPr id="25" name="Rectangle 24">
            <a:extLst>
              <a:ext uri="{FF2B5EF4-FFF2-40B4-BE49-F238E27FC236}">
                <a16:creationId xmlns:a16="http://schemas.microsoft.com/office/drawing/2014/main" id="{EEDCBF01-2AC6-4D30-B8A8-13A0843E5BFE}"/>
              </a:ext>
            </a:extLst>
          </p:cNvPr>
          <p:cNvSpPr/>
          <p:nvPr/>
        </p:nvSpPr>
        <p:spPr>
          <a:xfrm>
            <a:off x="2692400" y="736600"/>
            <a:ext cx="2159000" cy="482600"/>
          </a:xfrm>
          <a:prstGeom prst="rect">
            <a:avLst/>
          </a:prstGeom>
          <a:solidFill>
            <a:srgbClr val="54A0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000" b="1">
                <a:solidFill>
                  <a:srgbClr val="FFFFFF"/>
                </a:solidFill>
              </a:rPr>
              <a:t>Project B
ML Model</a:t>
            </a:r>
          </a:p>
        </p:txBody>
      </p:sp>
      <p:sp>
        <p:nvSpPr>
          <p:cNvPr id="26" name="TextBox 25">
            <a:extLst>
              <a:ext uri="{FF2B5EF4-FFF2-40B4-BE49-F238E27FC236}">
                <a16:creationId xmlns:a16="http://schemas.microsoft.com/office/drawing/2014/main" id="{ECF411DF-2F7B-48FA-AB0A-CE40EA670FD6}"/>
              </a:ext>
            </a:extLst>
          </p:cNvPr>
          <p:cNvSpPr txBox="1"/>
          <p:nvPr/>
        </p:nvSpPr>
        <p:spPr>
          <a:xfrm>
            <a:off x="2819400" y="1270000"/>
            <a:ext cx="1905000" cy="228600"/>
          </a:xfrm>
          <a:prstGeom prst="rect">
            <a:avLst/>
          </a:prstGeom>
          <a:noFill/>
        </p:spPr>
        <p:txBody>
          <a:bodyPr vertOverflow="overflow" vert="horz" wrap="square" rtlCol="0" anchor="t">
            <a:spAutoFit/>
          </a:bodyPr>
          <a:lstStyle/>
          <a:p>
            <a:pPr algn="l"/>
            <a:r>
              <a:rPr lang="en-US" sz="900">
                <a:solidFill>
                  <a:srgbClr val="FFD43B"/>
                </a:solidFill>
                <a:latin typeface="Consolas"/>
              </a:rPr>
              <a:t>Python 3.11</a:t>
            </a:r>
          </a:p>
        </p:txBody>
      </p:sp>
      <p:sp>
        <p:nvSpPr>
          <p:cNvPr id="27" name="TextBox 26">
            <a:extLst>
              <a:ext uri="{FF2B5EF4-FFF2-40B4-BE49-F238E27FC236}">
                <a16:creationId xmlns:a16="http://schemas.microsoft.com/office/drawing/2014/main" id="{FC8CB1D3-F3C7-4ECD-99FD-383BB2F52455}"/>
              </a:ext>
            </a:extLst>
          </p:cNvPr>
          <p:cNvSpPr txBox="1"/>
          <p:nvPr/>
        </p:nvSpPr>
        <p:spPr>
          <a:xfrm>
            <a:off x="2819400" y="1524000"/>
            <a:ext cx="1905000" cy="1016000"/>
          </a:xfrm>
          <a:prstGeom prst="rect">
            <a:avLst/>
          </a:prstGeom>
          <a:noFill/>
        </p:spPr>
        <p:txBody>
          <a:bodyPr vertOverflow="overflow" vert="horz" wrap="square" rtlCol="0" anchor="t">
            <a:spAutoFit/>
          </a:bodyPr>
          <a:lstStyle/>
          <a:p>
            <a:pPr algn="l"/>
            <a:r>
              <a:rPr lang="en-US" sz="900">
                <a:solidFill>
                  <a:srgbClr val="B0B8C4"/>
                </a:solidFill>
                <a:latin typeface="Consolas"/>
              </a:rPr>
              <a:t>pandas 2.1
sklearn 1.3
tensorflow 2.14</a:t>
            </a:r>
          </a:p>
        </p:txBody>
      </p:sp>
      <p:sp>
        <p:nvSpPr>
          <p:cNvPr id="28" name="Rectangle: Rounded Corners 27">
            <a:extLst>
              <a:ext uri="{FF2B5EF4-FFF2-40B4-BE49-F238E27FC236}">
                <a16:creationId xmlns:a16="http://schemas.microsoft.com/office/drawing/2014/main" id="{B6064CF4-8FCF-43FA-8A2A-165CD3E45E06}"/>
              </a:ext>
            </a:extLst>
          </p:cNvPr>
          <p:cNvSpPr/>
          <p:nvPr/>
        </p:nvSpPr>
        <p:spPr>
          <a:xfrm>
            <a:off x="5003800" y="736600"/>
            <a:ext cx="2159000" cy="1968500"/>
          </a:xfrm>
          <a:prstGeom prst="roundRect">
            <a:avLst/>
          </a:prstGeom>
          <a:solidFill>
            <a:srgbClr val="1A1D27"/>
          </a:solidFill>
          <a:ln w="25400" cap="flat" cmpd="sng" algn="ctr">
            <a:solidFill>
              <a:srgbClr val="00D2D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oAutofit/>
          </a:bodyPr>
          <a:lstStyle/>
          <a:p>
            <a:pPr algn="l"/>
            <a:endParaRPr lang="en-US"/>
          </a:p>
        </p:txBody>
      </p:sp>
      <p:sp>
        <p:nvSpPr>
          <p:cNvPr id="29" name="Rectangle 28">
            <a:extLst>
              <a:ext uri="{FF2B5EF4-FFF2-40B4-BE49-F238E27FC236}">
                <a16:creationId xmlns:a16="http://schemas.microsoft.com/office/drawing/2014/main" id="{ACAF7393-7A19-472B-A811-033A456E064A}"/>
              </a:ext>
            </a:extLst>
          </p:cNvPr>
          <p:cNvSpPr/>
          <p:nvPr/>
        </p:nvSpPr>
        <p:spPr>
          <a:xfrm>
            <a:off x="5003800" y="736600"/>
            <a:ext cx="2159000" cy="482600"/>
          </a:xfrm>
          <a:prstGeom prst="rect">
            <a:avLst/>
          </a:prstGeom>
          <a:solidFill>
            <a:srgbClr val="00D2D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000" b="1">
                <a:solidFill>
                  <a:srgbClr val="0F1117"/>
                </a:solidFill>
              </a:rPr>
              <a:t>Project C
Dashboard</a:t>
            </a:r>
          </a:p>
        </p:txBody>
      </p:sp>
      <p:sp>
        <p:nvSpPr>
          <p:cNvPr id="30" name="TextBox 29">
            <a:extLst>
              <a:ext uri="{FF2B5EF4-FFF2-40B4-BE49-F238E27FC236}">
                <a16:creationId xmlns:a16="http://schemas.microsoft.com/office/drawing/2014/main" id="{141DB8A8-FB50-4C6D-BB26-72DA02DC10C4}"/>
              </a:ext>
            </a:extLst>
          </p:cNvPr>
          <p:cNvSpPr txBox="1"/>
          <p:nvPr/>
        </p:nvSpPr>
        <p:spPr>
          <a:xfrm>
            <a:off x="5130800" y="1270000"/>
            <a:ext cx="1905000" cy="228600"/>
          </a:xfrm>
          <a:prstGeom prst="rect">
            <a:avLst/>
          </a:prstGeom>
          <a:noFill/>
        </p:spPr>
        <p:txBody>
          <a:bodyPr vertOverflow="overflow" vert="horz" wrap="square" rtlCol="0" anchor="t">
            <a:spAutoFit/>
          </a:bodyPr>
          <a:lstStyle/>
          <a:p>
            <a:pPr algn="l"/>
            <a:r>
              <a:rPr lang="en-US" sz="900">
                <a:solidFill>
                  <a:srgbClr val="FFD43B"/>
                </a:solidFill>
                <a:latin typeface="Consolas"/>
              </a:rPr>
              <a:t>Python 3.11</a:t>
            </a:r>
          </a:p>
        </p:txBody>
      </p:sp>
      <p:sp>
        <p:nvSpPr>
          <p:cNvPr id="31" name="TextBox 30">
            <a:extLst>
              <a:ext uri="{FF2B5EF4-FFF2-40B4-BE49-F238E27FC236}">
                <a16:creationId xmlns:a16="http://schemas.microsoft.com/office/drawing/2014/main" id="{4C812A78-01F6-4B59-915C-476FCF63B048}"/>
              </a:ext>
            </a:extLst>
          </p:cNvPr>
          <p:cNvSpPr txBox="1"/>
          <p:nvPr/>
        </p:nvSpPr>
        <p:spPr>
          <a:xfrm>
            <a:off x="5130800" y="1524000"/>
            <a:ext cx="1905000" cy="1016000"/>
          </a:xfrm>
          <a:prstGeom prst="rect">
            <a:avLst/>
          </a:prstGeom>
          <a:noFill/>
        </p:spPr>
        <p:txBody>
          <a:bodyPr vertOverflow="overflow" vert="horz" wrap="square" rtlCol="0" anchor="t">
            <a:spAutoFit/>
          </a:bodyPr>
          <a:lstStyle/>
          <a:p>
            <a:pPr algn="l"/>
            <a:r>
              <a:rPr lang="sv-SE" sz="900">
                <a:solidFill>
                  <a:srgbClr val="B0B8C4"/>
                </a:solidFill>
                <a:latin typeface="Consolas"/>
              </a:rPr>
              <a:t>pandas 2.0
flask 3.0
plotly 5.18</a:t>
            </a:r>
            <a:endParaRPr lang="en-US" sz="900">
              <a:solidFill>
                <a:srgbClr val="B0B8C4"/>
              </a:solidFill>
              <a:latin typeface="Consolas"/>
            </a:endParaRPr>
          </a:p>
        </p:txBody>
      </p:sp>
      <p:sp>
        <p:nvSpPr>
          <p:cNvPr id="32" name="Rectangle 31">
            <a:extLst>
              <a:ext uri="{FF2B5EF4-FFF2-40B4-BE49-F238E27FC236}">
                <a16:creationId xmlns:a16="http://schemas.microsoft.com/office/drawing/2014/main" id="{A610AEB7-AE29-4F92-9222-FE6F7328ADFC}"/>
              </a:ext>
            </a:extLst>
          </p:cNvPr>
          <p:cNvSpPr/>
          <p:nvPr/>
        </p:nvSpPr>
        <p:spPr>
          <a:xfrm>
            <a:off x="2552700" y="927100"/>
            <a:ext cx="127000" cy="1587500"/>
          </a:xfrm>
          <a:prstGeom prst="rect">
            <a:avLst/>
          </a:prstGeom>
          <a:solidFill>
            <a:srgbClr val="FF6B6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000">
                <a:solidFill>
                  <a:srgbClr val="FFFFFF"/>
                </a:solidFill>
              </a:rPr>
              <a:t>✖</a:t>
            </a:r>
          </a:p>
        </p:txBody>
      </p:sp>
      <p:sp>
        <p:nvSpPr>
          <p:cNvPr id="33" name="Rectangle 32">
            <a:extLst>
              <a:ext uri="{FF2B5EF4-FFF2-40B4-BE49-F238E27FC236}">
                <a16:creationId xmlns:a16="http://schemas.microsoft.com/office/drawing/2014/main" id="{3ED01352-0992-4C3D-AD51-3EF2051118B4}"/>
              </a:ext>
            </a:extLst>
          </p:cNvPr>
          <p:cNvSpPr/>
          <p:nvPr/>
        </p:nvSpPr>
        <p:spPr>
          <a:xfrm>
            <a:off x="4864100" y="927100"/>
            <a:ext cx="127000" cy="1587500"/>
          </a:xfrm>
          <a:prstGeom prst="rect">
            <a:avLst/>
          </a:prstGeom>
          <a:solidFill>
            <a:srgbClr val="FF6B6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000">
                <a:solidFill>
                  <a:srgbClr val="FFFFFF"/>
                </a:solidFill>
              </a:rPr>
              <a:t>✖</a:t>
            </a:r>
          </a:p>
        </p:txBody>
      </p:sp>
      <p:sp>
        <p:nvSpPr>
          <p:cNvPr id="34" name="TextBox 33">
            <a:extLst>
              <a:ext uri="{FF2B5EF4-FFF2-40B4-BE49-F238E27FC236}">
                <a16:creationId xmlns:a16="http://schemas.microsoft.com/office/drawing/2014/main" id="{9750C441-5801-4C88-90E3-841D1FAFCE1F}"/>
              </a:ext>
            </a:extLst>
          </p:cNvPr>
          <p:cNvSpPr txBox="1"/>
          <p:nvPr/>
        </p:nvSpPr>
        <p:spPr>
          <a:xfrm>
            <a:off x="381000" y="2768600"/>
            <a:ext cx="6731000" cy="279400"/>
          </a:xfrm>
          <a:prstGeom prst="rect">
            <a:avLst/>
          </a:prstGeom>
          <a:noFill/>
        </p:spPr>
        <p:txBody>
          <a:bodyPr vertOverflow="overflow" vert="horz" wrap="square" rtlCol="0" anchor="t">
            <a:spAutoFit/>
          </a:bodyPr>
          <a:lstStyle/>
          <a:p>
            <a:pPr algn="l"/>
            <a:r>
              <a:rPr lang="en-US" sz="1000" i="1">
                <a:solidFill>
                  <a:srgbClr val="FF6B6B"/>
                </a:solidFill>
              </a:rPr>
              <a:t>Each project has its own isolated Python environment — packages cannot conflict</a:t>
            </a:r>
          </a:p>
        </p:txBody>
      </p:sp>
      <p:sp>
        <p:nvSpPr>
          <p:cNvPr id="35" name="Rectangle 34">
            <a:extLst>
              <a:ext uri="{FF2B5EF4-FFF2-40B4-BE49-F238E27FC236}">
                <a16:creationId xmlns:a16="http://schemas.microsoft.com/office/drawing/2014/main" id="{32F6B152-B035-413C-9BA5-348FD59920AC}"/>
              </a:ext>
            </a:extLst>
          </p:cNvPr>
          <p:cNvSpPr/>
          <p:nvPr/>
        </p:nvSpPr>
        <p:spPr>
          <a:xfrm>
            <a:off x="381000" y="3111500"/>
            <a:ext cx="6731000" cy="2794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900">
                <a:solidFill>
                  <a:srgbClr val="808080"/>
                </a:solidFill>
                <a:latin typeface="Consolas"/>
              </a:rPr>
              <a:t>  ⬤  Terminal — setup</a:t>
            </a:r>
          </a:p>
        </p:txBody>
      </p:sp>
      <p:sp>
        <p:nvSpPr>
          <p:cNvPr id="36" name="Rectangle 35">
            <a:extLst>
              <a:ext uri="{FF2B5EF4-FFF2-40B4-BE49-F238E27FC236}">
                <a16:creationId xmlns:a16="http://schemas.microsoft.com/office/drawing/2014/main" id="{47332740-242B-48D5-8494-58D763853E39}"/>
              </a:ext>
            </a:extLst>
          </p:cNvPr>
          <p:cNvSpPr/>
          <p:nvPr/>
        </p:nvSpPr>
        <p:spPr>
          <a:xfrm>
            <a:off x="381000" y="3390900"/>
            <a:ext cx="6731000" cy="1460500"/>
          </a:xfrm>
          <a:prstGeom prst="rect">
            <a:avLst/>
          </a:prstGeom>
          <a:solidFill>
            <a:srgbClr val="0C0C0C"/>
          </a:solidFill>
          <a:ln w="12700" cap="flat" cmpd="sng" algn="ctr">
            <a:solidFill>
              <a:srgbClr val="33333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chorCtr="0">
            <a:noAutofit/>
          </a:bodyPr>
          <a:lstStyle/>
          <a:p>
            <a:pPr algn="l"/>
            <a:r>
              <a:rPr lang="en-US" sz="1000">
                <a:solidFill>
                  <a:srgbClr val="4EC9B0"/>
                </a:solidFill>
                <a:latin typeface="Consolas"/>
              </a:rPr>
              <a:t>$ python -m venv .venv            # create environment
$ source .venv/bin/activate       # Mac/Linux
$ .venv\Scripts\activate           # Windows
(.venv) $ pip install pandas numpy # install inside venv
(.venv) $                          # prompt shows (.venv)</a:t>
            </a:r>
          </a:p>
        </p:txBody>
      </p:sp>
      <p:sp>
        <p:nvSpPr>
          <p:cNvPr id="37" name="TextBox 36">
            <a:extLst>
              <a:ext uri="{FF2B5EF4-FFF2-40B4-BE49-F238E27FC236}">
                <a16:creationId xmlns:a16="http://schemas.microsoft.com/office/drawing/2014/main" id="{AA981BE2-C557-4FDF-B9F4-87697864257D}"/>
              </a:ext>
            </a:extLst>
          </p:cNvPr>
          <p:cNvSpPr txBox="1"/>
          <p:nvPr/>
        </p:nvSpPr>
        <p:spPr>
          <a:xfrm>
            <a:off x="381000" y="4953000"/>
            <a:ext cx="6731000" cy="609600"/>
          </a:xfrm>
          <a:prstGeom prst="rect">
            <a:avLst/>
          </a:prstGeom>
          <a:noFill/>
        </p:spPr>
        <p:txBody>
          <a:bodyPr vertOverflow="overflow" vert="horz" wrap="square" rtlCol="0" anchor="t">
            <a:spAutoFit/>
          </a:bodyPr>
          <a:lstStyle/>
          <a:p>
            <a:pPr algn="l"/>
            <a:r>
              <a:rPr lang="en-US" sz="1100">
                <a:solidFill>
                  <a:srgbClr val="B0B8C4"/>
                </a:solidFill>
              </a:rPr>
              <a:t>Setup is where most beginners fail — wrong Python version, missing packages, PATH issues. Always create a venv for every new project. Install Python 3.11+ from python.org (check "Add to PATH" on Windows).</a:t>
            </a:r>
          </a:p>
        </p:txBody>
      </p:sp>
      <p:sp>
        <p:nvSpPr>
          <p:cNvPr id="38" name="Rectangle: Rounded Corners 37">
            <a:extLst>
              <a:ext uri="{FF2B5EF4-FFF2-40B4-BE49-F238E27FC236}">
                <a16:creationId xmlns:a16="http://schemas.microsoft.com/office/drawing/2014/main" id="{67CBBDE2-1F6B-4846-8432-97C5E755023E}"/>
              </a:ext>
            </a:extLst>
          </p:cNvPr>
          <p:cNvSpPr/>
          <p:nvPr/>
        </p:nvSpPr>
        <p:spPr>
          <a:xfrm>
            <a:off x="7747000" y="660400"/>
            <a:ext cx="4191000" cy="4927600"/>
          </a:xfrm>
          <a:prstGeom prst="roundRect">
            <a:avLst/>
          </a:prstGeom>
          <a:solidFill>
            <a:srgbClr val="1A1D27"/>
          </a:solidFill>
          <a:ln w="38100" cap="flat" cmpd="sng" algn="ctr">
            <a:solidFill>
              <a:srgbClr val="FF9F4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400" b="1">
                <a:solidFill>
                  <a:srgbClr val="FF9F43"/>
                </a:solidFill>
              </a:rPr>
              <a:t>SCREENSHOT:
Terminal showing venv creation and activation</a:t>
            </a:r>
          </a:p>
        </p:txBody>
      </p:sp>
    </p:spTree>
    <p:extLst>
      <p:ext uri="{BB962C8B-B14F-4D97-AF65-F5344CB8AC3E}">
        <p14:creationId xmlns:p14="http://schemas.microsoft.com/office/powerpoint/2010/main" val="34602616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35EFE-A08D-19DB-0760-9B7073F66426}"/>
              </a:ext>
            </a:extLst>
          </p:cNvPr>
          <p:cNvSpPr>
            <a:spLocks noGrp="1"/>
          </p:cNvSpPr>
          <p:nvPr>
            <p:ph type="title"/>
          </p:nvPr>
        </p:nvSpPr>
        <p:spPr/>
        <p:txBody>
          <a:bodyPr>
            <a:normAutofit/>
          </a:bodyPr>
          <a:lstStyle/>
          <a:p>
            <a:r>
              <a:rPr lang="en-US" sz="4000" b="1"/>
              <a:t>Prompt Engineering for Coders</a:t>
            </a:r>
          </a:p>
        </p:txBody>
      </p:sp>
      <p:sp>
        <p:nvSpPr>
          <p:cNvPr id="3" name="Text Placeholder 2">
            <a:extLst>
              <a:ext uri="{FF2B5EF4-FFF2-40B4-BE49-F238E27FC236}">
                <a16:creationId xmlns:a16="http://schemas.microsoft.com/office/drawing/2014/main" id="{5FF4C056-7A82-EA6B-7CE5-04BB89922AD4}"/>
              </a:ext>
            </a:extLst>
          </p:cNvPr>
          <p:cNvSpPr>
            <a:spLocks noGrp="1"/>
          </p:cNvSpPr>
          <p:nvPr>
            <p:ph type="body" idx="1"/>
          </p:nvPr>
        </p:nvSpPr>
        <p:spPr/>
        <p:txBody>
          <a:bodyPr>
            <a:normAutofit/>
          </a:bodyPr>
          <a:lstStyle/>
          <a:p>
            <a:r>
              <a:rPr lang="en-US" sz="1600"/>
              <a:t>Section 06  —  How to direct Claude to write, debug, and explain code effectively</a:t>
            </a:r>
          </a:p>
        </p:txBody>
      </p:sp>
      <p:pic>
        <p:nvPicPr>
          <p:cNvPr id="4" name="Graphic 4" descr="Target icon for prompti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14000" y="1968500"/>
            <a:ext cx="762000" cy="762000"/>
          </a:xfrm>
          <a:prstGeom prst="rect">
            <a:avLst/>
          </a:prstGeom>
        </p:spPr>
      </p:pic>
    </p:spTree>
    <p:extLst>
      <p:ext uri="{BB962C8B-B14F-4D97-AF65-F5344CB8AC3E}">
        <p14:creationId xmlns:p14="http://schemas.microsoft.com/office/powerpoint/2010/main" val="41298491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4F2F7C47-0352-4F73-9AE0-0A638208D9CA}"/>
              </a:ext>
            </a:extLst>
          </p:cNvPr>
          <p:cNvSpPr txBox="1"/>
          <p:nvPr/>
        </p:nvSpPr>
        <p:spPr>
          <a:xfrm>
            <a:off x="381000" y="127000"/>
            <a:ext cx="11430000" cy="508000"/>
          </a:xfrm>
          <a:prstGeom prst="rect">
            <a:avLst/>
          </a:prstGeom>
          <a:noFill/>
        </p:spPr>
        <p:txBody>
          <a:bodyPr vertOverflow="overflow" vert="horz" wrap="square" rtlCol="0" anchor="t">
            <a:spAutoFit/>
          </a:bodyPr>
          <a:lstStyle/>
          <a:p>
            <a:pPr algn="l"/>
            <a:r>
              <a:rPr lang="en-US" sz="2200" b="1">
                <a:solidFill>
                  <a:srgbClr val="F0F0F0"/>
                </a:solidFill>
              </a:rPr>
              <a:t>Prompt Engineering: Your Input Shapes the Output</a:t>
            </a:r>
          </a:p>
        </p:txBody>
      </p:sp>
      <p:sp>
        <p:nvSpPr>
          <p:cNvPr id="22" name="Rectangle: Rounded Corners 21">
            <a:extLst>
              <a:ext uri="{FF2B5EF4-FFF2-40B4-BE49-F238E27FC236}">
                <a16:creationId xmlns:a16="http://schemas.microsoft.com/office/drawing/2014/main" id="{D8824D22-75DE-4045-9180-4E55ED0D6E66}"/>
              </a:ext>
            </a:extLst>
          </p:cNvPr>
          <p:cNvSpPr/>
          <p:nvPr/>
        </p:nvSpPr>
        <p:spPr>
          <a:xfrm>
            <a:off x="381000" y="698500"/>
            <a:ext cx="5588000" cy="381000"/>
          </a:xfrm>
          <a:prstGeom prst="roundRect">
            <a:avLst/>
          </a:prstGeom>
          <a:solidFill>
            <a:srgbClr val="FF6B6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400" b="1">
                <a:solidFill>
                  <a:srgbClr val="FFFFFF"/>
                </a:solidFill>
              </a:rPr>
              <a:t>✖  BAD PROMPT</a:t>
            </a:r>
          </a:p>
        </p:txBody>
      </p:sp>
      <p:sp>
        <p:nvSpPr>
          <p:cNvPr id="23" name="Rectangle: Rounded Corners 22">
            <a:extLst>
              <a:ext uri="{FF2B5EF4-FFF2-40B4-BE49-F238E27FC236}">
                <a16:creationId xmlns:a16="http://schemas.microsoft.com/office/drawing/2014/main" id="{2A34AC27-8F62-4C0B-92E9-F6C7E5771B69}"/>
              </a:ext>
            </a:extLst>
          </p:cNvPr>
          <p:cNvSpPr/>
          <p:nvPr/>
        </p:nvSpPr>
        <p:spPr>
          <a:xfrm>
            <a:off x="6350000" y="698500"/>
            <a:ext cx="5588000" cy="381000"/>
          </a:xfrm>
          <a:prstGeom prst="roundRect">
            <a:avLst/>
          </a:prstGeom>
          <a:solidFill>
            <a:srgbClr val="5FD06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400" b="1">
                <a:solidFill>
                  <a:srgbClr val="0F1117"/>
                </a:solidFill>
              </a:rPr>
              <a:t>✔  GOOD PROMPT</a:t>
            </a:r>
          </a:p>
        </p:txBody>
      </p:sp>
      <p:sp>
        <p:nvSpPr>
          <p:cNvPr id="24" name="Rectangle: Rounded Corners 23">
            <a:extLst>
              <a:ext uri="{FF2B5EF4-FFF2-40B4-BE49-F238E27FC236}">
                <a16:creationId xmlns:a16="http://schemas.microsoft.com/office/drawing/2014/main" id="{1FB33C90-838C-4F5B-92ED-58CADF6F68D5}"/>
              </a:ext>
            </a:extLst>
          </p:cNvPr>
          <p:cNvSpPr/>
          <p:nvPr/>
        </p:nvSpPr>
        <p:spPr>
          <a:xfrm>
            <a:off x="381000" y="1155700"/>
            <a:ext cx="5588000" cy="635000"/>
          </a:xfrm>
          <a:prstGeom prst="roundRect">
            <a:avLst/>
          </a:prstGeom>
          <a:solidFill>
            <a:srgbClr val="2A1A1A"/>
          </a:solidFill>
          <a:ln w="12700" cap="flat" cmpd="sng" algn="ctr">
            <a:solidFill>
              <a:srgbClr val="FF6B6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400">
                <a:solidFill>
                  <a:srgbClr val="FF6B6B"/>
                </a:solidFill>
                <a:latin typeface="Consolas"/>
              </a:rPr>
              <a:t>"Help me with stock data"</a:t>
            </a:r>
          </a:p>
        </p:txBody>
      </p:sp>
      <p:sp>
        <p:nvSpPr>
          <p:cNvPr id="25" name="Rectangle: Rounded Corners 24">
            <a:extLst>
              <a:ext uri="{FF2B5EF4-FFF2-40B4-BE49-F238E27FC236}">
                <a16:creationId xmlns:a16="http://schemas.microsoft.com/office/drawing/2014/main" id="{E79467A3-E1D0-4078-BB5F-AB4ECF0BB5E2}"/>
              </a:ext>
            </a:extLst>
          </p:cNvPr>
          <p:cNvSpPr/>
          <p:nvPr/>
        </p:nvSpPr>
        <p:spPr>
          <a:xfrm>
            <a:off x="6350000" y="1155700"/>
            <a:ext cx="5588000" cy="635000"/>
          </a:xfrm>
          <a:prstGeom prst="roundRect">
            <a:avLst/>
          </a:prstGeom>
          <a:solidFill>
            <a:srgbClr val="1A2A1A"/>
          </a:solidFill>
          <a:ln w="12700" cap="flat" cmpd="sng" algn="ctr">
            <a:solidFill>
              <a:srgbClr val="5FD06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00">
                <a:solidFill>
                  <a:srgbClr val="5FD068"/>
                </a:solidFill>
                <a:latin typeface="Consolas"/>
              </a:rPr>
              <a:t>"Write a Python script that downloads SPY
daily close prices for 2024 using yfinance,
calculates a 20-day SMA, and plots both"</a:t>
            </a:r>
          </a:p>
        </p:txBody>
      </p:sp>
      <p:sp>
        <p:nvSpPr>
          <p:cNvPr id="26" name="Arrow: Down 25">
            <a:extLst>
              <a:ext uri="{FF2B5EF4-FFF2-40B4-BE49-F238E27FC236}">
                <a16:creationId xmlns:a16="http://schemas.microsoft.com/office/drawing/2014/main" id="{2AB08AA3-958E-4DB7-BB08-605B00CF4282}"/>
              </a:ext>
            </a:extLst>
          </p:cNvPr>
          <p:cNvSpPr/>
          <p:nvPr/>
        </p:nvSpPr>
        <p:spPr>
          <a:xfrm>
            <a:off x="3048000" y="1866900"/>
            <a:ext cx="254000" cy="228600"/>
          </a:xfrm>
          <a:prstGeom prst="downArrow">
            <a:avLst/>
          </a:prstGeom>
          <a:solidFill>
            <a:srgbClr val="F0F0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Arrow: Down 26">
            <a:extLst>
              <a:ext uri="{FF2B5EF4-FFF2-40B4-BE49-F238E27FC236}">
                <a16:creationId xmlns:a16="http://schemas.microsoft.com/office/drawing/2014/main" id="{8056B30D-1C28-471B-B7F1-8D4A7F9BFF60}"/>
              </a:ext>
            </a:extLst>
          </p:cNvPr>
          <p:cNvSpPr/>
          <p:nvPr/>
        </p:nvSpPr>
        <p:spPr>
          <a:xfrm>
            <a:off x="9017000" y="1866900"/>
            <a:ext cx="254000" cy="228600"/>
          </a:xfrm>
          <a:prstGeom prst="downArrow">
            <a:avLst/>
          </a:prstGeom>
          <a:solidFill>
            <a:srgbClr val="F0F0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8" name="Rectangle: Rounded Corners 27">
            <a:extLst>
              <a:ext uri="{FF2B5EF4-FFF2-40B4-BE49-F238E27FC236}">
                <a16:creationId xmlns:a16="http://schemas.microsoft.com/office/drawing/2014/main" id="{E990427D-DCF1-4206-9E93-AF8F981BA476}"/>
              </a:ext>
            </a:extLst>
          </p:cNvPr>
          <p:cNvSpPr/>
          <p:nvPr/>
        </p:nvSpPr>
        <p:spPr>
          <a:xfrm>
            <a:off x="381000" y="2146300"/>
            <a:ext cx="5588000" cy="584200"/>
          </a:xfrm>
          <a:prstGeom prst="roundRect">
            <a:avLst/>
          </a:prstGeom>
          <a:solidFill>
            <a:srgbClr val="1A1D27"/>
          </a:solidFill>
          <a:ln w="12700" cap="flat" cmpd="sng" algn="ctr">
            <a:solidFill>
              <a:srgbClr val="FF6B6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00">
                <a:solidFill>
                  <a:srgbClr val="B0B8C4"/>
                </a:solidFill>
              </a:rPr>
              <a:t>Claude asks 5 follow-up questions.
You go back and forth for 10 minutes.
Vague output. More debugging needed.</a:t>
            </a:r>
          </a:p>
        </p:txBody>
      </p:sp>
      <p:sp>
        <p:nvSpPr>
          <p:cNvPr id="29" name="Rectangle: Rounded Corners 28">
            <a:extLst>
              <a:ext uri="{FF2B5EF4-FFF2-40B4-BE49-F238E27FC236}">
                <a16:creationId xmlns:a16="http://schemas.microsoft.com/office/drawing/2014/main" id="{06ABC520-82FD-4116-96F5-1460244D4CDD}"/>
              </a:ext>
            </a:extLst>
          </p:cNvPr>
          <p:cNvSpPr/>
          <p:nvPr/>
        </p:nvSpPr>
        <p:spPr>
          <a:xfrm>
            <a:off x="6350000" y="2146300"/>
            <a:ext cx="5588000" cy="584200"/>
          </a:xfrm>
          <a:prstGeom prst="roundRect">
            <a:avLst/>
          </a:prstGeom>
          <a:solidFill>
            <a:srgbClr val="1A1D27"/>
          </a:solidFill>
          <a:ln w="12700" cap="flat" cmpd="sng" algn="ctr">
            <a:solidFill>
              <a:srgbClr val="5FD06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00">
                <a:solidFill>
                  <a:srgbClr val="B0B8C4"/>
                </a:solidFill>
              </a:rPr>
              <a:t>Claude writes working code on first try.
You copy, paste, run.
Chart appears in 30 seconds.</a:t>
            </a:r>
          </a:p>
        </p:txBody>
      </p:sp>
      <p:sp>
        <p:nvSpPr>
          <p:cNvPr id="30" name="TextBox 29">
            <a:extLst>
              <a:ext uri="{FF2B5EF4-FFF2-40B4-BE49-F238E27FC236}">
                <a16:creationId xmlns:a16="http://schemas.microsoft.com/office/drawing/2014/main" id="{ED3BA6A6-C014-430B-B211-08145C4EA438}"/>
              </a:ext>
            </a:extLst>
          </p:cNvPr>
          <p:cNvSpPr txBox="1"/>
          <p:nvPr/>
        </p:nvSpPr>
        <p:spPr>
          <a:xfrm>
            <a:off x="381000" y="2857500"/>
            <a:ext cx="11557000" cy="279400"/>
          </a:xfrm>
          <a:prstGeom prst="rect">
            <a:avLst/>
          </a:prstGeom>
          <a:noFill/>
        </p:spPr>
        <p:txBody>
          <a:bodyPr vertOverflow="overflow" vert="horz" wrap="square" rtlCol="0" anchor="t">
            <a:spAutoFit/>
          </a:bodyPr>
          <a:lstStyle/>
          <a:p>
            <a:pPr algn="l"/>
            <a:r>
              <a:rPr lang="en-US" sz="1400" b="1">
                <a:solidFill>
                  <a:srgbClr val="F0F0F0"/>
                </a:solidFill>
              </a:rPr>
              <a:t>THE EFFECTIVE PROMPT FORMULA</a:t>
            </a:r>
          </a:p>
        </p:txBody>
      </p:sp>
      <p:sp>
        <p:nvSpPr>
          <p:cNvPr id="31" name="Rectangle: Rounded Corners 30">
            <a:extLst>
              <a:ext uri="{FF2B5EF4-FFF2-40B4-BE49-F238E27FC236}">
                <a16:creationId xmlns:a16="http://schemas.microsoft.com/office/drawing/2014/main" id="{476307E0-CE7E-45D4-90DC-4040D6768502}"/>
              </a:ext>
            </a:extLst>
          </p:cNvPr>
          <p:cNvSpPr/>
          <p:nvPr/>
        </p:nvSpPr>
        <p:spPr>
          <a:xfrm>
            <a:off x="508000" y="3213100"/>
            <a:ext cx="1841500" cy="762000"/>
          </a:xfrm>
          <a:prstGeom prst="roundRect">
            <a:avLst/>
          </a:prstGeom>
          <a:solidFill>
            <a:srgbClr val="6C5CE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000" b="1">
                <a:solidFill>
                  <a:srgbClr val="FFFFFF"/>
                </a:solidFill>
              </a:rPr>
              <a:t>CONTEXT
What language,
what library</a:t>
            </a:r>
          </a:p>
        </p:txBody>
      </p:sp>
      <p:sp>
        <p:nvSpPr>
          <p:cNvPr id="32" name="TextBox 31">
            <a:extLst>
              <a:ext uri="{FF2B5EF4-FFF2-40B4-BE49-F238E27FC236}">
                <a16:creationId xmlns:a16="http://schemas.microsoft.com/office/drawing/2014/main" id="{9391A6CA-D1A2-4779-A46B-220BBE1B581B}"/>
              </a:ext>
            </a:extLst>
          </p:cNvPr>
          <p:cNvSpPr txBox="1"/>
          <p:nvPr/>
        </p:nvSpPr>
        <p:spPr>
          <a:xfrm>
            <a:off x="2349500" y="3213100"/>
            <a:ext cx="355600" cy="762000"/>
          </a:xfrm>
          <a:prstGeom prst="rect">
            <a:avLst/>
          </a:prstGeom>
          <a:noFill/>
        </p:spPr>
        <p:txBody>
          <a:bodyPr vertOverflow="overflow" vert="horz" wrap="square" rtlCol="0" anchor="ctr" anchorCtr="0">
            <a:spAutoFit/>
          </a:bodyPr>
          <a:lstStyle/>
          <a:p>
            <a:pPr algn="l"/>
            <a:r>
              <a:rPr lang="en-US" sz="2200" b="1">
                <a:solidFill>
                  <a:srgbClr val="F0F0F0"/>
                </a:solidFill>
              </a:rPr>
              <a:t>+</a:t>
            </a:r>
          </a:p>
        </p:txBody>
      </p:sp>
      <p:sp>
        <p:nvSpPr>
          <p:cNvPr id="33" name="Rectangle: Rounded Corners 32">
            <a:extLst>
              <a:ext uri="{FF2B5EF4-FFF2-40B4-BE49-F238E27FC236}">
                <a16:creationId xmlns:a16="http://schemas.microsoft.com/office/drawing/2014/main" id="{F9558BB7-3D34-4EB0-85FE-E353DE1A2D23}"/>
              </a:ext>
            </a:extLst>
          </p:cNvPr>
          <p:cNvSpPr/>
          <p:nvPr/>
        </p:nvSpPr>
        <p:spPr>
          <a:xfrm>
            <a:off x="2705100" y="3213100"/>
            <a:ext cx="1841500" cy="762000"/>
          </a:xfrm>
          <a:prstGeom prst="roundRect">
            <a:avLst/>
          </a:prstGeom>
          <a:solidFill>
            <a:srgbClr val="54A0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000" b="1">
                <a:solidFill>
                  <a:srgbClr val="FFFFFF"/>
                </a:solidFill>
              </a:rPr>
              <a:t>TASK
What exactly
to build</a:t>
            </a:r>
          </a:p>
        </p:txBody>
      </p:sp>
      <p:sp>
        <p:nvSpPr>
          <p:cNvPr id="34" name="TextBox 33">
            <a:extLst>
              <a:ext uri="{FF2B5EF4-FFF2-40B4-BE49-F238E27FC236}">
                <a16:creationId xmlns:a16="http://schemas.microsoft.com/office/drawing/2014/main" id="{723393C7-4A21-4630-97D7-1A4AC2C577C1}"/>
              </a:ext>
            </a:extLst>
          </p:cNvPr>
          <p:cNvSpPr txBox="1"/>
          <p:nvPr/>
        </p:nvSpPr>
        <p:spPr>
          <a:xfrm>
            <a:off x="4546600" y="3213100"/>
            <a:ext cx="355600" cy="762000"/>
          </a:xfrm>
          <a:prstGeom prst="rect">
            <a:avLst/>
          </a:prstGeom>
          <a:noFill/>
        </p:spPr>
        <p:txBody>
          <a:bodyPr vertOverflow="overflow" vert="horz" wrap="square" rtlCol="0" anchor="ctr" anchorCtr="0">
            <a:spAutoFit/>
          </a:bodyPr>
          <a:lstStyle/>
          <a:p>
            <a:pPr algn="l"/>
            <a:r>
              <a:rPr lang="en-US" sz="2200" b="1">
                <a:solidFill>
                  <a:srgbClr val="F0F0F0"/>
                </a:solidFill>
              </a:rPr>
              <a:t>+</a:t>
            </a:r>
          </a:p>
        </p:txBody>
      </p:sp>
      <p:sp>
        <p:nvSpPr>
          <p:cNvPr id="35" name="Rectangle: Rounded Corners 34">
            <a:extLst>
              <a:ext uri="{FF2B5EF4-FFF2-40B4-BE49-F238E27FC236}">
                <a16:creationId xmlns:a16="http://schemas.microsoft.com/office/drawing/2014/main" id="{A25F4D8C-016C-40B2-8032-5B4258BAB5D9}"/>
              </a:ext>
            </a:extLst>
          </p:cNvPr>
          <p:cNvSpPr/>
          <p:nvPr/>
        </p:nvSpPr>
        <p:spPr>
          <a:xfrm>
            <a:off x="4902200" y="3213100"/>
            <a:ext cx="1841500" cy="762000"/>
          </a:xfrm>
          <a:prstGeom prst="roundRect">
            <a:avLst/>
          </a:prstGeom>
          <a:solidFill>
            <a:srgbClr val="00D2D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000" b="1">
                <a:solidFill>
                  <a:srgbClr val="0F1117"/>
                </a:solidFill>
              </a:rPr>
              <a:t>DATA
Input format,
source, dates</a:t>
            </a:r>
          </a:p>
        </p:txBody>
      </p:sp>
      <p:sp>
        <p:nvSpPr>
          <p:cNvPr id="36" name="TextBox 35">
            <a:extLst>
              <a:ext uri="{FF2B5EF4-FFF2-40B4-BE49-F238E27FC236}">
                <a16:creationId xmlns:a16="http://schemas.microsoft.com/office/drawing/2014/main" id="{DDEF22F3-F665-40BE-A22A-EE01C8E55012}"/>
              </a:ext>
            </a:extLst>
          </p:cNvPr>
          <p:cNvSpPr txBox="1"/>
          <p:nvPr/>
        </p:nvSpPr>
        <p:spPr>
          <a:xfrm>
            <a:off x="6743700" y="3213100"/>
            <a:ext cx="355600" cy="762000"/>
          </a:xfrm>
          <a:prstGeom prst="rect">
            <a:avLst/>
          </a:prstGeom>
          <a:noFill/>
        </p:spPr>
        <p:txBody>
          <a:bodyPr vertOverflow="overflow" vert="horz" wrap="square" rtlCol="0" anchor="ctr" anchorCtr="0">
            <a:spAutoFit/>
          </a:bodyPr>
          <a:lstStyle/>
          <a:p>
            <a:pPr algn="l"/>
            <a:r>
              <a:rPr lang="en-US" sz="2200" b="1">
                <a:solidFill>
                  <a:srgbClr val="F0F0F0"/>
                </a:solidFill>
              </a:rPr>
              <a:t>+</a:t>
            </a:r>
          </a:p>
        </p:txBody>
      </p:sp>
      <p:sp>
        <p:nvSpPr>
          <p:cNvPr id="37" name="Rectangle: Rounded Corners 36">
            <a:extLst>
              <a:ext uri="{FF2B5EF4-FFF2-40B4-BE49-F238E27FC236}">
                <a16:creationId xmlns:a16="http://schemas.microsoft.com/office/drawing/2014/main" id="{268691AC-191D-4E19-91E0-AA307FF1ACF8}"/>
              </a:ext>
            </a:extLst>
          </p:cNvPr>
          <p:cNvSpPr/>
          <p:nvPr/>
        </p:nvSpPr>
        <p:spPr>
          <a:xfrm>
            <a:off x="7099300" y="3213100"/>
            <a:ext cx="1841500" cy="762000"/>
          </a:xfrm>
          <a:prstGeom prst="roundRect">
            <a:avLst/>
          </a:prstGeom>
          <a:solidFill>
            <a:srgbClr val="FF9F4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000" b="1">
                <a:solidFill>
                  <a:srgbClr val="0F1117"/>
                </a:solidFill>
              </a:rPr>
              <a:t>OUTPUT
What result
should look like</a:t>
            </a:r>
          </a:p>
        </p:txBody>
      </p:sp>
      <p:sp>
        <p:nvSpPr>
          <p:cNvPr id="38" name="TextBox 37">
            <a:extLst>
              <a:ext uri="{FF2B5EF4-FFF2-40B4-BE49-F238E27FC236}">
                <a16:creationId xmlns:a16="http://schemas.microsoft.com/office/drawing/2014/main" id="{E6CE4F1F-14C8-446A-92D1-EC5893D76EED}"/>
              </a:ext>
            </a:extLst>
          </p:cNvPr>
          <p:cNvSpPr txBox="1"/>
          <p:nvPr/>
        </p:nvSpPr>
        <p:spPr>
          <a:xfrm>
            <a:off x="8940800" y="3213100"/>
            <a:ext cx="355600" cy="762000"/>
          </a:xfrm>
          <a:prstGeom prst="rect">
            <a:avLst/>
          </a:prstGeom>
          <a:noFill/>
        </p:spPr>
        <p:txBody>
          <a:bodyPr vertOverflow="overflow" vert="horz" wrap="square" rtlCol="0" anchor="ctr" anchorCtr="0">
            <a:spAutoFit/>
          </a:bodyPr>
          <a:lstStyle/>
          <a:p>
            <a:pPr algn="l"/>
            <a:r>
              <a:rPr lang="en-US" sz="2200" b="1">
                <a:solidFill>
                  <a:srgbClr val="F0F0F0"/>
                </a:solidFill>
              </a:rPr>
              <a:t>=</a:t>
            </a:r>
          </a:p>
        </p:txBody>
      </p:sp>
      <p:sp>
        <p:nvSpPr>
          <p:cNvPr id="39" name="Rectangle: Rounded Corners 38">
            <a:extLst>
              <a:ext uri="{FF2B5EF4-FFF2-40B4-BE49-F238E27FC236}">
                <a16:creationId xmlns:a16="http://schemas.microsoft.com/office/drawing/2014/main" id="{73578480-5AF7-49A5-9893-9302EF4B6D6E}"/>
              </a:ext>
            </a:extLst>
          </p:cNvPr>
          <p:cNvSpPr/>
          <p:nvPr/>
        </p:nvSpPr>
        <p:spPr>
          <a:xfrm>
            <a:off x="9296400" y="3213100"/>
            <a:ext cx="1397000" cy="762000"/>
          </a:xfrm>
          <a:prstGeom prst="roundRect">
            <a:avLst/>
          </a:prstGeom>
          <a:solidFill>
            <a:srgbClr val="5FD06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000" b="1">
                <a:solidFill>
                  <a:srgbClr val="0F1117"/>
                </a:solidFill>
              </a:rPr>
              <a:t>WORKING
CODE</a:t>
            </a:r>
          </a:p>
        </p:txBody>
      </p:sp>
      <p:sp>
        <p:nvSpPr>
          <p:cNvPr id="40" name="TextBox 39">
            <a:extLst>
              <a:ext uri="{FF2B5EF4-FFF2-40B4-BE49-F238E27FC236}">
                <a16:creationId xmlns:a16="http://schemas.microsoft.com/office/drawing/2014/main" id="{DAAB5414-7306-4B5C-AF49-335C5D57A500}"/>
              </a:ext>
            </a:extLst>
          </p:cNvPr>
          <p:cNvSpPr txBox="1"/>
          <p:nvPr/>
        </p:nvSpPr>
        <p:spPr>
          <a:xfrm>
            <a:off x="381000" y="4076700"/>
            <a:ext cx="11557000" cy="609600"/>
          </a:xfrm>
          <a:prstGeom prst="rect">
            <a:avLst/>
          </a:prstGeom>
          <a:noFill/>
        </p:spPr>
        <p:txBody>
          <a:bodyPr vertOverflow="overflow" vert="horz" wrap="square" rtlCol="0" anchor="t">
            <a:spAutoFit/>
          </a:bodyPr>
          <a:lstStyle/>
          <a:p>
            <a:pPr algn="l"/>
            <a:r>
              <a:rPr lang="en-US" sz="1200">
                <a:solidFill>
                  <a:srgbClr val="B0B8C4"/>
                </a:solidFill>
              </a:rPr>
              <a:t>The difference between a 30-second solution and a 30-minute debugging session is your prompt. Include the programming language, the specific library, what the input data looks like, and what the output should be. The more precise your instructions, the more accurate Claude's first response will be.</a:t>
            </a:r>
          </a:p>
        </p:txBody>
      </p:sp>
    </p:spTree>
    <p:extLst>
      <p:ext uri="{BB962C8B-B14F-4D97-AF65-F5344CB8AC3E}">
        <p14:creationId xmlns:p14="http://schemas.microsoft.com/office/powerpoint/2010/main" val="16087949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171AE-CD29-9546-3681-0A07B2B4A7FC}"/>
              </a:ext>
            </a:extLst>
          </p:cNvPr>
          <p:cNvSpPr>
            <a:spLocks noGrp="1"/>
          </p:cNvSpPr>
          <p:nvPr>
            <p:ph type="title"/>
          </p:nvPr>
        </p:nvSpPr>
        <p:spPr/>
        <p:txBody>
          <a:bodyPr>
            <a:normAutofit/>
          </a:bodyPr>
          <a:lstStyle/>
          <a:p>
            <a:r>
              <a:rPr lang="en-US" sz="4000" b="1"/>
              <a:t>Jupyter Notebooks</a:t>
            </a:r>
          </a:p>
        </p:txBody>
      </p:sp>
      <p:sp>
        <p:nvSpPr>
          <p:cNvPr id="3" name="Text Placeholder 2">
            <a:extLst>
              <a:ext uri="{FF2B5EF4-FFF2-40B4-BE49-F238E27FC236}">
                <a16:creationId xmlns:a16="http://schemas.microsoft.com/office/drawing/2014/main" id="{3C45A1D0-8D3D-9E61-C7BA-90EDA6AF742E}"/>
              </a:ext>
            </a:extLst>
          </p:cNvPr>
          <p:cNvSpPr>
            <a:spLocks noGrp="1"/>
          </p:cNvSpPr>
          <p:nvPr>
            <p:ph type="body" idx="1"/>
          </p:nvPr>
        </p:nvSpPr>
        <p:spPr/>
        <p:txBody>
          <a:bodyPr>
            <a:normAutofit/>
          </a:bodyPr>
          <a:lstStyle/>
          <a:p>
            <a:r>
              <a:rPr lang="en-US" sz="1600"/>
              <a:t>Section 07  —  Interactive Python environments for data analysis and backtesting</a:t>
            </a:r>
          </a:p>
        </p:txBody>
      </p:sp>
      <p:pic>
        <p:nvPicPr>
          <p:cNvPr id="4" name="Graphic 4" descr="Notebook icon for Jupyte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14000" y="1968500"/>
            <a:ext cx="762000" cy="762000"/>
          </a:xfrm>
          <a:prstGeom prst="rect">
            <a:avLst/>
          </a:prstGeom>
        </p:spPr>
      </p:pic>
    </p:spTree>
    <p:extLst>
      <p:ext uri="{BB962C8B-B14F-4D97-AF65-F5344CB8AC3E}">
        <p14:creationId xmlns:p14="http://schemas.microsoft.com/office/powerpoint/2010/main" val="33922202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DA451656-C1A8-49F0-B79E-2139956512EC}"/>
              </a:ext>
            </a:extLst>
          </p:cNvPr>
          <p:cNvSpPr txBox="1"/>
          <p:nvPr/>
        </p:nvSpPr>
        <p:spPr>
          <a:xfrm>
            <a:off x="381000" y="127000"/>
            <a:ext cx="11430000" cy="508000"/>
          </a:xfrm>
          <a:prstGeom prst="rect">
            <a:avLst/>
          </a:prstGeom>
          <a:noFill/>
        </p:spPr>
        <p:txBody>
          <a:bodyPr vertOverflow="overflow" vert="horz" wrap="square" rtlCol="0" anchor="t">
            <a:spAutoFit/>
          </a:bodyPr>
          <a:lstStyle/>
          <a:p>
            <a:pPr algn="l"/>
            <a:r>
              <a:rPr lang="en-US" sz="2400" b="1">
                <a:solidFill>
                  <a:srgbClr val="F0F0F0"/>
                </a:solidFill>
              </a:rPr>
              <a:t>Jupyter Notebooks: Interactive Code Cells</a:t>
            </a:r>
          </a:p>
        </p:txBody>
      </p:sp>
      <p:sp>
        <p:nvSpPr>
          <p:cNvPr id="11" name="Rectangle 10">
            <a:extLst>
              <a:ext uri="{FF2B5EF4-FFF2-40B4-BE49-F238E27FC236}">
                <a16:creationId xmlns:a16="http://schemas.microsoft.com/office/drawing/2014/main" id="{20514602-9534-4DA2-91DD-55E17E94F6C3}"/>
              </a:ext>
            </a:extLst>
          </p:cNvPr>
          <p:cNvSpPr/>
          <p:nvPr/>
        </p:nvSpPr>
        <p:spPr>
          <a:xfrm>
            <a:off x="381000" y="698500"/>
            <a:ext cx="6731000" cy="317500"/>
          </a:xfrm>
          <a:prstGeom prst="rect">
            <a:avLst/>
          </a:prstGeom>
          <a:solidFill>
            <a:srgbClr val="F8F8F8"/>
          </a:solidFill>
          <a:ln w="12700" cap="flat" cmpd="sng" algn="ctr">
            <a:solidFill>
              <a:srgbClr val="DDDDD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900">
                <a:solidFill>
                  <a:srgbClr val="333333"/>
                </a:solidFill>
                <a:latin typeface="Consolas"/>
              </a:rPr>
              <a:t>  strategy_analysis.ipynb</a:t>
            </a:r>
          </a:p>
        </p:txBody>
      </p:sp>
      <p:sp>
        <p:nvSpPr>
          <p:cNvPr id="12" name="Rectangle 11">
            <a:extLst>
              <a:ext uri="{FF2B5EF4-FFF2-40B4-BE49-F238E27FC236}">
                <a16:creationId xmlns:a16="http://schemas.microsoft.com/office/drawing/2014/main" id="{BABFDD5B-E480-4171-A526-CFB7F4E3321E}"/>
              </a:ext>
            </a:extLst>
          </p:cNvPr>
          <p:cNvSpPr/>
          <p:nvPr/>
        </p:nvSpPr>
        <p:spPr>
          <a:xfrm>
            <a:off x="381000" y="1041400"/>
            <a:ext cx="482600" cy="698500"/>
          </a:xfrm>
          <a:prstGeom prst="rect">
            <a:avLst/>
          </a:prstGeom>
          <a:solidFill>
            <a:srgbClr val="42A5F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00">
                <a:solidFill>
                  <a:srgbClr val="FFFFFF"/>
                </a:solidFill>
                <a:latin typeface="Consolas"/>
              </a:rPr>
              <a:t>[1]</a:t>
            </a:r>
          </a:p>
        </p:txBody>
      </p:sp>
      <p:sp>
        <p:nvSpPr>
          <p:cNvPr id="13" name="Rectangle 12">
            <a:extLst>
              <a:ext uri="{FF2B5EF4-FFF2-40B4-BE49-F238E27FC236}">
                <a16:creationId xmlns:a16="http://schemas.microsoft.com/office/drawing/2014/main" id="{2A6BE878-536B-4285-90E3-1CD88BBDB467}"/>
              </a:ext>
            </a:extLst>
          </p:cNvPr>
          <p:cNvSpPr/>
          <p:nvPr/>
        </p:nvSpPr>
        <p:spPr>
          <a:xfrm>
            <a:off x="863600" y="1041400"/>
            <a:ext cx="6248400" cy="698500"/>
          </a:xfrm>
          <a:prstGeom prst="rect">
            <a:avLst/>
          </a:prstGeom>
          <a:solidFill>
            <a:srgbClr val="FAFAFA"/>
          </a:solidFill>
          <a:ln w="12700" cap="flat" cmpd="sng" algn="ctr">
            <a:solidFill>
              <a:srgbClr val="42A5F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oAutofit/>
          </a:bodyPr>
          <a:lstStyle/>
          <a:p>
            <a:pPr algn="l"/>
            <a:r>
              <a:rPr lang="en-US" sz="900">
                <a:solidFill>
                  <a:srgbClr val="1E1E1E"/>
                </a:solidFill>
                <a:latin typeface="Consolas"/>
              </a:rPr>
              <a:t>import pandas as pd
import yfinance as yf
spy = yf.download('SPY', start='2024-01-01')</a:t>
            </a:r>
          </a:p>
        </p:txBody>
      </p:sp>
      <p:sp>
        <p:nvSpPr>
          <p:cNvPr id="14" name="Rectangle 13">
            <a:extLst>
              <a:ext uri="{FF2B5EF4-FFF2-40B4-BE49-F238E27FC236}">
                <a16:creationId xmlns:a16="http://schemas.microsoft.com/office/drawing/2014/main" id="{A93257BF-F345-44F9-897D-98ACCB9DDD2E}"/>
              </a:ext>
            </a:extLst>
          </p:cNvPr>
          <p:cNvSpPr/>
          <p:nvPr/>
        </p:nvSpPr>
        <p:spPr>
          <a:xfrm>
            <a:off x="381000" y="1790700"/>
            <a:ext cx="482600" cy="381000"/>
          </a:xfrm>
          <a:prstGeom prst="rect">
            <a:avLst/>
          </a:prstGeom>
          <a:solidFill>
            <a:srgbClr val="66BB6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00">
                <a:solidFill>
                  <a:srgbClr val="FFFFFF"/>
                </a:solidFill>
                <a:latin typeface="Consolas"/>
              </a:rPr>
              <a:t>MD</a:t>
            </a:r>
          </a:p>
        </p:txBody>
      </p:sp>
      <p:sp>
        <p:nvSpPr>
          <p:cNvPr id="15" name="Rectangle 14">
            <a:extLst>
              <a:ext uri="{FF2B5EF4-FFF2-40B4-BE49-F238E27FC236}">
                <a16:creationId xmlns:a16="http://schemas.microsoft.com/office/drawing/2014/main" id="{91A0A3E3-43CF-4236-B437-29A2889EB1A0}"/>
              </a:ext>
            </a:extLst>
          </p:cNvPr>
          <p:cNvSpPr/>
          <p:nvPr/>
        </p:nvSpPr>
        <p:spPr>
          <a:xfrm>
            <a:off x="863600" y="1790700"/>
            <a:ext cx="6248400" cy="381000"/>
          </a:xfrm>
          <a:prstGeom prst="rect">
            <a:avLst/>
          </a:prstGeom>
          <a:solidFill>
            <a:srgbClr val="F0FFF0"/>
          </a:solidFill>
          <a:ln w="12700" cap="flat" cmpd="sng" algn="ctr">
            <a:solidFill>
              <a:srgbClr val="66BB6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100" b="1">
                <a:solidFill>
                  <a:srgbClr val="1E1E1E"/>
                </a:solidFill>
              </a:rPr>
              <a:t>## Calculate Returns</a:t>
            </a:r>
          </a:p>
        </p:txBody>
      </p:sp>
      <p:sp>
        <p:nvSpPr>
          <p:cNvPr id="16" name="Rectangle 15">
            <a:extLst>
              <a:ext uri="{FF2B5EF4-FFF2-40B4-BE49-F238E27FC236}">
                <a16:creationId xmlns:a16="http://schemas.microsoft.com/office/drawing/2014/main" id="{E0658B2D-0829-4FAA-BF4C-6CE22777B1D2}"/>
              </a:ext>
            </a:extLst>
          </p:cNvPr>
          <p:cNvSpPr/>
          <p:nvPr/>
        </p:nvSpPr>
        <p:spPr>
          <a:xfrm>
            <a:off x="381000" y="2222500"/>
            <a:ext cx="482600" cy="533400"/>
          </a:xfrm>
          <a:prstGeom prst="rect">
            <a:avLst/>
          </a:prstGeom>
          <a:solidFill>
            <a:srgbClr val="42A5F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00">
                <a:solidFill>
                  <a:srgbClr val="FFFFFF"/>
                </a:solidFill>
                <a:latin typeface="Consolas"/>
              </a:rPr>
              <a:t>[2]</a:t>
            </a:r>
          </a:p>
        </p:txBody>
      </p:sp>
      <p:sp>
        <p:nvSpPr>
          <p:cNvPr id="17" name="Rectangle 16">
            <a:extLst>
              <a:ext uri="{FF2B5EF4-FFF2-40B4-BE49-F238E27FC236}">
                <a16:creationId xmlns:a16="http://schemas.microsoft.com/office/drawing/2014/main" id="{243AB3AA-5621-4445-9FB9-2C6E69E290E7}"/>
              </a:ext>
            </a:extLst>
          </p:cNvPr>
          <p:cNvSpPr/>
          <p:nvPr/>
        </p:nvSpPr>
        <p:spPr>
          <a:xfrm>
            <a:off x="863600" y="2222500"/>
            <a:ext cx="6248400" cy="533400"/>
          </a:xfrm>
          <a:prstGeom prst="rect">
            <a:avLst/>
          </a:prstGeom>
          <a:solidFill>
            <a:srgbClr val="FAFAFA"/>
          </a:solidFill>
          <a:ln w="12700" cap="flat" cmpd="sng" algn="ctr">
            <a:solidFill>
              <a:srgbClr val="42A5F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oAutofit/>
          </a:bodyPr>
          <a:lstStyle/>
          <a:p>
            <a:pPr algn="l"/>
            <a:r>
              <a:rPr lang="en-US" sz="900">
                <a:solidFill>
                  <a:srgbClr val="1E1E1E"/>
                </a:solidFill>
                <a:latin typeface="Consolas"/>
              </a:rPr>
              <a:t>returns = spy['Close'].pct_change()
print(returns.describe())</a:t>
            </a:r>
          </a:p>
        </p:txBody>
      </p:sp>
      <p:sp>
        <p:nvSpPr>
          <p:cNvPr id="18" name="Rectangle 17">
            <a:extLst>
              <a:ext uri="{FF2B5EF4-FFF2-40B4-BE49-F238E27FC236}">
                <a16:creationId xmlns:a16="http://schemas.microsoft.com/office/drawing/2014/main" id="{7EF793F4-8F63-4846-8D13-F5693E4358C9}"/>
              </a:ext>
            </a:extLst>
          </p:cNvPr>
          <p:cNvSpPr/>
          <p:nvPr/>
        </p:nvSpPr>
        <p:spPr>
          <a:xfrm>
            <a:off x="863600" y="2755900"/>
            <a:ext cx="6248400" cy="482600"/>
          </a:xfrm>
          <a:prstGeom prst="rect">
            <a:avLst/>
          </a:prstGeom>
          <a:solidFill>
            <a:srgbClr val="FFFDE7"/>
          </a:solidFill>
          <a:ln w="12700" cap="flat" cmpd="sng" algn="ctr">
            <a:solidFill>
              <a:srgbClr val="FFA72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oAutofit/>
          </a:bodyPr>
          <a:lstStyle/>
          <a:p>
            <a:pPr algn="l"/>
            <a:r>
              <a:rPr lang="en-US" sz="900">
                <a:solidFill>
                  <a:srgbClr val="333333"/>
                </a:solidFill>
                <a:latin typeface="Consolas"/>
              </a:rPr>
              <a:t>count  247.00
mean     0.0008
std      0.0095</a:t>
            </a:r>
          </a:p>
        </p:txBody>
      </p:sp>
      <p:sp>
        <p:nvSpPr>
          <p:cNvPr id="19" name="TextBox 18">
            <a:extLst>
              <a:ext uri="{FF2B5EF4-FFF2-40B4-BE49-F238E27FC236}">
                <a16:creationId xmlns:a16="http://schemas.microsoft.com/office/drawing/2014/main" id="{E9719C6F-D539-4CDC-899C-58FB5ED3F121}"/>
              </a:ext>
            </a:extLst>
          </p:cNvPr>
          <p:cNvSpPr txBox="1"/>
          <p:nvPr/>
        </p:nvSpPr>
        <p:spPr>
          <a:xfrm>
            <a:off x="7302500" y="1041400"/>
            <a:ext cx="2032000" cy="457200"/>
          </a:xfrm>
          <a:prstGeom prst="rect">
            <a:avLst/>
          </a:prstGeom>
          <a:noFill/>
        </p:spPr>
        <p:txBody>
          <a:bodyPr vertOverflow="overflow" vert="horz" wrap="square" rtlCol="0" anchor="t">
            <a:spAutoFit/>
          </a:bodyPr>
          <a:lstStyle/>
          <a:p>
            <a:pPr algn="l"/>
            <a:r>
              <a:rPr lang="en-US" sz="1000" b="1">
                <a:solidFill>
                  <a:srgbClr val="42A5F5"/>
                </a:solidFill>
              </a:rPr>
              <a:t>CODE CELL
Run Python code</a:t>
            </a:r>
          </a:p>
        </p:txBody>
      </p:sp>
      <p:sp>
        <p:nvSpPr>
          <p:cNvPr id="20" name="TextBox 19">
            <a:extLst>
              <a:ext uri="{FF2B5EF4-FFF2-40B4-BE49-F238E27FC236}">
                <a16:creationId xmlns:a16="http://schemas.microsoft.com/office/drawing/2014/main" id="{CA22E71D-53A9-43B3-A4A5-344B3817BB4C}"/>
              </a:ext>
            </a:extLst>
          </p:cNvPr>
          <p:cNvSpPr txBox="1"/>
          <p:nvPr/>
        </p:nvSpPr>
        <p:spPr>
          <a:xfrm>
            <a:off x="7302500" y="1790700"/>
            <a:ext cx="2032000" cy="457200"/>
          </a:xfrm>
          <a:prstGeom prst="rect">
            <a:avLst/>
          </a:prstGeom>
          <a:noFill/>
        </p:spPr>
        <p:txBody>
          <a:bodyPr vertOverflow="overflow" vert="horz" wrap="square" rtlCol="0" anchor="t">
            <a:spAutoFit/>
          </a:bodyPr>
          <a:lstStyle/>
          <a:p>
            <a:pPr algn="l"/>
            <a:r>
              <a:rPr lang="en-US" sz="1000" b="1">
                <a:solidFill>
                  <a:srgbClr val="66BB6A"/>
                </a:solidFill>
              </a:rPr>
              <a:t>MARKDOWN CELL
Add notes/headers</a:t>
            </a:r>
          </a:p>
        </p:txBody>
      </p:sp>
      <p:sp>
        <p:nvSpPr>
          <p:cNvPr id="21" name="TextBox 20">
            <a:extLst>
              <a:ext uri="{FF2B5EF4-FFF2-40B4-BE49-F238E27FC236}">
                <a16:creationId xmlns:a16="http://schemas.microsoft.com/office/drawing/2014/main" id="{B4227408-0A72-4716-9858-744DC0DF9444}"/>
              </a:ext>
            </a:extLst>
          </p:cNvPr>
          <p:cNvSpPr txBox="1"/>
          <p:nvPr/>
        </p:nvSpPr>
        <p:spPr>
          <a:xfrm>
            <a:off x="7302500" y="2667000"/>
            <a:ext cx="2032000" cy="457200"/>
          </a:xfrm>
          <a:prstGeom prst="rect">
            <a:avLst/>
          </a:prstGeom>
          <a:noFill/>
        </p:spPr>
        <p:txBody>
          <a:bodyPr vertOverflow="overflow" vert="horz" wrap="square" rtlCol="0" anchor="t">
            <a:spAutoFit/>
          </a:bodyPr>
          <a:lstStyle/>
          <a:p>
            <a:pPr algn="l"/>
            <a:r>
              <a:rPr lang="en-US" sz="1000" b="1">
                <a:solidFill>
                  <a:srgbClr val="FFA726"/>
                </a:solidFill>
              </a:rPr>
              <a:t>OUTPUT
Results appear below</a:t>
            </a:r>
          </a:p>
        </p:txBody>
      </p:sp>
      <p:sp>
        <p:nvSpPr>
          <p:cNvPr id="22" name="TextBox 21">
            <a:extLst>
              <a:ext uri="{FF2B5EF4-FFF2-40B4-BE49-F238E27FC236}">
                <a16:creationId xmlns:a16="http://schemas.microsoft.com/office/drawing/2014/main" id="{3A7B3885-6ED4-44D6-9057-C7F4B6A7690A}"/>
              </a:ext>
            </a:extLst>
          </p:cNvPr>
          <p:cNvSpPr txBox="1"/>
          <p:nvPr/>
        </p:nvSpPr>
        <p:spPr>
          <a:xfrm>
            <a:off x="381000" y="3302000"/>
            <a:ext cx="6731000" cy="2286000"/>
          </a:xfrm>
          <a:prstGeom prst="rect">
            <a:avLst/>
          </a:prstGeom>
          <a:noFill/>
        </p:spPr>
        <p:txBody>
          <a:bodyPr vertOverflow="overflow" vert="horz" wrap="square" rtlCol="0" anchor="t">
            <a:spAutoFit/>
          </a:bodyPr>
          <a:lstStyle/>
          <a:p>
            <a:pPr algn="l"/>
            <a:r>
              <a:rPr lang="en-US" sz="1200">
                <a:solidFill>
                  <a:srgbClr val="D0D4DC"/>
                </a:solidFill>
              </a:rPr>
              <a:t>Jupyter notebooks let you write and run Python code in small blocks called cells. Each cell runs independently, and the output appears directly below it. This is how quant analysts explore data — you can test one line at a time, see results immediately, and add markdown notes to document your thinking.
Key advantages for quant work:
• Iterate on a strategy step by step — no need to re-run the entire script each time
• Mix code, charts, and explanations in one document that reads like a research report
• Share your notebook as a .ipynb file — peers can see your code AND your reasoning
• Use in VSCode with the Jupyter extension (no separate installation needed)</a:t>
            </a:r>
          </a:p>
        </p:txBody>
      </p:sp>
      <p:sp>
        <p:nvSpPr>
          <p:cNvPr id="23" name="Rectangle: Rounded Corners 22">
            <a:extLst>
              <a:ext uri="{FF2B5EF4-FFF2-40B4-BE49-F238E27FC236}">
                <a16:creationId xmlns:a16="http://schemas.microsoft.com/office/drawing/2014/main" id="{64CAAB60-604F-4A4C-BD05-B0FFEF7C8926}"/>
              </a:ext>
            </a:extLst>
          </p:cNvPr>
          <p:cNvSpPr/>
          <p:nvPr/>
        </p:nvSpPr>
        <p:spPr>
          <a:xfrm>
            <a:off x="7366000" y="3302000"/>
            <a:ext cx="4572000" cy="2286000"/>
          </a:xfrm>
          <a:prstGeom prst="roundRect">
            <a:avLst/>
          </a:prstGeom>
          <a:solidFill>
            <a:srgbClr val="1A1D27"/>
          </a:solidFill>
          <a:ln w="38100" cap="flat" cmpd="sng" algn="ctr">
            <a:solidFill>
              <a:srgbClr val="FF9F4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400" b="1">
                <a:solidFill>
                  <a:srgbClr val="FF9F43"/>
                </a:solidFill>
              </a:rPr>
              <a:t>SCREENSHOT:
Jupyter notebook in VSCode with cells and output</a:t>
            </a:r>
          </a:p>
        </p:txBody>
      </p:sp>
    </p:spTree>
    <p:extLst>
      <p:ext uri="{BB962C8B-B14F-4D97-AF65-F5344CB8AC3E}">
        <p14:creationId xmlns:p14="http://schemas.microsoft.com/office/powerpoint/2010/main" val="23257205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4D82A-FBE1-9997-CC86-C292185EC76F}"/>
              </a:ext>
            </a:extLst>
          </p:cNvPr>
          <p:cNvSpPr>
            <a:spLocks noGrp="1"/>
          </p:cNvSpPr>
          <p:nvPr>
            <p:ph type="title"/>
          </p:nvPr>
        </p:nvSpPr>
        <p:spPr/>
        <p:txBody>
          <a:bodyPr>
            <a:normAutofit/>
          </a:bodyPr>
          <a:lstStyle/>
          <a:p>
            <a:r>
              <a:rPr lang="en-US" sz="4000" b="1" dirty="0"/>
              <a:t>The Quant Python Stack</a:t>
            </a:r>
          </a:p>
        </p:txBody>
      </p:sp>
      <p:sp>
        <p:nvSpPr>
          <p:cNvPr id="3" name="Text Placeholder 2">
            <a:extLst>
              <a:ext uri="{FF2B5EF4-FFF2-40B4-BE49-F238E27FC236}">
                <a16:creationId xmlns:a16="http://schemas.microsoft.com/office/drawing/2014/main" id="{BDABB325-B866-3D2A-5FB1-59AD5857C245}"/>
              </a:ext>
            </a:extLst>
          </p:cNvPr>
          <p:cNvSpPr>
            <a:spLocks noGrp="1"/>
          </p:cNvSpPr>
          <p:nvPr>
            <p:ph type="body" idx="1"/>
          </p:nvPr>
        </p:nvSpPr>
        <p:spPr/>
        <p:txBody>
          <a:bodyPr>
            <a:normAutofit/>
          </a:bodyPr>
          <a:lstStyle/>
          <a:p>
            <a:r>
              <a:rPr lang="en-US" sz="1600"/>
              <a:t>Section 08  —  pandas, numpy, matplotlib, yfinance, and scikit-learn</a:t>
            </a:r>
          </a:p>
        </p:txBody>
      </p:sp>
      <p:pic>
        <p:nvPicPr>
          <p:cNvPr id="4" name="Graphic 4" descr="Chart icon for quant stack"/>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14000" y="1968500"/>
            <a:ext cx="762000" cy="762000"/>
          </a:xfrm>
          <a:prstGeom prst="rect">
            <a:avLst/>
          </a:prstGeom>
        </p:spPr>
      </p:pic>
      <p:sp>
        <p:nvSpPr>
          <p:cNvPr id="5" name="Oval 4">
            <a:extLst>
              <a:ext uri="{FF2B5EF4-FFF2-40B4-BE49-F238E27FC236}">
                <a16:creationId xmlns:a16="http://schemas.microsoft.com/office/drawing/2014/main" id="{6DC243CC-1D17-4D5F-888C-512B4D8A457C}"/>
              </a:ext>
            </a:extLst>
          </p:cNvPr>
          <p:cNvSpPr/>
          <p:nvPr/>
        </p:nvSpPr>
        <p:spPr>
          <a:xfrm>
            <a:off x="2540000" y="1397000"/>
            <a:ext cx="635000" cy="635000"/>
          </a:xfrm>
          <a:prstGeom prst="ellipse">
            <a:avLst/>
          </a:prstGeom>
          <a:solidFill>
            <a:srgbClr val="15045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FFFFFF"/>
                </a:solidFill>
              </a:rPr>
              <a:t>pd</a:t>
            </a:r>
          </a:p>
        </p:txBody>
      </p:sp>
      <p:sp>
        <p:nvSpPr>
          <p:cNvPr id="6" name="TextBox 5">
            <a:extLst>
              <a:ext uri="{FF2B5EF4-FFF2-40B4-BE49-F238E27FC236}">
                <a16:creationId xmlns:a16="http://schemas.microsoft.com/office/drawing/2014/main" id="{8ADBE9D4-A073-4512-BB68-5DED36C67D46}"/>
              </a:ext>
            </a:extLst>
          </p:cNvPr>
          <p:cNvSpPr txBox="1"/>
          <p:nvPr/>
        </p:nvSpPr>
        <p:spPr>
          <a:xfrm>
            <a:off x="2349500" y="2095500"/>
            <a:ext cx="1016000" cy="279400"/>
          </a:xfrm>
          <a:prstGeom prst="rect">
            <a:avLst/>
          </a:prstGeom>
          <a:noFill/>
        </p:spPr>
        <p:txBody>
          <a:bodyPr vertOverflow="overflow" vert="horz" wrap="square" rtlCol="0" anchor="t">
            <a:spAutoFit/>
          </a:bodyPr>
          <a:lstStyle/>
          <a:p>
            <a:pPr algn="l"/>
            <a:r>
              <a:rPr lang="en-US" sz="1400">
                <a:solidFill>
                  <a:srgbClr val="D0D4DC"/>
                </a:solidFill>
              </a:rPr>
              <a:t>pandas</a:t>
            </a:r>
          </a:p>
        </p:txBody>
      </p:sp>
      <p:sp>
        <p:nvSpPr>
          <p:cNvPr id="7" name="Oval 6">
            <a:extLst>
              <a:ext uri="{FF2B5EF4-FFF2-40B4-BE49-F238E27FC236}">
                <a16:creationId xmlns:a16="http://schemas.microsoft.com/office/drawing/2014/main" id="{869DA1DF-B842-4249-89A8-89DE5A042D34}"/>
              </a:ext>
            </a:extLst>
          </p:cNvPr>
          <p:cNvSpPr/>
          <p:nvPr/>
        </p:nvSpPr>
        <p:spPr>
          <a:xfrm>
            <a:off x="4064000" y="1397000"/>
            <a:ext cx="635000" cy="635000"/>
          </a:xfrm>
          <a:prstGeom prst="ellipse">
            <a:avLst/>
          </a:prstGeom>
          <a:solidFill>
            <a:srgbClr val="4DABC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0F1117"/>
                </a:solidFill>
              </a:rPr>
              <a:t>np</a:t>
            </a:r>
          </a:p>
        </p:txBody>
      </p:sp>
      <p:sp>
        <p:nvSpPr>
          <p:cNvPr id="8" name="TextBox 7">
            <a:extLst>
              <a:ext uri="{FF2B5EF4-FFF2-40B4-BE49-F238E27FC236}">
                <a16:creationId xmlns:a16="http://schemas.microsoft.com/office/drawing/2014/main" id="{D2109675-F293-49E6-B242-A8604AB1874A}"/>
              </a:ext>
            </a:extLst>
          </p:cNvPr>
          <p:cNvSpPr txBox="1"/>
          <p:nvPr/>
        </p:nvSpPr>
        <p:spPr>
          <a:xfrm>
            <a:off x="3873500" y="2095500"/>
            <a:ext cx="1016000" cy="279400"/>
          </a:xfrm>
          <a:prstGeom prst="rect">
            <a:avLst/>
          </a:prstGeom>
          <a:noFill/>
        </p:spPr>
        <p:txBody>
          <a:bodyPr vertOverflow="overflow" vert="horz" wrap="square" rtlCol="0" anchor="t">
            <a:spAutoFit/>
          </a:bodyPr>
          <a:lstStyle/>
          <a:p>
            <a:pPr algn="l"/>
            <a:r>
              <a:rPr lang="en-US" sz="1400">
                <a:solidFill>
                  <a:srgbClr val="D0D4DC"/>
                </a:solidFill>
              </a:rPr>
              <a:t>numpy</a:t>
            </a:r>
          </a:p>
        </p:txBody>
      </p:sp>
      <p:sp>
        <p:nvSpPr>
          <p:cNvPr id="9" name="Oval 8">
            <a:extLst>
              <a:ext uri="{FF2B5EF4-FFF2-40B4-BE49-F238E27FC236}">
                <a16:creationId xmlns:a16="http://schemas.microsoft.com/office/drawing/2014/main" id="{9859228F-047F-4CA2-B173-99556C6E32A6}"/>
              </a:ext>
            </a:extLst>
          </p:cNvPr>
          <p:cNvSpPr/>
          <p:nvPr/>
        </p:nvSpPr>
        <p:spPr>
          <a:xfrm>
            <a:off x="5588000" y="1397000"/>
            <a:ext cx="635000" cy="635000"/>
          </a:xfrm>
          <a:prstGeom prst="ellipse">
            <a:avLst/>
          </a:prstGeom>
          <a:solidFill>
            <a:srgbClr val="11557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FFFFFF"/>
                </a:solidFill>
              </a:rPr>
              <a:t>↑</a:t>
            </a:r>
          </a:p>
        </p:txBody>
      </p:sp>
      <p:sp>
        <p:nvSpPr>
          <p:cNvPr id="10" name="TextBox 9">
            <a:extLst>
              <a:ext uri="{FF2B5EF4-FFF2-40B4-BE49-F238E27FC236}">
                <a16:creationId xmlns:a16="http://schemas.microsoft.com/office/drawing/2014/main" id="{5B768F0C-6BC6-4353-A091-C0A22E2D02B5}"/>
              </a:ext>
            </a:extLst>
          </p:cNvPr>
          <p:cNvSpPr txBox="1"/>
          <p:nvPr/>
        </p:nvSpPr>
        <p:spPr>
          <a:xfrm>
            <a:off x="5397500" y="2095500"/>
            <a:ext cx="1016000" cy="279400"/>
          </a:xfrm>
          <a:prstGeom prst="rect">
            <a:avLst/>
          </a:prstGeom>
          <a:noFill/>
        </p:spPr>
        <p:txBody>
          <a:bodyPr vertOverflow="overflow" vert="horz" wrap="square" rtlCol="0" anchor="t">
            <a:spAutoFit/>
          </a:bodyPr>
          <a:lstStyle/>
          <a:p>
            <a:pPr algn="l"/>
            <a:r>
              <a:rPr lang="en-US" sz="1400">
                <a:solidFill>
                  <a:srgbClr val="D0D4DC"/>
                </a:solidFill>
              </a:rPr>
              <a:t>matplotlib</a:t>
            </a:r>
          </a:p>
        </p:txBody>
      </p:sp>
      <p:sp>
        <p:nvSpPr>
          <p:cNvPr id="11" name="Oval 10">
            <a:extLst>
              <a:ext uri="{FF2B5EF4-FFF2-40B4-BE49-F238E27FC236}">
                <a16:creationId xmlns:a16="http://schemas.microsoft.com/office/drawing/2014/main" id="{177D05C3-A485-439B-87D0-4D9D36CFB3E6}"/>
              </a:ext>
            </a:extLst>
          </p:cNvPr>
          <p:cNvSpPr/>
          <p:nvPr/>
        </p:nvSpPr>
        <p:spPr>
          <a:xfrm>
            <a:off x="7112000" y="1397000"/>
            <a:ext cx="635000" cy="635000"/>
          </a:xfrm>
          <a:prstGeom prst="ellipse">
            <a:avLst/>
          </a:prstGeom>
          <a:solidFill>
            <a:srgbClr val="5FD06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0F1117"/>
                </a:solidFill>
              </a:rPr>
              <a:t>$</a:t>
            </a:r>
          </a:p>
        </p:txBody>
      </p:sp>
      <p:sp>
        <p:nvSpPr>
          <p:cNvPr id="12" name="TextBox 11">
            <a:extLst>
              <a:ext uri="{FF2B5EF4-FFF2-40B4-BE49-F238E27FC236}">
                <a16:creationId xmlns:a16="http://schemas.microsoft.com/office/drawing/2014/main" id="{602E0125-D727-4424-8BCB-F475261D6BB5}"/>
              </a:ext>
            </a:extLst>
          </p:cNvPr>
          <p:cNvSpPr txBox="1"/>
          <p:nvPr/>
        </p:nvSpPr>
        <p:spPr>
          <a:xfrm>
            <a:off x="6921500" y="2095500"/>
            <a:ext cx="1016000" cy="279400"/>
          </a:xfrm>
          <a:prstGeom prst="rect">
            <a:avLst/>
          </a:prstGeom>
          <a:noFill/>
        </p:spPr>
        <p:txBody>
          <a:bodyPr vertOverflow="overflow" vert="horz" wrap="square" rtlCol="0" anchor="t">
            <a:spAutoFit/>
          </a:bodyPr>
          <a:lstStyle/>
          <a:p>
            <a:pPr algn="l"/>
            <a:r>
              <a:rPr lang="en-US" sz="1400">
                <a:solidFill>
                  <a:srgbClr val="D0D4DC"/>
                </a:solidFill>
              </a:rPr>
              <a:t>yfinance</a:t>
            </a:r>
          </a:p>
        </p:txBody>
      </p:sp>
      <p:sp>
        <p:nvSpPr>
          <p:cNvPr id="13" name="Oval 12">
            <a:extLst>
              <a:ext uri="{FF2B5EF4-FFF2-40B4-BE49-F238E27FC236}">
                <a16:creationId xmlns:a16="http://schemas.microsoft.com/office/drawing/2014/main" id="{7205B26E-2C30-4034-83E7-D6F5E666E7E5}"/>
              </a:ext>
            </a:extLst>
          </p:cNvPr>
          <p:cNvSpPr/>
          <p:nvPr/>
        </p:nvSpPr>
        <p:spPr>
          <a:xfrm>
            <a:off x="8636000" y="1397000"/>
            <a:ext cx="635000" cy="635000"/>
          </a:xfrm>
          <a:prstGeom prst="ellipse">
            <a:avLst/>
          </a:prstGeom>
          <a:solidFill>
            <a:srgbClr val="F793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0F1117"/>
                </a:solidFill>
              </a:rPr>
              <a:t>sk</a:t>
            </a:r>
          </a:p>
        </p:txBody>
      </p:sp>
      <p:sp>
        <p:nvSpPr>
          <p:cNvPr id="14" name="TextBox 13">
            <a:extLst>
              <a:ext uri="{FF2B5EF4-FFF2-40B4-BE49-F238E27FC236}">
                <a16:creationId xmlns:a16="http://schemas.microsoft.com/office/drawing/2014/main" id="{9CAE58C5-2AAB-44E6-BF6F-3AE854551C5F}"/>
              </a:ext>
            </a:extLst>
          </p:cNvPr>
          <p:cNvSpPr txBox="1"/>
          <p:nvPr/>
        </p:nvSpPr>
        <p:spPr>
          <a:xfrm>
            <a:off x="8445500" y="2095500"/>
            <a:ext cx="1016000" cy="279400"/>
          </a:xfrm>
          <a:prstGeom prst="rect">
            <a:avLst/>
          </a:prstGeom>
          <a:noFill/>
        </p:spPr>
        <p:txBody>
          <a:bodyPr vertOverflow="overflow" vert="horz" wrap="square" rtlCol="0" anchor="t">
            <a:spAutoFit/>
          </a:bodyPr>
          <a:lstStyle/>
          <a:p>
            <a:pPr algn="l"/>
            <a:r>
              <a:rPr lang="en-US" sz="1400">
                <a:solidFill>
                  <a:srgbClr val="D0D4DC"/>
                </a:solidFill>
              </a:rPr>
              <a:t>sklearn</a:t>
            </a:r>
          </a:p>
        </p:txBody>
      </p:sp>
    </p:spTree>
    <p:extLst>
      <p:ext uri="{BB962C8B-B14F-4D97-AF65-F5344CB8AC3E}">
        <p14:creationId xmlns:p14="http://schemas.microsoft.com/office/powerpoint/2010/main" val="32551099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A076FE1-97FF-4710-BC90-0707253694A4}"/>
              </a:ext>
            </a:extLst>
          </p:cNvPr>
          <p:cNvSpPr txBox="1"/>
          <p:nvPr/>
        </p:nvSpPr>
        <p:spPr>
          <a:xfrm>
            <a:off x="381000" y="127000"/>
            <a:ext cx="11430000" cy="482600"/>
          </a:xfrm>
          <a:prstGeom prst="rect">
            <a:avLst/>
          </a:prstGeom>
          <a:noFill/>
        </p:spPr>
        <p:txBody>
          <a:bodyPr vertOverflow="overflow" vert="horz" wrap="square" rtlCol="0" anchor="t">
            <a:spAutoFit/>
          </a:bodyPr>
          <a:lstStyle/>
          <a:p>
            <a:pPr algn="l"/>
            <a:r>
              <a:rPr lang="en-US" sz="2400" b="1">
                <a:solidFill>
                  <a:srgbClr val="F0F0F0"/>
                </a:solidFill>
              </a:rPr>
              <a:t>pandas: The Backbone of Quant Python</a:t>
            </a:r>
          </a:p>
        </p:txBody>
      </p:sp>
      <p:sp>
        <p:nvSpPr>
          <p:cNvPr id="8" name="TextBox 7">
            <a:extLst>
              <a:ext uri="{FF2B5EF4-FFF2-40B4-BE49-F238E27FC236}">
                <a16:creationId xmlns:a16="http://schemas.microsoft.com/office/drawing/2014/main" id="{E5A03E01-5855-401B-AD3F-40CE71473209}"/>
              </a:ext>
            </a:extLst>
          </p:cNvPr>
          <p:cNvSpPr txBox="1"/>
          <p:nvPr/>
        </p:nvSpPr>
        <p:spPr>
          <a:xfrm>
            <a:off x="381000" y="609600"/>
            <a:ext cx="6731000" cy="1206500"/>
          </a:xfrm>
          <a:prstGeom prst="rect">
            <a:avLst/>
          </a:prstGeom>
          <a:noFill/>
        </p:spPr>
        <p:txBody>
          <a:bodyPr vertOverflow="overflow" vert="horz" wrap="square" rtlCol="0" anchor="t">
            <a:spAutoFit/>
          </a:bodyPr>
          <a:lstStyle/>
          <a:p>
            <a:pPr algn="l"/>
            <a:r>
              <a:rPr lang="en-US" sz="1200">
                <a:solidFill>
                  <a:srgbClr val="D0D4DC"/>
                </a:solidFill>
              </a:rPr>
              <a:t>pandas provides the DataFrame — a table with labeled rows and columns that works like a spreadsheet in code. Nearly every quant workflow uses pandas: loading price data, calculating returns, filtering signals, running backtests. Select a column with df['Close'], filter rows with df[df['Volume'] &gt; 1e6], compute rolling averages with df['Close'].rolling(20).mean(). Set dates as index for time-series slicing: df['2023-01':'2023-06'].</a:t>
            </a:r>
          </a:p>
        </p:txBody>
      </p:sp>
      <p:sp>
        <p:nvSpPr>
          <p:cNvPr id="9" name="Rectangle 8">
            <a:extLst>
              <a:ext uri="{FF2B5EF4-FFF2-40B4-BE49-F238E27FC236}">
                <a16:creationId xmlns:a16="http://schemas.microsoft.com/office/drawing/2014/main" id="{D2F1CA35-ADDE-4B4D-BE7B-85E1CFFB6DE0}"/>
              </a:ext>
            </a:extLst>
          </p:cNvPr>
          <p:cNvSpPr/>
          <p:nvPr/>
        </p:nvSpPr>
        <p:spPr>
          <a:xfrm>
            <a:off x="381000" y="1879600"/>
            <a:ext cx="6731000" cy="2794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900">
                <a:solidFill>
                  <a:srgbClr val="808080"/>
                </a:solidFill>
                <a:latin typeface="Consolas"/>
              </a:rPr>
              <a:t>  ⬤  analysis.py — Python</a:t>
            </a:r>
          </a:p>
        </p:txBody>
      </p:sp>
      <p:sp>
        <p:nvSpPr>
          <p:cNvPr id="10" name="Rectangle 9">
            <a:extLst>
              <a:ext uri="{FF2B5EF4-FFF2-40B4-BE49-F238E27FC236}">
                <a16:creationId xmlns:a16="http://schemas.microsoft.com/office/drawing/2014/main" id="{6622018B-B83A-4974-BC80-513717DEEA54}"/>
              </a:ext>
            </a:extLst>
          </p:cNvPr>
          <p:cNvSpPr/>
          <p:nvPr/>
        </p:nvSpPr>
        <p:spPr>
          <a:xfrm>
            <a:off x="381000" y="2159000"/>
            <a:ext cx="6731000" cy="1841500"/>
          </a:xfrm>
          <a:prstGeom prst="rect">
            <a:avLst/>
          </a:prstGeom>
          <a:solidFill>
            <a:srgbClr val="0C0C0C"/>
          </a:solidFill>
          <a:ln w="12700" cap="flat" cmpd="sng" algn="ctr">
            <a:solidFill>
              <a:srgbClr val="33333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chorCtr="0">
            <a:noAutofit/>
          </a:bodyPr>
          <a:lstStyle/>
          <a:p>
            <a:pPr algn="l"/>
            <a:r>
              <a:rPr lang="en-US" sz="1100">
                <a:solidFill>
                  <a:srgbClr val="4EC9B0"/>
                </a:solidFill>
                <a:latin typeface="Consolas"/>
              </a:rPr>
              <a:t>import pandas as pd
# Load price data from CSV
df = pd.read_csv('spy_prices.csv', index_col='Date',
                  parse_dates=True)
# Calculate daily returns and a 20-day moving average
df['returns'] = df['Close'].pct_change()
df['MA_20']   = df['Close'].rolling(20).mean()
print(df[['Close', 'returns', 'MA_20']].tail())</a:t>
            </a:r>
          </a:p>
        </p:txBody>
      </p:sp>
      <p:sp>
        <p:nvSpPr>
          <p:cNvPr id="11" name="Rectangle 10">
            <a:extLst>
              <a:ext uri="{FF2B5EF4-FFF2-40B4-BE49-F238E27FC236}">
                <a16:creationId xmlns:a16="http://schemas.microsoft.com/office/drawing/2014/main" id="{9604589C-14F3-4F31-BD15-7D54F006A3C0}"/>
              </a:ext>
            </a:extLst>
          </p:cNvPr>
          <p:cNvSpPr/>
          <p:nvPr/>
        </p:nvSpPr>
        <p:spPr>
          <a:xfrm>
            <a:off x="381000" y="4064000"/>
            <a:ext cx="6731000" cy="2286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900">
                <a:solidFill>
                  <a:srgbClr val="808080"/>
                </a:solidFill>
                <a:latin typeface="Consolas"/>
              </a:rPr>
              <a:t>  Output:</a:t>
            </a:r>
          </a:p>
        </p:txBody>
      </p:sp>
      <p:sp>
        <p:nvSpPr>
          <p:cNvPr id="12" name="Rectangle 11">
            <a:extLst>
              <a:ext uri="{FF2B5EF4-FFF2-40B4-BE49-F238E27FC236}">
                <a16:creationId xmlns:a16="http://schemas.microsoft.com/office/drawing/2014/main" id="{F2FC616B-6C54-4676-BEC6-460EF219C950}"/>
              </a:ext>
            </a:extLst>
          </p:cNvPr>
          <p:cNvSpPr/>
          <p:nvPr/>
        </p:nvSpPr>
        <p:spPr>
          <a:xfrm>
            <a:off x="381000" y="4292600"/>
            <a:ext cx="6731000" cy="952500"/>
          </a:xfrm>
          <a:prstGeom prst="rect">
            <a:avLst/>
          </a:prstGeom>
          <a:solidFill>
            <a:srgbClr val="0C0C0C"/>
          </a:solidFill>
          <a:ln w="12700" cap="flat" cmpd="sng" algn="ctr">
            <a:solidFill>
              <a:srgbClr val="33333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chorCtr="0">
            <a:noAutofit/>
          </a:bodyPr>
          <a:lstStyle/>
          <a:p>
            <a:pPr algn="l"/>
            <a:r>
              <a:rPr lang="en-US" sz="1000">
                <a:solidFill>
                  <a:srgbClr val="DCDCAA"/>
                </a:solidFill>
                <a:latin typeface="Consolas"/>
              </a:rPr>
              <a:t>              Close   returns     MA_20
Date
2024-12-26  596.42  0.00215   590.318
2024-12-27  593.88 -0.00426   590.571
2024-12-30  591.55 -0.00392   590.744</a:t>
            </a:r>
          </a:p>
        </p:txBody>
      </p:sp>
      <p:sp>
        <p:nvSpPr>
          <p:cNvPr id="13" name="TextBox 12">
            <a:extLst>
              <a:ext uri="{FF2B5EF4-FFF2-40B4-BE49-F238E27FC236}">
                <a16:creationId xmlns:a16="http://schemas.microsoft.com/office/drawing/2014/main" id="{1E8E6E89-A68D-412C-BF66-F496034E895D}"/>
              </a:ext>
            </a:extLst>
          </p:cNvPr>
          <p:cNvSpPr txBox="1"/>
          <p:nvPr/>
        </p:nvSpPr>
        <p:spPr>
          <a:xfrm>
            <a:off x="381000" y="5334000"/>
            <a:ext cx="6731000" cy="317500"/>
          </a:xfrm>
          <a:prstGeom prst="rect">
            <a:avLst/>
          </a:prstGeom>
          <a:noFill/>
        </p:spPr>
        <p:txBody>
          <a:bodyPr vertOverflow="overflow" vert="horz" wrap="square" rtlCol="0" anchor="t">
            <a:spAutoFit/>
          </a:bodyPr>
          <a:lstStyle/>
          <a:p>
            <a:pPr algn="l"/>
            <a:r>
              <a:rPr lang="en-US" sz="1100">
                <a:solidFill>
                  <a:srgbClr val="6C5CE7"/>
                </a:solidFill>
                <a:latin typeface="Consolas"/>
              </a:rPr>
              <a:t>Install: pip install pandas     Docs: pandas.pydata.org/docs</a:t>
            </a:r>
          </a:p>
        </p:txBody>
      </p:sp>
      <p:pic>
        <p:nvPicPr>
          <p:cNvPr id="14" name="Graphic 14" descr="Table icon for pandas"/>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03000" y="101600"/>
            <a:ext cx="482600" cy="482600"/>
          </a:xfrm>
          <a:prstGeom prst="rect">
            <a:avLst/>
          </a:prstGeom>
        </p:spPr>
      </p:pic>
    </p:spTree>
    <p:extLst>
      <p:ext uri="{BB962C8B-B14F-4D97-AF65-F5344CB8AC3E}">
        <p14:creationId xmlns:p14="http://schemas.microsoft.com/office/powerpoint/2010/main" val="28094785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423427F-B40C-4845-B552-6E5E10DD4F85}"/>
              </a:ext>
            </a:extLst>
          </p:cNvPr>
          <p:cNvSpPr txBox="1"/>
          <p:nvPr/>
        </p:nvSpPr>
        <p:spPr>
          <a:xfrm>
            <a:off x="381000" y="127000"/>
            <a:ext cx="11430000" cy="482600"/>
          </a:xfrm>
          <a:prstGeom prst="rect">
            <a:avLst/>
          </a:prstGeom>
          <a:noFill/>
        </p:spPr>
        <p:txBody>
          <a:bodyPr vertOverflow="overflow" vert="horz" wrap="square" rtlCol="0" anchor="t">
            <a:spAutoFit/>
          </a:bodyPr>
          <a:lstStyle/>
          <a:p>
            <a:pPr algn="l"/>
            <a:r>
              <a:rPr lang="en-US" sz="2400" b="1">
                <a:solidFill>
                  <a:srgbClr val="F0F0F0"/>
                </a:solidFill>
              </a:rPr>
              <a:t>numpy: Fast Vectorized Math for Finance</a:t>
            </a:r>
          </a:p>
        </p:txBody>
      </p:sp>
      <p:sp>
        <p:nvSpPr>
          <p:cNvPr id="12" name="TextBox 11">
            <a:extLst>
              <a:ext uri="{FF2B5EF4-FFF2-40B4-BE49-F238E27FC236}">
                <a16:creationId xmlns:a16="http://schemas.microsoft.com/office/drawing/2014/main" id="{0224DECA-C8F0-4A00-A476-6FC868F864EF}"/>
              </a:ext>
            </a:extLst>
          </p:cNvPr>
          <p:cNvSpPr txBox="1"/>
          <p:nvPr/>
        </p:nvSpPr>
        <p:spPr>
          <a:xfrm>
            <a:off x="381000" y="609600"/>
            <a:ext cx="6731000" cy="990600"/>
          </a:xfrm>
          <a:prstGeom prst="rect">
            <a:avLst/>
          </a:prstGeom>
          <a:noFill/>
        </p:spPr>
        <p:txBody>
          <a:bodyPr vertOverflow="overflow" vert="horz" wrap="square" rtlCol="0" anchor="t">
            <a:spAutoFit/>
          </a:bodyPr>
          <a:lstStyle/>
          <a:p>
            <a:pPr algn="l"/>
            <a:r>
              <a:rPr lang="en-US" sz="1200">
                <a:solidFill>
                  <a:srgbClr val="D0D4DC"/>
                </a:solidFill>
              </a:rPr>
              <a:t>numpy provides arrays and fast math operations that work on entire arrays at once — no loops needed. Financial computations involve millions of data points; numpy is 10-100x faster than plain Python because it uses optimized C code. It is the math engine underneath pandas. Key tools: np.mean(), np.std(), np.corrcoef() for stats, np.random.normal() for Monte Carlo simulations.</a:t>
            </a:r>
          </a:p>
        </p:txBody>
      </p:sp>
      <p:sp>
        <p:nvSpPr>
          <p:cNvPr id="13" name="Rectangle 12">
            <a:extLst>
              <a:ext uri="{FF2B5EF4-FFF2-40B4-BE49-F238E27FC236}">
                <a16:creationId xmlns:a16="http://schemas.microsoft.com/office/drawing/2014/main" id="{19670B9A-3150-43C6-9466-F79A0411F88D}"/>
              </a:ext>
            </a:extLst>
          </p:cNvPr>
          <p:cNvSpPr/>
          <p:nvPr/>
        </p:nvSpPr>
        <p:spPr>
          <a:xfrm>
            <a:off x="381000" y="1651000"/>
            <a:ext cx="6731000" cy="2794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900">
                <a:solidFill>
                  <a:srgbClr val="808080"/>
                </a:solidFill>
                <a:latin typeface="Consolas"/>
              </a:rPr>
              <a:t>  ⬤  numpy_demo.py — Python</a:t>
            </a:r>
          </a:p>
        </p:txBody>
      </p:sp>
      <p:sp>
        <p:nvSpPr>
          <p:cNvPr id="14" name="Rectangle 13">
            <a:extLst>
              <a:ext uri="{FF2B5EF4-FFF2-40B4-BE49-F238E27FC236}">
                <a16:creationId xmlns:a16="http://schemas.microsoft.com/office/drawing/2014/main" id="{9FE74ADF-BA8A-415D-BE9A-BA9B3C4FB85B}"/>
              </a:ext>
            </a:extLst>
          </p:cNvPr>
          <p:cNvSpPr/>
          <p:nvPr/>
        </p:nvSpPr>
        <p:spPr>
          <a:xfrm>
            <a:off x="381000" y="1930400"/>
            <a:ext cx="6731000" cy="2159000"/>
          </a:xfrm>
          <a:prstGeom prst="rect">
            <a:avLst/>
          </a:prstGeom>
          <a:solidFill>
            <a:srgbClr val="0C0C0C"/>
          </a:solidFill>
          <a:ln w="12700" cap="flat" cmpd="sng" algn="ctr">
            <a:solidFill>
              <a:srgbClr val="33333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chorCtr="0">
            <a:noAutofit/>
          </a:bodyPr>
          <a:lstStyle/>
          <a:p>
            <a:pPr algn="l"/>
            <a:r>
              <a:rPr lang="en-US" sz="1050">
                <a:solidFill>
                  <a:srgbClr val="4EC9B0"/>
                </a:solidFill>
                <a:latin typeface="Consolas"/>
              </a:rPr>
              <a:t>import numpy as np
# Daily closing prices
prices = np.array([100, 102, 98, 105, 110, 107])
# Vectorized return calculation (no for loop)
returns = np.diff(prices) / prices[:-1]
print(f"Mean return:  {np.mean(returns):.4f}")
print(f"Volatility:   {np.std(returns):.4f}")
print(f"Sharpe (approx): {np.mean(returns)/np.std(returns):.2f}")
# Monte Carlo: 10,000 random daily returns
sim = np.random.normal(0.0005, 0.01, 10000)</a:t>
            </a:r>
          </a:p>
        </p:txBody>
      </p:sp>
      <p:sp>
        <p:nvSpPr>
          <p:cNvPr id="15" name="Rectangle 14">
            <a:extLst>
              <a:ext uri="{FF2B5EF4-FFF2-40B4-BE49-F238E27FC236}">
                <a16:creationId xmlns:a16="http://schemas.microsoft.com/office/drawing/2014/main" id="{4F726E2F-A4B1-4E74-919A-9CA69DB29FB1}"/>
              </a:ext>
            </a:extLst>
          </p:cNvPr>
          <p:cNvSpPr/>
          <p:nvPr/>
        </p:nvSpPr>
        <p:spPr>
          <a:xfrm>
            <a:off x="381000" y="4152900"/>
            <a:ext cx="6731000" cy="2286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900">
                <a:solidFill>
                  <a:srgbClr val="808080"/>
                </a:solidFill>
                <a:latin typeface="Consolas"/>
              </a:rPr>
              <a:t>  Output:</a:t>
            </a:r>
          </a:p>
        </p:txBody>
      </p:sp>
      <p:sp>
        <p:nvSpPr>
          <p:cNvPr id="16" name="Rectangle 15">
            <a:extLst>
              <a:ext uri="{FF2B5EF4-FFF2-40B4-BE49-F238E27FC236}">
                <a16:creationId xmlns:a16="http://schemas.microsoft.com/office/drawing/2014/main" id="{E5B97D6D-FBD9-46C6-BB24-C43E2A7F973B}"/>
              </a:ext>
            </a:extLst>
          </p:cNvPr>
          <p:cNvSpPr/>
          <p:nvPr/>
        </p:nvSpPr>
        <p:spPr>
          <a:xfrm>
            <a:off x="381000" y="4381500"/>
            <a:ext cx="6731000" cy="609600"/>
          </a:xfrm>
          <a:prstGeom prst="rect">
            <a:avLst/>
          </a:prstGeom>
          <a:solidFill>
            <a:srgbClr val="0C0C0C"/>
          </a:solidFill>
          <a:ln w="12700" cap="flat" cmpd="sng" algn="ctr">
            <a:solidFill>
              <a:srgbClr val="33333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chorCtr="0">
            <a:noAutofit/>
          </a:bodyPr>
          <a:lstStyle/>
          <a:p>
            <a:pPr algn="l"/>
            <a:r>
              <a:rPr lang="en-US" sz="1100">
                <a:solidFill>
                  <a:srgbClr val="DCDCAA"/>
                </a:solidFill>
                <a:latin typeface="Consolas"/>
              </a:rPr>
              <a:t>Mean return:  0.0148
Volatility:   0.0354
Sharpe (approx): 0.42</a:t>
            </a:r>
          </a:p>
        </p:txBody>
      </p:sp>
      <p:sp>
        <p:nvSpPr>
          <p:cNvPr id="17" name="TextBox 16">
            <a:extLst>
              <a:ext uri="{FF2B5EF4-FFF2-40B4-BE49-F238E27FC236}">
                <a16:creationId xmlns:a16="http://schemas.microsoft.com/office/drawing/2014/main" id="{D9D07771-34ED-49BE-8935-F5911C302F72}"/>
              </a:ext>
            </a:extLst>
          </p:cNvPr>
          <p:cNvSpPr txBox="1"/>
          <p:nvPr/>
        </p:nvSpPr>
        <p:spPr>
          <a:xfrm>
            <a:off x="381000" y="5080000"/>
            <a:ext cx="6731000" cy="317500"/>
          </a:xfrm>
          <a:prstGeom prst="rect">
            <a:avLst/>
          </a:prstGeom>
          <a:noFill/>
        </p:spPr>
        <p:txBody>
          <a:bodyPr vertOverflow="overflow" vert="horz" wrap="square" rtlCol="0" anchor="t">
            <a:spAutoFit/>
          </a:bodyPr>
          <a:lstStyle/>
          <a:p>
            <a:pPr algn="l"/>
            <a:r>
              <a:rPr lang="en-US" sz="1100">
                <a:solidFill>
                  <a:srgbClr val="6C5CE7"/>
                </a:solidFill>
                <a:latin typeface="Consolas"/>
              </a:rPr>
              <a:t>Install: pip install numpy (usually included with pandas)</a:t>
            </a:r>
          </a:p>
        </p:txBody>
      </p:sp>
      <p:pic>
        <p:nvPicPr>
          <p:cNvPr id="18" name="Graphic 18" descr="Math icon for numpy"/>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03000" y="101600"/>
            <a:ext cx="482600" cy="482600"/>
          </a:xfrm>
          <a:prstGeom prst="rect">
            <a:avLst/>
          </a:prstGeom>
        </p:spPr>
      </p:pic>
    </p:spTree>
    <p:extLst>
      <p:ext uri="{BB962C8B-B14F-4D97-AF65-F5344CB8AC3E}">
        <p14:creationId xmlns:p14="http://schemas.microsoft.com/office/powerpoint/2010/main" val="14008220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227CFAC-3DEE-477B-AD25-10FD73358E2A}"/>
              </a:ext>
            </a:extLst>
          </p:cNvPr>
          <p:cNvSpPr txBox="1"/>
          <p:nvPr/>
        </p:nvSpPr>
        <p:spPr>
          <a:xfrm>
            <a:off x="381000" y="127000"/>
            <a:ext cx="11430000" cy="482600"/>
          </a:xfrm>
          <a:prstGeom prst="rect">
            <a:avLst/>
          </a:prstGeom>
          <a:noFill/>
        </p:spPr>
        <p:txBody>
          <a:bodyPr vertOverflow="overflow" vert="horz" wrap="square" rtlCol="0" anchor="t">
            <a:spAutoFit/>
          </a:bodyPr>
          <a:lstStyle/>
          <a:p>
            <a:pPr algn="l"/>
            <a:r>
              <a:rPr lang="en-US" sz="2400" b="1">
                <a:solidFill>
                  <a:srgbClr val="F0F0F0"/>
                </a:solidFill>
              </a:rPr>
              <a:t>matplotlib: Visualizing Price Data and Backtests</a:t>
            </a:r>
          </a:p>
        </p:txBody>
      </p:sp>
      <p:sp>
        <p:nvSpPr>
          <p:cNvPr id="9" name="TextBox 8">
            <a:extLst>
              <a:ext uri="{FF2B5EF4-FFF2-40B4-BE49-F238E27FC236}">
                <a16:creationId xmlns:a16="http://schemas.microsoft.com/office/drawing/2014/main" id="{9C063096-A053-4884-B880-7E4882769561}"/>
              </a:ext>
            </a:extLst>
          </p:cNvPr>
          <p:cNvSpPr txBox="1"/>
          <p:nvPr/>
        </p:nvSpPr>
        <p:spPr>
          <a:xfrm>
            <a:off x="381000" y="609600"/>
            <a:ext cx="6731000" cy="990600"/>
          </a:xfrm>
          <a:prstGeom prst="rect">
            <a:avLst/>
          </a:prstGeom>
          <a:noFill/>
        </p:spPr>
        <p:txBody>
          <a:bodyPr vertOverflow="overflow" vert="horz" wrap="square" rtlCol="0" anchor="t">
            <a:spAutoFit/>
          </a:bodyPr>
          <a:lstStyle/>
          <a:p>
            <a:pPr algn="l"/>
            <a:r>
              <a:rPr lang="en-US" sz="1200">
                <a:solidFill>
                  <a:srgbClr val="D0D4DC"/>
                </a:solidFill>
              </a:rPr>
              <a:t>matplotlib is Python's standard plotting library. In quant finance you will use it constantly for price charts, equity curves, return distributions, and signal comparisons. A backtest that "returns 15% annualized" tells you nothing about the path — did it draw down 40%? Charts reveal the story that stats hide. Every serious quant workflow ends with visualization.</a:t>
            </a:r>
          </a:p>
        </p:txBody>
      </p:sp>
      <p:sp>
        <p:nvSpPr>
          <p:cNvPr id="10" name="Rectangle 9">
            <a:extLst>
              <a:ext uri="{FF2B5EF4-FFF2-40B4-BE49-F238E27FC236}">
                <a16:creationId xmlns:a16="http://schemas.microsoft.com/office/drawing/2014/main" id="{6454D48B-3457-4D51-A15F-D2A020665829}"/>
              </a:ext>
            </a:extLst>
          </p:cNvPr>
          <p:cNvSpPr/>
          <p:nvPr/>
        </p:nvSpPr>
        <p:spPr>
          <a:xfrm>
            <a:off x="381000" y="1651000"/>
            <a:ext cx="6731000" cy="2794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900">
                <a:solidFill>
                  <a:srgbClr val="808080"/>
                </a:solidFill>
                <a:latin typeface="Consolas"/>
              </a:rPr>
              <a:t>  ⬤  plot_spy.py — Python</a:t>
            </a:r>
          </a:p>
        </p:txBody>
      </p:sp>
      <p:sp>
        <p:nvSpPr>
          <p:cNvPr id="11" name="Rectangle 10">
            <a:extLst>
              <a:ext uri="{FF2B5EF4-FFF2-40B4-BE49-F238E27FC236}">
                <a16:creationId xmlns:a16="http://schemas.microsoft.com/office/drawing/2014/main" id="{7EC7330F-C68B-430E-8D93-5663CCC336AD}"/>
              </a:ext>
            </a:extLst>
          </p:cNvPr>
          <p:cNvSpPr/>
          <p:nvPr/>
        </p:nvSpPr>
        <p:spPr>
          <a:xfrm>
            <a:off x="381000" y="1930400"/>
            <a:ext cx="6731000" cy="2222500"/>
          </a:xfrm>
          <a:prstGeom prst="rect">
            <a:avLst/>
          </a:prstGeom>
          <a:solidFill>
            <a:srgbClr val="0C0C0C"/>
          </a:solidFill>
          <a:ln w="12700" cap="flat" cmpd="sng" algn="ctr">
            <a:solidFill>
              <a:srgbClr val="33333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chorCtr="0">
            <a:noAutofit/>
          </a:bodyPr>
          <a:lstStyle/>
          <a:p>
            <a:pPr algn="l"/>
            <a:r>
              <a:rPr lang="en-US" sz="1050">
                <a:solidFill>
                  <a:srgbClr val="4EC9B0"/>
                </a:solidFill>
                <a:latin typeface="Consolas"/>
              </a:rPr>
              <a:t>import matplotlib.pyplot as plt
plt.figure(figsize=(12, 6))
plt.plot(df['Close'], label='SPY Price', color='#54A0FF')
plt.plot(df['MA_20'], label='20-Day MA', color='#FF9F43')
plt.title('SPY Price with 20-Day Moving Average')
plt.xlabel('Date')
plt.ylabel('Price ($)')
plt.legend()
plt.grid(True, alpha=0.3)
plt.show()
# To save as image for presentations:
plt.savefig('chart.png', dpi=150, bbox_inches='tight')</a:t>
            </a:r>
          </a:p>
        </p:txBody>
      </p:sp>
      <p:sp>
        <p:nvSpPr>
          <p:cNvPr id="12" name="TextBox 11">
            <a:extLst>
              <a:ext uri="{FF2B5EF4-FFF2-40B4-BE49-F238E27FC236}">
                <a16:creationId xmlns:a16="http://schemas.microsoft.com/office/drawing/2014/main" id="{30862521-DD36-4A66-AADB-61650BB7D402}"/>
              </a:ext>
            </a:extLst>
          </p:cNvPr>
          <p:cNvSpPr txBox="1"/>
          <p:nvPr/>
        </p:nvSpPr>
        <p:spPr>
          <a:xfrm>
            <a:off x="381000" y="4254500"/>
            <a:ext cx="6731000" cy="698500"/>
          </a:xfrm>
          <a:prstGeom prst="rect">
            <a:avLst/>
          </a:prstGeom>
          <a:noFill/>
        </p:spPr>
        <p:txBody>
          <a:bodyPr vertOverflow="overflow" vert="horz" wrap="square" rtlCol="0" anchor="t">
            <a:spAutoFit/>
          </a:bodyPr>
          <a:lstStyle/>
          <a:p>
            <a:pPr algn="l"/>
            <a:r>
              <a:rPr lang="en-US" sz="1200">
                <a:solidFill>
                  <a:srgbClr val="D0D4DC"/>
                </a:solidFill>
              </a:rPr>
              <a:t>In a Jupyter notebook, charts render directly below the cell — no separate window needed. The pattern is always the same: plt.figure(), plt.plot() your data, add labels and a legend, then plt.show(). Use plt.savefig() to export high-resolution images for decks.</a:t>
            </a:r>
          </a:p>
        </p:txBody>
      </p:sp>
      <p:sp>
        <p:nvSpPr>
          <p:cNvPr id="13" name="TextBox 12">
            <a:extLst>
              <a:ext uri="{FF2B5EF4-FFF2-40B4-BE49-F238E27FC236}">
                <a16:creationId xmlns:a16="http://schemas.microsoft.com/office/drawing/2014/main" id="{DC0A16B9-5280-4E51-AEDC-08F2C2849546}"/>
              </a:ext>
            </a:extLst>
          </p:cNvPr>
          <p:cNvSpPr txBox="1"/>
          <p:nvPr/>
        </p:nvSpPr>
        <p:spPr>
          <a:xfrm>
            <a:off x="381000" y="5016500"/>
            <a:ext cx="6731000" cy="317500"/>
          </a:xfrm>
          <a:prstGeom prst="rect">
            <a:avLst/>
          </a:prstGeom>
          <a:noFill/>
        </p:spPr>
        <p:txBody>
          <a:bodyPr vertOverflow="overflow" vert="horz" wrap="square" rtlCol="0" anchor="t">
            <a:spAutoFit/>
          </a:bodyPr>
          <a:lstStyle/>
          <a:p>
            <a:pPr algn="l"/>
            <a:r>
              <a:rPr lang="en-US" sz="1100">
                <a:solidFill>
                  <a:srgbClr val="6C5CE7"/>
                </a:solidFill>
                <a:latin typeface="Consolas"/>
              </a:rPr>
              <a:t>Install: pip install matplotlib</a:t>
            </a:r>
          </a:p>
        </p:txBody>
      </p:sp>
      <p:pic>
        <p:nvPicPr>
          <p:cNvPr id="14" name="Graphic 14" descr="Chart icon for matplotlib"/>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03000" y="101600"/>
            <a:ext cx="482600" cy="482600"/>
          </a:xfrm>
          <a:prstGeom prst="rect">
            <a:avLst/>
          </a:prstGeom>
        </p:spPr>
      </p:pic>
    </p:spTree>
    <p:extLst>
      <p:ext uri="{BB962C8B-B14F-4D97-AF65-F5344CB8AC3E}">
        <p14:creationId xmlns:p14="http://schemas.microsoft.com/office/powerpoint/2010/main" val="33792141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D0E4ED0-7A31-4561-BC55-156AA628CAA1}"/>
              </a:ext>
            </a:extLst>
          </p:cNvPr>
          <p:cNvSpPr txBox="1"/>
          <p:nvPr/>
        </p:nvSpPr>
        <p:spPr>
          <a:xfrm>
            <a:off x="381000" y="127000"/>
            <a:ext cx="11430000" cy="482600"/>
          </a:xfrm>
          <a:prstGeom prst="rect">
            <a:avLst/>
          </a:prstGeom>
          <a:noFill/>
        </p:spPr>
        <p:txBody>
          <a:bodyPr vertOverflow="overflow" vert="horz" wrap="square" rtlCol="0" anchor="t">
            <a:spAutoFit/>
          </a:bodyPr>
          <a:lstStyle/>
          <a:p>
            <a:pPr algn="l"/>
            <a:r>
              <a:rPr lang="en-US" sz="2400" b="1">
                <a:solidFill>
                  <a:srgbClr val="F0F0F0"/>
                </a:solidFill>
              </a:rPr>
              <a:t>yfinance: Free Historical Market Data</a:t>
            </a:r>
          </a:p>
        </p:txBody>
      </p:sp>
      <p:sp>
        <p:nvSpPr>
          <p:cNvPr id="9" name="TextBox 8">
            <a:extLst>
              <a:ext uri="{FF2B5EF4-FFF2-40B4-BE49-F238E27FC236}">
                <a16:creationId xmlns:a16="http://schemas.microsoft.com/office/drawing/2014/main" id="{A4660F3C-3069-4EDB-82C1-F96021834479}"/>
              </a:ext>
            </a:extLst>
          </p:cNvPr>
          <p:cNvSpPr txBox="1"/>
          <p:nvPr/>
        </p:nvSpPr>
        <p:spPr>
          <a:xfrm>
            <a:off x="381000" y="609600"/>
            <a:ext cx="6731000" cy="889000"/>
          </a:xfrm>
          <a:prstGeom prst="rect">
            <a:avLst/>
          </a:prstGeom>
          <a:noFill/>
        </p:spPr>
        <p:txBody>
          <a:bodyPr vertOverflow="overflow" vert="horz" wrap="square" rtlCol="0" anchor="t">
            <a:spAutoFit/>
          </a:bodyPr>
          <a:lstStyle/>
          <a:p>
            <a:pPr algn="l"/>
            <a:r>
              <a:rPr lang="en-US" sz="1200">
                <a:solidFill>
                  <a:srgbClr val="D0D4DC"/>
                </a:solidFill>
              </a:rPr>
              <a:t>yfinance pulls historical stock price data from Yahoo Finance for free. In two lines of code, you get years of daily OHLCV data for any publicly traded ticker. Professional firms use Bloomberg, but yfinance is perfect for learning and prototyping. Not suitable for production trading systems (can be rate-limited and delayed).</a:t>
            </a:r>
          </a:p>
        </p:txBody>
      </p:sp>
      <p:sp>
        <p:nvSpPr>
          <p:cNvPr id="10" name="Rectangle 9">
            <a:extLst>
              <a:ext uri="{FF2B5EF4-FFF2-40B4-BE49-F238E27FC236}">
                <a16:creationId xmlns:a16="http://schemas.microsoft.com/office/drawing/2014/main" id="{4A867749-6141-4BD6-9037-84359056E0AD}"/>
              </a:ext>
            </a:extLst>
          </p:cNvPr>
          <p:cNvSpPr/>
          <p:nvPr/>
        </p:nvSpPr>
        <p:spPr>
          <a:xfrm>
            <a:off x="381000" y="1549400"/>
            <a:ext cx="6731000" cy="2794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900">
                <a:solidFill>
                  <a:srgbClr val="808080"/>
                </a:solidFill>
                <a:latin typeface="Consolas"/>
              </a:rPr>
              <a:t>  ⬤  get_data.py — Python</a:t>
            </a:r>
          </a:p>
        </p:txBody>
      </p:sp>
      <p:sp>
        <p:nvSpPr>
          <p:cNvPr id="11" name="Rectangle 10">
            <a:extLst>
              <a:ext uri="{FF2B5EF4-FFF2-40B4-BE49-F238E27FC236}">
                <a16:creationId xmlns:a16="http://schemas.microsoft.com/office/drawing/2014/main" id="{F464976A-B126-4E56-93E5-FD10E9D40996}"/>
              </a:ext>
            </a:extLst>
          </p:cNvPr>
          <p:cNvSpPr/>
          <p:nvPr/>
        </p:nvSpPr>
        <p:spPr>
          <a:xfrm>
            <a:off x="381000" y="1828800"/>
            <a:ext cx="6731000" cy="1524000"/>
          </a:xfrm>
          <a:prstGeom prst="rect">
            <a:avLst/>
          </a:prstGeom>
          <a:solidFill>
            <a:srgbClr val="0C0C0C"/>
          </a:solidFill>
          <a:ln w="12700" cap="flat" cmpd="sng" algn="ctr">
            <a:solidFill>
              <a:srgbClr val="33333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chorCtr="0">
            <a:noAutofit/>
          </a:bodyPr>
          <a:lstStyle/>
          <a:p>
            <a:pPr algn="l"/>
            <a:r>
              <a:rPr lang="en-US" sz="1050">
                <a:solidFill>
                  <a:srgbClr val="4EC9B0"/>
                </a:solidFill>
                <a:latin typeface="Consolas"/>
              </a:rPr>
              <a:t>import yfinance as yf
# Download daily SPY data — returns a pandas DataFrame
spy = yf.download('SPY', start='2020-01-01', end='2024-12-31')
print(spy.head())
print(spy.columns)  # Open, High, Low, Close, Adj Close, Volume
# Download multiple tickers at once
data = yf.download(['SPY','QQQ','AAPL'], start='2020-01-01')</a:t>
            </a:r>
          </a:p>
        </p:txBody>
      </p:sp>
      <p:sp>
        <p:nvSpPr>
          <p:cNvPr id="12" name="TextBox 11">
            <a:extLst>
              <a:ext uri="{FF2B5EF4-FFF2-40B4-BE49-F238E27FC236}">
                <a16:creationId xmlns:a16="http://schemas.microsoft.com/office/drawing/2014/main" id="{E3318BAD-DB50-492A-86EF-F4669D0A47EB}"/>
              </a:ext>
            </a:extLst>
          </p:cNvPr>
          <p:cNvSpPr txBox="1"/>
          <p:nvPr/>
        </p:nvSpPr>
        <p:spPr>
          <a:xfrm>
            <a:off x="381000" y="3429000"/>
            <a:ext cx="6731000" cy="635000"/>
          </a:xfrm>
          <a:prstGeom prst="rect">
            <a:avLst/>
          </a:prstGeom>
          <a:noFill/>
        </p:spPr>
        <p:txBody>
          <a:bodyPr vertOverflow="overflow" vert="horz" wrap="square" rtlCol="0" anchor="t">
            <a:spAutoFit/>
          </a:bodyPr>
          <a:lstStyle/>
          <a:p>
            <a:pPr algn="l"/>
            <a:r>
              <a:rPr lang="en-US" sz="1200">
                <a:solidFill>
                  <a:srgbClr val="D0D4DC"/>
                </a:solidFill>
              </a:rPr>
              <a:t>The result is a pandas DataFrame indexed by date, so all your pandas skills apply immediately. For real systems, use Polygon.io, Alpha Vantage, or Bloomberg's blpapi. But for this course and prototyping, yfinance is ideal.</a:t>
            </a:r>
          </a:p>
        </p:txBody>
      </p:sp>
      <p:sp>
        <p:nvSpPr>
          <p:cNvPr id="13" name="TextBox 12">
            <a:extLst>
              <a:ext uri="{FF2B5EF4-FFF2-40B4-BE49-F238E27FC236}">
                <a16:creationId xmlns:a16="http://schemas.microsoft.com/office/drawing/2014/main" id="{EAD6122A-507C-438E-9CD3-8B4A0DC0BCB2}"/>
              </a:ext>
            </a:extLst>
          </p:cNvPr>
          <p:cNvSpPr txBox="1"/>
          <p:nvPr/>
        </p:nvSpPr>
        <p:spPr>
          <a:xfrm>
            <a:off x="381000" y="4127500"/>
            <a:ext cx="6731000" cy="317500"/>
          </a:xfrm>
          <a:prstGeom prst="rect">
            <a:avLst/>
          </a:prstGeom>
          <a:noFill/>
        </p:spPr>
        <p:txBody>
          <a:bodyPr vertOverflow="overflow" vert="horz" wrap="square" rtlCol="0" anchor="t">
            <a:spAutoFit/>
          </a:bodyPr>
          <a:lstStyle/>
          <a:p>
            <a:pPr algn="l"/>
            <a:r>
              <a:rPr lang="en-US" sz="1100"/>
              <a:t>Install: pip install yfinance</a:t>
            </a:r>
          </a:p>
        </p:txBody>
      </p:sp>
      <p:sp>
        <p:nvSpPr>
          <p:cNvPr id="14" name="Oval 13">
            <a:extLst>
              <a:ext uri="{FF2B5EF4-FFF2-40B4-BE49-F238E27FC236}">
                <a16:creationId xmlns:a16="http://schemas.microsoft.com/office/drawing/2014/main" id="{224CBA61-3E1B-49C5-9326-2847137FA48C}"/>
              </a:ext>
            </a:extLst>
          </p:cNvPr>
          <p:cNvSpPr/>
          <p:nvPr/>
        </p:nvSpPr>
        <p:spPr>
          <a:xfrm>
            <a:off x="11303000" y="127000"/>
            <a:ext cx="457200" cy="457200"/>
          </a:xfrm>
          <a:prstGeom prst="ellipse">
            <a:avLst/>
          </a:prstGeom>
          <a:solidFill>
            <a:srgbClr val="5FD06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0F1117"/>
                </a:solidFill>
              </a:rPr>
              <a:t>$</a:t>
            </a:r>
          </a:p>
        </p:txBody>
      </p:sp>
    </p:spTree>
    <p:extLst>
      <p:ext uri="{BB962C8B-B14F-4D97-AF65-F5344CB8AC3E}">
        <p14:creationId xmlns:p14="http://schemas.microsoft.com/office/powerpoint/2010/main" val="24874668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468F50B8-5F80-49CD-9C65-2C9AD91DC08B}"/>
              </a:ext>
            </a:extLst>
          </p:cNvPr>
          <p:cNvSpPr txBox="1"/>
          <p:nvPr/>
        </p:nvSpPr>
        <p:spPr>
          <a:xfrm>
            <a:off x="381000" y="127000"/>
            <a:ext cx="11430000" cy="482600"/>
          </a:xfrm>
          <a:prstGeom prst="rect">
            <a:avLst/>
          </a:prstGeom>
          <a:noFill/>
        </p:spPr>
        <p:txBody>
          <a:bodyPr vertOverflow="overflow" vert="horz" wrap="square" rtlCol="0" anchor="t">
            <a:spAutoFit/>
          </a:bodyPr>
          <a:lstStyle/>
          <a:p>
            <a:pPr algn="l"/>
            <a:r>
              <a:rPr lang="en-US" sz="2400" b="1">
                <a:solidFill>
                  <a:srgbClr val="F0F0F0"/>
                </a:solidFill>
              </a:rPr>
              <a:t>scikit-learn: Your Entry Point to Machine Learning</a:t>
            </a:r>
          </a:p>
        </p:txBody>
      </p:sp>
      <p:sp>
        <p:nvSpPr>
          <p:cNvPr id="10" name="TextBox 9">
            <a:extLst>
              <a:ext uri="{FF2B5EF4-FFF2-40B4-BE49-F238E27FC236}">
                <a16:creationId xmlns:a16="http://schemas.microsoft.com/office/drawing/2014/main" id="{A1119814-76C9-4017-87A5-94D3DBD99CC9}"/>
              </a:ext>
            </a:extLst>
          </p:cNvPr>
          <p:cNvSpPr txBox="1"/>
          <p:nvPr/>
        </p:nvSpPr>
        <p:spPr>
          <a:xfrm>
            <a:off x="381000" y="609600"/>
            <a:ext cx="6731000" cy="889000"/>
          </a:xfrm>
          <a:prstGeom prst="rect">
            <a:avLst/>
          </a:prstGeom>
          <a:noFill/>
        </p:spPr>
        <p:txBody>
          <a:bodyPr vertOverflow="overflow" vert="horz" wrap="square" rtlCol="0" anchor="t">
            <a:spAutoFit/>
          </a:bodyPr>
          <a:lstStyle/>
          <a:p>
            <a:pPr algn="l"/>
            <a:r>
              <a:rPr lang="en-US" sz="1200">
                <a:solidFill>
                  <a:srgbClr val="D0D4DC"/>
                </a:solidFill>
              </a:rPr>
              <a:t>scikit-learn (sklearn) is Python's most popular ML library. It provides regression, classification, clustering, and preprocessing. You will not master this today, but you need to know it exists and where it fits: Get data (yfinance) → Clean it (pandas) → Build features → Train a model (sklearn) → Evaluate → Visualize (matplotlib).</a:t>
            </a:r>
          </a:p>
        </p:txBody>
      </p:sp>
      <p:sp>
        <p:nvSpPr>
          <p:cNvPr id="11" name="Rectangle 10">
            <a:extLst>
              <a:ext uri="{FF2B5EF4-FFF2-40B4-BE49-F238E27FC236}">
                <a16:creationId xmlns:a16="http://schemas.microsoft.com/office/drawing/2014/main" id="{68FC1FA2-801B-405F-A3E9-3FC12921CCE0}"/>
              </a:ext>
            </a:extLst>
          </p:cNvPr>
          <p:cNvSpPr/>
          <p:nvPr/>
        </p:nvSpPr>
        <p:spPr>
          <a:xfrm>
            <a:off x="381000" y="1549400"/>
            <a:ext cx="6731000" cy="2794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900">
                <a:solidFill>
                  <a:srgbClr val="808080"/>
                </a:solidFill>
                <a:latin typeface="Consolas"/>
              </a:rPr>
              <a:t>  ⬤  model.py — Python</a:t>
            </a:r>
          </a:p>
        </p:txBody>
      </p:sp>
      <p:sp>
        <p:nvSpPr>
          <p:cNvPr id="12" name="Rectangle 11">
            <a:extLst>
              <a:ext uri="{FF2B5EF4-FFF2-40B4-BE49-F238E27FC236}">
                <a16:creationId xmlns:a16="http://schemas.microsoft.com/office/drawing/2014/main" id="{116475E9-89CB-4B95-AF6C-27A34958C1ED}"/>
              </a:ext>
            </a:extLst>
          </p:cNvPr>
          <p:cNvSpPr/>
          <p:nvPr/>
        </p:nvSpPr>
        <p:spPr>
          <a:xfrm>
            <a:off x="381000" y="1828800"/>
            <a:ext cx="6731000" cy="1651000"/>
          </a:xfrm>
          <a:prstGeom prst="rect">
            <a:avLst/>
          </a:prstGeom>
          <a:solidFill>
            <a:srgbClr val="0C0C0C"/>
          </a:solidFill>
          <a:ln w="12700" cap="flat" cmpd="sng" algn="ctr">
            <a:solidFill>
              <a:srgbClr val="33333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chorCtr="0">
            <a:noAutofit/>
          </a:bodyPr>
          <a:lstStyle/>
          <a:p>
            <a:pPr algn="l"/>
            <a:r>
              <a:rPr lang="en-US" sz="1050">
                <a:solidFill>
                  <a:srgbClr val="4EC9B0"/>
                </a:solidFill>
                <a:latin typeface="Consolas"/>
              </a:rPr>
              <a:t>from sklearn.linear_model import LinearRegression
from sklearn.preprocessing import StandardScaler
# The API is always the same pattern:
model = LinearRegression()
model.fit(X_train, y_train)         # train on historical data
predictions = model.predict(X_test)  # predict on new data
score = model.score(X_test, y_test)  # evaluate accuracy (R²)</a:t>
            </a:r>
          </a:p>
        </p:txBody>
      </p:sp>
      <p:sp>
        <p:nvSpPr>
          <p:cNvPr id="13" name="TextBox 12">
            <a:extLst>
              <a:ext uri="{FF2B5EF4-FFF2-40B4-BE49-F238E27FC236}">
                <a16:creationId xmlns:a16="http://schemas.microsoft.com/office/drawing/2014/main" id="{64ACBEA4-4D68-48B1-8E6A-15727C6F9038}"/>
              </a:ext>
            </a:extLst>
          </p:cNvPr>
          <p:cNvSpPr txBox="1"/>
          <p:nvPr/>
        </p:nvSpPr>
        <p:spPr>
          <a:xfrm>
            <a:off x="381000" y="3556000"/>
            <a:ext cx="6731000" cy="863600"/>
          </a:xfrm>
          <a:prstGeom prst="rect">
            <a:avLst/>
          </a:prstGeom>
          <a:noFill/>
        </p:spPr>
        <p:txBody>
          <a:bodyPr vertOverflow="overflow" vert="horz" wrap="square" rtlCol="0" anchor="t">
            <a:spAutoFit/>
          </a:bodyPr>
          <a:lstStyle/>
          <a:p>
            <a:pPr algn="l"/>
            <a:r>
              <a:rPr lang="en-US" sz="1200">
                <a:solidFill>
                  <a:srgbClr val="D0D4DC"/>
                </a:solidFill>
              </a:rPr>
              <a:t>Common quant use cases: predicting next-day returns (regression), classifying market regimes (classification), grouping similar stocks (clustering), and normalizing features before modeling (StandardScaler). You do not need to understand the math behind every algorithm — Claude can help you choose the right model, tune parameters, and interpret results.</a:t>
            </a:r>
          </a:p>
        </p:txBody>
      </p:sp>
      <p:sp>
        <p:nvSpPr>
          <p:cNvPr id="14" name="TextBox 13">
            <a:extLst>
              <a:ext uri="{FF2B5EF4-FFF2-40B4-BE49-F238E27FC236}">
                <a16:creationId xmlns:a16="http://schemas.microsoft.com/office/drawing/2014/main" id="{6531CCF0-04B2-4ED5-A3E6-93E161B705CC}"/>
              </a:ext>
            </a:extLst>
          </p:cNvPr>
          <p:cNvSpPr txBox="1"/>
          <p:nvPr/>
        </p:nvSpPr>
        <p:spPr>
          <a:xfrm>
            <a:off x="381000" y="4483100"/>
            <a:ext cx="6731000" cy="317500"/>
          </a:xfrm>
          <a:prstGeom prst="rect">
            <a:avLst/>
          </a:prstGeom>
          <a:noFill/>
        </p:spPr>
        <p:txBody>
          <a:bodyPr vertOverflow="overflow" vert="horz" wrap="square" rtlCol="0" anchor="t">
            <a:spAutoFit/>
          </a:bodyPr>
          <a:lstStyle/>
          <a:p>
            <a:pPr algn="l"/>
            <a:r>
              <a:rPr lang="en-US" sz="1100">
                <a:solidFill>
                  <a:srgbClr val="6C5CE7"/>
                </a:solidFill>
                <a:latin typeface="Consolas"/>
              </a:rPr>
              <a:t>Install: pip install scikit-learn</a:t>
            </a:r>
          </a:p>
        </p:txBody>
      </p:sp>
      <p:pic>
        <p:nvPicPr>
          <p:cNvPr id="15" name="Graphic 15" descr="Brain icon for sklearn ML"/>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03000" y="101600"/>
            <a:ext cx="482600" cy="482600"/>
          </a:xfrm>
          <a:prstGeom prst="rect">
            <a:avLst/>
          </a:prstGeom>
        </p:spPr>
      </p:pic>
    </p:spTree>
    <p:extLst>
      <p:ext uri="{BB962C8B-B14F-4D97-AF65-F5344CB8AC3E}">
        <p14:creationId xmlns:p14="http://schemas.microsoft.com/office/powerpoint/2010/main" val="22678773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8CB70700-5169-4D2D-A203-7BD22290D56E}"/>
              </a:ext>
            </a:extLst>
          </p:cNvPr>
          <p:cNvSpPr txBox="1"/>
          <p:nvPr/>
        </p:nvSpPr>
        <p:spPr>
          <a:xfrm>
            <a:off x="381000" y="127000"/>
            <a:ext cx="11430000" cy="508000"/>
          </a:xfrm>
          <a:prstGeom prst="rect">
            <a:avLst/>
          </a:prstGeom>
          <a:noFill/>
        </p:spPr>
        <p:txBody>
          <a:bodyPr vertOverflow="overflow" vert="horz" wrap="square" rtlCol="0" anchor="t">
            <a:spAutoFit/>
          </a:bodyPr>
          <a:lstStyle/>
          <a:p>
            <a:pPr algn="l"/>
            <a:r>
              <a:rPr lang="en-US" sz="2400" b="1">
                <a:solidFill>
                  <a:srgbClr val="F0F0F0"/>
                </a:solidFill>
              </a:rPr>
              <a:t>End-to-End Demo: SPY Rolling Average</a:t>
            </a:r>
          </a:p>
        </p:txBody>
      </p:sp>
      <p:sp>
        <p:nvSpPr>
          <p:cNvPr id="18" name="Arrow: Chevron 17">
            <a:extLst>
              <a:ext uri="{FF2B5EF4-FFF2-40B4-BE49-F238E27FC236}">
                <a16:creationId xmlns:a16="http://schemas.microsoft.com/office/drawing/2014/main" id="{2A432583-ABD4-4EA1-A6CE-8E02E7B57EC7}"/>
              </a:ext>
            </a:extLst>
          </p:cNvPr>
          <p:cNvSpPr/>
          <p:nvPr/>
        </p:nvSpPr>
        <p:spPr>
          <a:xfrm>
            <a:off x="381000" y="698500"/>
            <a:ext cx="1841500" cy="609600"/>
          </a:xfrm>
          <a:prstGeom prst="chevron">
            <a:avLst/>
          </a:prstGeom>
          <a:solidFill>
            <a:srgbClr val="6C5CE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000" b="1">
                <a:solidFill>
                  <a:srgbClr val="FFFFFF"/>
                </a:solidFill>
              </a:rPr>
              <a:t>1. FETCH DATA
yfinance</a:t>
            </a:r>
          </a:p>
        </p:txBody>
      </p:sp>
      <p:sp>
        <p:nvSpPr>
          <p:cNvPr id="19" name="Arrow: Chevron 18">
            <a:extLst>
              <a:ext uri="{FF2B5EF4-FFF2-40B4-BE49-F238E27FC236}">
                <a16:creationId xmlns:a16="http://schemas.microsoft.com/office/drawing/2014/main" id="{90BFF742-973D-4908-AF4A-1394FF962E7B}"/>
              </a:ext>
            </a:extLst>
          </p:cNvPr>
          <p:cNvSpPr/>
          <p:nvPr/>
        </p:nvSpPr>
        <p:spPr>
          <a:xfrm>
            <a:off x="2324100" y="698500"/>
            <a:ext cx="1841500" cy="609600"/>
          </a:xfrm>
          <a:prstGeom prst="chevron">
            <a:avLst/>
          </a:prstGeom>
          <a:solidFill>
            <a:srgbClr val="54A0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000" b="1">
                <a:solidFill>
                  <a:srgbClr val="FFFFFF"/>
                </a:solidFill>
              </a:rPr>
              <a:t>2. CLEAN
dropna()</a:t>
            </a:r>
          </a:p>
        </p:txBody>
      </p:sp>
      <p:sp>
        <p:nvSpPr>
          <p:cNvPr id="20" name="Arrow: Chevron 19">
            <a:extLst>
              <a:ext uri="{FF2B5EF4-FFF2-40B4-BE49-F238E27FC236}">
                <a16:creationId xmlns:a16="http://schemas.microsoft.com/office/drawing/2014/main" id="{21EFEBDC-B034-4CEE-8459-5F7AC75CD947}"/>
              </a:ext>
            </a:extLst>
          </p:cNvPr>
          <p:cNvSpPr/>
          <p:nvPr/>
        </p:nvSpPr>
        <p:spPr>
          <a:xfrm>
            <a:off x="4267200" y="698500"/>
            <a:ext cx="1841500" cy="609600"/>
          </a:xfrm>
          <a:prstGeom prst="chevron">
            <a:avLst/>
          </a:prstGeom>
          <a:solidFill>
            <a:srgbClr val="00D2D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000" b="1">
                <a:solidFill>
                  <a:srgbClr val="FFFFFF"/>
                </a:solidFill>
              </a:rPr>
              <a:t>3. CALCULATE
rolling(20)</a:t>
            </a:r>
          </a:p>
        </p:txBody>
      </p:sp>
      <p:sp>
        <p:nvSpPr>
          <p:cNvPr id="21" name="Arrow: Chevron 20">
            <a:extLst>
              <a:ext uri="{FF2B5EF4-FFF2-40B4-BE49-F238E27FC236}">
                <a16:creationId xmlns:a16="http://schemas.microsoft.com/office/drawing/2014/main" id="{E5BC1EB1-1ED2-4A4F-A657-CE8C1D633944}"/>
              </a:ext>
            </a:extLst>
          </p:cNvPr>
          <p:cNvSpPr/>
          <p:nvPr/>
        </p:nvSpPr>
        <p:spPr>
          <a:xfrm>
            <a:off x="6210300" y="698500"/>
            <a:ext cx="1841500" cy="609600"/>
          </a:xfrm>
          <a:prstGeom prst="chevron">
            <a:avLst/>
          </a:prstGeom>
          <a:solidFill>
            <a:srgbClr val="FF9F4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000" b="1">
                <a:solidFill>
                  <a:srgbClr val="FFFFFF"/>
                </a:solidFill>
              </a:rPr>
              <a:t>4. VISUALIZE
matplotlib</a:t>
            </a:r>
          </a:p>
        </p:txBody>
      </p:sp>
      <p:sp>
        <p:nvSpPr>
          <p:cNvPr id="22" name="Arrow: Chevron 21">
            <a:extLst>
              <a:ext uri="{FF2B5EF4-FFF2-40B4-BE49-F238E27FC236}">
                <a16:creationId xmlns:a16="http://schemas.microsoft.com/office/drawing/2014/main" id="{048F7B43-917C-4629-9C19-0B05321E6B07}"/>
              </a:ext>
            </a:extLst>
          </p:cNvPr>
          <p:cNvSpPr/>
          <p:nvPr/>
        </p:nvSpPr>
        <p:spPr>
          <a:xfrm>
            <a:off x="8153400" y="698500"/>
            <a:ext cx="1841500" cy="609600"/>
          </a:xfrm>
          <a:prstGeom prst="chevron">
            <a:avLst/>
          </a:prstGeom>
          <a:solidFill>
            <a:srgbClr val="5FD06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000" b="1">
                <a:solidFill>
                  <a:srgbClr val="FFFFFF"/>
                </a:solidFill>
              </a:rPr>
              <a:t>5. ANALYZE
interpret</a:t>
            </a:r>
          </a:p>
        </p:txBody>
      </p:sp>
      <p:sp>
        <p:nvSpPr>
          <p:cNvPr id="23" name="Rectangle 22">
            <a:extLst>
              <a:ext uri="{FF2B5EF4-FFF2-40B4-BE49-F238E27FC236}">
                <a16:creationId xmlns:a16="http://schemas.microsoft.com/office/drawing/2014/main" id="{DA12E3DE-15C2-4F25-A266-A6BC71EFC2C9}"/>
              </a:ext>
            </a:extLst>
          </p:cNvPr>
          <p:cNvSpPr/>
          <p:nvPr/>
        </p:nvSpPr>
        <p:spPr>
          <a:xfrm>
            <a:off x="381000" y="1422400"/>
            <a:ext cx="7239000" cy="2794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nb-NO" sz="900">
                <a:solidFill>
                  <a:srgbClr val="808080"/>
                </a:solidFill>
                <a:latin typeface="Consolas"/>
              </a:rPr>
              <a:t>  ⬤  Terminal — spy_rolling_avg.py</a:t>
            </a:r>
            <a:endParaRPr lang="en-US" sz="900">
              <a:solidFill>
                <a:srgbClr val="808080"/>
              </a:solidFill>
              <a:latin typeface="Consolas"/>
            </a:endParaRPr>
          </a:p>
        </p:txBody>
      </p:sp>
      <p:sp>
        <p:nvSpPr>
          <p:cNvPr id="24" name="Rectangle 23">
            <a:extLst>
              <a:ext uri="{FF2B5EF4-FFF2-40B4-BE49-F238E27FC236}">
                <a16:creationId xmlns:a16="http://schemas.microsoft.com/office/drawing/2014/main" id="{BB6AD92A-74EA-440A-AE6E-223880DE7F3C}"/>
              </a:ext>
            </a:extLst>
          </p:cNvPr>
          <p:cNvSpPr/>
          <p:nvPr/>
        </p:nvSpPr>
        <p:spPr>
          <a:xfrm>
            <a:off x="381000" y="1701800"/>
            <a:ext cx="7239000" cy="2286000"/>
          </a:xfrm>
          <a:prstGeom prst="rect">
            <a:avLst/>
          </a:prstGeom>
          <a:solidFill>
            <a:srgbClr val="0C0C0C"/>
          </a:solidFill>
          <a:ln w="12700" cap="flat" cmpd="sng" algn="ctr">
            <a:solidFill>
              <a:srgbClr val="33333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oAutofit/>
          </a:bodyPr>
          <a:lstStyle/>
          <a:p>
            <a:pPr algn="l"/>
            <a:r>
              <a:rPr lang="en-US" sz="900">
                <a:solidFill>
                  <a:srgbClr val="4EC9B0"/>
                </a:solidFill>
                <a:latin typeface="Consolas"/>
              </a:rPr>
              <a:t>import yfinance as yf
import matplotlib.pyplot as plt
# Step 1: Fetch SPY data
spy = yf.download('SPY', start='2024-01-01')
# Step 2-3: Calculate 20-day rolling average
spy['SMA_20'] = spy['Close'].rolling(20).mean()
spy.dropna(inplace=True)
# Step 4: Visualize
plt.figure(figsize=(12,6))
plt.plot(spy['Close'], label='SPY Close')
plt.plot(spy['SMA_20'], label='20-Day SMA')
plt.legend()
plt.title('SPY with 20-Day Moving Average')
plt.show()</a:t>
            </a:r>
          </a:p>
        </p:txBody>
      </p:sp>
      <p:sp>
        <p:nvSpPr>
          <p:cNvPr id="25" name="TextBox 24">
            <a:extLst>
              <a:ext uri="{FF2B5EF4-FFF2-40B4-BE49-F238E27FC236}">
                <a16:creationId xmlns:a16="http://schemas.microsoft.com/office/drawing/2014/main" id="{06F9BC84-2F63-475D-8CE6-A57DDB481D76}"/>
              </a:ext>
            </a:extLst>
          </p:cNvPr>
          <p:cNvSpPr txBox="1"/>
          <p:nvPr/>
        </p:nvSpPr>
        <p:spPr>
          <a:xfrm>
            <a:off x="381000" y="4089400"/>
            <a:ext cx="7239000" cy="1397000"/>
          </a:xfrm>
          <a:prstGeom prst="rect">
            <a:avLst/>
          </a:prstGeom>
          <a:noFill/>
        </p:spPr>
        <p:txBody>
          <a:bodyPr vertOverflow="overflow" vert="horz" wrap="square" rtlCol="0" anchor="t">
            <a:spAutoFit/>
          </a:bodyPr>
          <a:lstStyle/>
          <a:p>
            <a:pPr algn="l"/>
            <a:r>
              <a:rPr lang="en-US" sz="1200">
                <a:solidFill>
                  <a:srgbClr val="D0D4DC"/>
                </a:solidFill>
              </a:rPr>
              <a:t>This is the complete quant workflow in 15 lines. Every real project follows this same pattern: fetch data, clean it, compute something, visualize results.
The 20-day SMA (Simple Moving Average) smooths daily noise to show the trend. When price crosses above the SMA, some traders interpret that as bullish. This is a real technique used in systematic trading.</a:t>
            </a:r>
          </a:p>
        </p:txBody>
      </p:sp>
      <p:sp>
        <p:nvSpPr>
          <p:cNvPr id="26" name="Rectangle: Rounded Corners 25">
            <a:extLst>
              <a:ext uri="{FF2B5EF4-FFF2-40B4-BE49-F238E27FC236}">
                <a16:creationId xmlns:a16="http://schemas.microsoft.com/office/drawing/2014/main" id="{F404EA78-C6E8-4537-9C78-A4C634B3A820}"/>
              </a:ext>
            </a:extLst>
          </p:cNvPr>
          <p:cNvSpPr/>
          <p:nvPr/>
        </p:nvSpPr>
        <p:spPr>
          <a:xfrm>
            <a:off x="7810500" y="1422400"/>
            <a:ext cx="4127500" cy="4064000"/>
          </a:xfrm>
          <a:prstGeom prst="roundRect">
            <a:avLst/>
          </a:prstGeom>
          <a:solidFill>
            <a:srgbClr val="1A1D27"/>
          </a:solidFill>
          <a:ln w="38100" cap="flat" cmpd="sng" algn="ctr">
            <a:solidFill>
              <a:srgbClr val="FF9F4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400" b="1">
                <a:solidFill>
                  <a:srgbClr val="FF9F43"/>
                </a:solidFill>
              </a:rPr>
              <a:t>SCREENSHOT:
SPY chart with 20-day moving average overlay</a:t>
            </a:r>
          </a:p>
        </p:txBody>
      </p:sp>
    </p:spTree>
    <p:extLst>
      <p:ext uri="{BB962C8B-B14F-4D97-AF65-F5344CB8AC3E}">
        <p14:creationId xmlns:p14="http://schemas.microsoft.com/office/powerpoint/2010/main" val="28946747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D6C37-BF07-B309-7B13-7B42C3F056BE}"/>
              </a:ext>
            </a:extLst>
          </p:cNvPr>
          <p:cNvSpPr>
            <a:spLocks noGrp="1"/>
          </p:cNvSpPr>
          <p:nvPr>
            <p:ph type="title"/>
          </p:nvPr>
        </p:nvSpPr>
        <p:spPr/>
        <p:txBody>
          <a:bodyPr>
            <a:normAutofit/>
          </a:bodyPr>
          <a:lstStyle/>
          <a:p>
            <a:r>
              <a:rPr lang="en-US" sz="4000" b="1"/>
              <a:t>APIs &amp; Data</a:t>
            </a:r>
          </a:p>
        </p:txBody>
      </p:sp>
      <p:sp>
        <p:nvSpPr>
          <p:cNvPr id="3" name="Text Placeholder 2">
            <a:extLst>
              <a:ext uri="{FF2B5EF4-FFF2-40B4-BE49-F238E27FC236}">
                <a16:creationId xmlns:a16="http://schemas.microsoft.com/office/drawing/2014/main" id="{1E50B2BA-2827-3BD3-A2DD-20EC9E5C2096}"/>
              </a:ext>
            </a:extLst>
          </p:cNvPr>
          <p:cNvSpPr>
            <a:spLocks noGrp="1"/>
          </p:cNvSpPr>
          <p:nvPr>
            <p:ph type="body" idx="1"/>
          </p:nvPr>
        </p:nvSpPr>
        <p:spPr/>
        <p:txBody>
          <a:bodyPr>
            <a:normAutofit/>
          </a:bodyPr>
          <a:lstStyle/>
          <a:p>
            <a:r>
              <a:rPr lang="en-US" sz="1600"/>
              <a:t>Section 09  —  How your code talks to external data services and providers</a:t>
            </a:r>
          </a:p>
        </p:txBody>
      </p:sp>
      <p:pic>
        <p:nvPicPr>
          <p:cNvPr id="4" name="Graphic 4" descr="Database icon for APIs"/>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14000" y="1968500"/>
            <a:ext cx="762000" cy="762000"/>
          </a:xfrm>
          <a:prstGeom prst="rect">
            <a:avLst/>
          </a:prstGeom>
        </p:spPr>
      </p:pic>
    </p:spTree>
    <p:extLst>
      <p:ext uri="{BB962C8B-B14F-4D97-AF65-F5344CB8AC3E}">
        <p14:creationId xmlns:p14="http://schemas.microsoft.com/office/powerpoint/2010/main" val="6092000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F60A494-ECD8-4849-A0B4-DEAD88082666}"/>
              </a:ext>
            </a:extLst>
          </p:cNvPr>
          <p:cNvSpPr txBox="1"/>
          <p:nvPr/>
        </p:nvSpPr>
        <p:spPr>
          <a:xfrm>
            <a:off x="381000" y="127000"/>
            <a:ext cx="11430000" cy="508000"/>
          </a:xfrm>
          <a:prstGeom prst="rect">
            <a:avLst/>
          </a:prstGeom>
          <a:noFill/>
        </p:spPr>
        <p:txBody>
          <a:bodyPr vertOverflow="overflow" vert="horz" wrap="square" rtlCol="0" anchor="t">
            <a:spAutoFit/>
          </a:bodyPr>
          <a:lstStyle/>
          <a:p>
            <a:pPr algn="l"/>
            <a:r>
              <a:rPr lang="en-US" sz="2400" b="1">
                <a:solidFill>
                  <a:srgbClr val="F0F0F0"/>
                </a:solidFill>
              </a:rPr>
              <a:t>APIs: How Your Code Talks to the World</a:t>
            </a:r>
          </a:p>
        </p:txBody>
      </p:sp>
      <p:sp>
        <p:nvSpPr>
          <p:cNvPr id="3" name="Rectangle: Rounded Corners 2">
            <a:extLst>
              <a:ext uri="{FF2B5EF4-FFF2-40B4-BE49-F238E27FC236}">
                <a16:creationId xmlns:a16="http://schemas.microsoft.com/office/drawing/2014/main" id="{1C07B0DC-6F73-436C-822A-D2243C9FD080}"/>
              </a:ext>
            </a:extLst>
          </p:cNvPr>
          <p:cNvSpPr/>
          <p:nvPr/>
        </p:nvSpPr>
        <p:spPr>
          <a:xfrm>
            <a:off x="381000" y="736600"/>
            <a:ext cx="2032000" cy="1143000"/>
          </a:xfrm>
          <a:prstGeom prst="roundRect">
            <a:avLst/>
          </a:prstGeom>
          <a:solidFill>
            <a:srgbClr val="6C5CE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400" b="1">
                <a:solidFill>
                  <a:srgbClr val="FFFFFF"/>
                </a:solidFill>
              </a:rPr>
              <a:t>YOUR CODE
(Python)</a:t>
            </a:r>
          </a:p>
        </p:txBody>
      </p:sp>
      <p:sp>
        <p:nvSpPr>
          <p:cNvPr id="4" name="Arrow: Right 3">
            <a:extLst>
              <a:ext uri="{FF2B5EF4-FFF2-40B4-BE49-F238E27FC236}">
                <a16:creationId xmlns:a16="http://schemas.microsoft.com/office/drawing/2014/main" id="{8858DA9F-AD2E-4AE1-84A1-C621BA714DC1}"/>
              </a:ext>
            </a:extLst>
          </p:cNvPr>
          <p:cNvSpPr/>
          <p:nvPr/>
        </p:nvSpPr>
        <p:spPr>
          <a:xfrm>
            <a:off x="2540000" y="889000"/>
            <a:ext cx="1397000" cy="304800"/>
          </a:xfrm>
          <a:prstGeom prst="rightArrow">
            <a:avLst/>
          </a:prstGeom>
          <a:solidFill>
            <a:srgbClr val="FF9F4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E9D1F6D0-0DD9-4793-A6C7-3B44E8958139}"/>
              </a:ext>
            </a:extLst>
          </p:cNvPr>
          <p:cNvSpPr txBox="1"/>
          <p:nvPr/>
        </p:nvSpPr>
        <p:spPr>
          <a:xfrm>
            <a:off x="2540000" y="673100"/>
            <a:ext cx="1397000" cy="228600"/>
          </a:xfrm>
          <a:prstGeom prst="rect">
            <a:avLst/>
          </a:prstGeom>
          <a:noFill/>
        </p:spPr>
        <p:txBody>
          <a:bodyPr vertOverflow="overflow" vert="horz" wrap="square" rtlCol="0" anchor="t">
            <a:spAutoFit/>
          </a:bodyPr>
          <a:lstStyle/>
          <a:p>
            <a:pPr algn="l"/>
            <a:r>
              <a:rPr lang="en-US" sz="1000" b="1">
                <a:solidFill>
                  <a:srgbClr val="FF9F43"/>
                </a:solidFill>
              </a:rPr>
              <a:t>GET Request</a:t>
            </a:r>
          </a:p>
        </p:txBody>
      </p:sp>
      <p:sp>
        <p:nvSpPr>
          <p:cNvPr id="6" name="Rectangle: Rounded Corners 5">
            <a:extLst>
              <a:ext uri="{FF2B5EF4-FFF2-40B4-BE49-F238E27FC236}">
                <a16:creationId xmlns:a16="http://schemas.microsoft.com/office/drawing/2014/main" id="{DBAA67AF-68BB-4458-96DC-FFE405098874}"/>
              </a:ext>
            </a:extLst>
          </p:cNvPr>
          <p:cNvSpPr/>
          <p:nvPr/>
        </p:nvSpPr>
        <p:spPr>
          <a:xfrm>
            <a:off x="4064000" y="736600"/>
            <a:ext cx="2159000" cy="1143000"/>
          </a:xfrm>
          <a:prstGeom prst="roundRect">
            <a:avLst/>
          </a:prstGeom>
          <a:solidFill>
            <a:srgbClr val="2A2D3A"/>
          </a:solidFill>
          <a:ln w="25400" cap="flat" cmpd="sng" algn="ctr">
            <a:solidFill>
              <a:srgbClr val="00D2D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200" b="1">
                <a:solidFill>
                  <a:srgbClr val="00D2D3"/>
                </a:solidFill>
              </a:rPr>
              <a:t>API SERVER
yfinance / FRED
Polygon.io</a:t>
            </a:r>
          </a:p>
        </p:txBody>
      </p:sp>
      <p:sp>
        <p:nvSpPr>
          <p:cNvPr id="7" name="Arrow: Left 6">
            <a:extLst>
              <a:ext uri="{FF2B5EF4-FFF2-40B4-BE49-F238E27FC236}">
                <a16:creationId xmlns:a16="http://schemas.microsoft.com/office/drawing/2014/main" id="{6F94786A-7C32-41BE-A007-1ADEC21D1A23}"/>
              </a:ext>
            </a:extLst>
          </p:cNvPr>
          <p:cNvSpPr/>
          <p:nvPr/>
        </p:nvSpPr>
        <p:spPr>
          <a:xfrm>
            <a:off x="2540000" y="1435100"/>
            <a:ext cx="1397000" cy="304800"/>
          </a:xfrm>
          <a:prstGeom prst="leftArrow">
            <a:avLst/>
          </a:prstGeom>
          <a:solidFill>
            <a:srgbClr val="5FD06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EF794F4A-507B-499F-B18B-A51A142BACC4}"/>
              </a:ext>
            </a:extLst>
          </p:cNvPr>
          <p:cNvSpPr txBox="1"/>
          <p:nvPr/>
        </p:nvSpPr>
        <p:spPr>
          <a:xfrm>
            <a:off x="2540000" y="1778000"/>
            <a:ext cx="1397000" cy="228600"/>
          </a:xfrm>
          <a:prstGeom prst="rect">
            <a:avLst/>
          </a:prstGeom>
          <a:noFill/>
        </p:spPr>
        <p:txBody>
          <a:bodyPr vertOverflow="overflow" vert="horz" wrap="square" rtlCol="0" anchor="t">
            <a:spAutoFit/>
          </a:bodyPr>
          <a:lstStyle/>
          <a:p>
            <a:pPr algn="l"/>
            <a:r>
              <a:rPr lang="en-US" sz="1000" b="1">
                <a:solidFill>
                  <a:srgbClr val="5FD068"/>
                </a:solidFill>
              </a:rPr>
              <a:t>JSON Response</a:t>
            </a:r>
          </a:p>
        </p:txBody>
      </p:sp>
      <p:sp>
        <p:nvSpPr>
          <p:cNvPr id="16" name="Rectangle: Rounded Corners 15">
            <a:extLst>
              <a:ext uri="{FF2B5EF4-FFF2-40B4-BE49-F238E27FC236}">
                <a16:creationId xmlns:a16="http://schemas.microsoft.com/office/drawing/2014/main" id="{683BA0A0-59F5-42CF-877B-6D203C3CF12C}"/>
              </a:ext>
            </a:extLst>
          </p:cNvPr>
          <p:cNvSpPr/>
          <p:nvPr/>
        </p:nvSpPr>
        <p:spPr>
          <a:xfrm>
            <a:off x="6350000" y="736600"/>
            <a:ext cx="2032000" cy="1143000"/>
          </a:xfrm>
          <a:prstGeom prst="roundRect">
            <a:avLst/>
          </a:prstGeom>
          <a:solidFill>
            <a:srgbClr val="1A1D27"/>
          </a:solidFill>
          <a:ln w="25400" cap="flat" cmpd="sng" algn="ctr">
            <a:solidFill>
              <a:srgbClr val="5FD06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200" b="1">
                <a:solidFill>
                  <a:srgbClr val="5FD068"/>
                </a:solidFill>
              </a:rPr>
              <a:t>YOUR DATA
DataFrame
Dict / List</a:t>
            </a:r>
          </a:p>
        </p:txBody>
      </p:sp>
      <p:sp>
        <p:nvSpPr>
          <p:cNvPr id="17" name="Arrow: Right 16">
            <a:extLst>
              <a:ext uri="{FF2B5EF4-FFF2-40B4-BE49-F238E27FC236}">
                <a16:creationId xmlns:a16="http://schemas.microsoft.com/office/drawing/2014/main" id="{8CA2DE93-C3D7-433D-993D-D42FEBEE0C83}"/>
              </a:ext>
            </a:extLst>
          </p:cNvPr>
          <p:cNvSpPr/>
          <p:nvPr/>
        </p:nvSpPr>
        <p:spPr>
          <a:xfrm>
            <a:off x="6311900" y="1155700"/>
            <a:ext cx="127000" cy="304800"/>
          </a:xfrm>
          <a:prstGeom prst="rightArrow">
            <a:avLst/>
          </a:prstGeom>
          <a:solidFill>
            <a:srgbClr val="5FD06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Rectangle 17">
            <a:extLst>
              <a:ext uri="{FF2B5EF4-FFF2-40B4-BE49-F238E27FC236}">
                <a16:creationId xmlns:a16="http://schemas.microsoft.com/office/drawing/2014/main" id="{E87176CB-633C-49F2-AA1E-6117043DC274}"/>
              </a:ext>
            </a:extLst>
          </p:cNvPr>
          <p:cNvSpPr/>
          <p:nvPr/>
        </p:nvSpPr>
        <p:spPr>
          <a:xfrm>
            <a:off x="8636000" y="736600"/>
            <a:ext cx="3302000" cy="2540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900">
                <a:solidFill>
                  <a:srgbClr val="808080"/>
                </a:solidFill>
                <a:latin typeface="Consolas"/>
              </a:rPr>
              <a:t>  JSON Response</a:t>
            </a:r>
          </a:p>
        </p:txBody>
      </p:sp>
      <p:sp>
        <p:nvSpPr>
          <p:cNvPr id="19" name="Rectangle 18">
            <a:extLst>
              <a:ext uri="{FF2B5EF4-FFF2-40B4-BE49-F238E27FC236}">
                <a16:creationId xmlns:a16="http://schemas.microsoft.com/office/drawing/2014/main" id="{2125357A-FBA7-4EC8-8F31-8B1D40842646}"/>
              </a:ext>
            </a:extLst>
          </p:cNvPr>
          <p:cNvSpPr/>
          <p:nvPr/>
        </p:nvSpPr>
        <p:spPr>
          <a:xfrm>
            <a:off x="8636000" y="990600"/>
            <a:ext cx="3302000" cy="889000"/>
          </a:xfrm>
          <a:prstGeom prst="rect">
            <a:avLst/>
          </a:prstGeom>
          <a:solidFill>
            <a:srgbClr val="0C0C0C"/>
          </a:solidFill>
          <a:ln w="12700" cap="flat" cmpd="sng" algn="ctr">
            <a:solidFill>
              <a:srgbClr val="33333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oAutofit/>
          </a:bodyPr>
          <a:lstStyle/>
          <a:p>
            <a:pPr algn="l"/>
            <a:r>
              <a:rPr lang="en-US" sz="1000">
                <a:solidFill>
                  <a:srgbClr val="DCDCAA"/>
                </a:solidFill>
                <a:latin typeface="Consolas"/>
              </a:rPr>
              <a:t>{
  "symbol": "SPY",
  "price": 587.42,
  "volume": 48230100
}</a:t>
            </a:r>
          </a:p>
        </p:txBody>
      </p:sp>
      <p:sp>
        <p:nvSpPr>
          <p:cNvPr id="20" name="Rectangle 19">
            <a:extLst>
              <a:ext uri="{FF2B5EF4-FFF2-40B4-BE49-F238E27FC236}">
                <a16:creationId xmlns:a16="http://schemas.microsoft.com/office/drawing/2014/main" id="{F20C1C54-5762-4D23-B005-A1A8F548679A}"/>
              </a:ext>
            </a:extLst>
          </p:cNvPr>
          <p:cNvSpPr/>
          <p:nvPr/>
        </p:nvSpPr>
        <p:spPr>
          <a:xfrm>
            <a:off x="381000" y="2159000"/>
            <a:ext cx="7874000" cy="2794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900">
                <a:solidFill>
                  <a:srgbClr val="808080"/>
                </a:solidFill>
                <a:latin typeface="Consolas"/>
              </a:rPr>
              <a:t>  ⬤  Terminal — api_request.py</a:t>
            </a:r>
          </a:p>
        </p:txBody>
      </p:sp>
      <p:sp>
        <p:nvSpPr>
          <p:cNvPr id="21" name="Rectangle 20">
            <a:extLst>
              <a:ext uri="{FF2B5EF4-FFF2-40B4-BE49-F238E27FC236}">
                <a16:creationId xmlns:a16="http://schemas.microsoft.com/office/drawing/2014/main" id="{AF731163-C9DA-4C4B-B746-753A9652B37E}"/>
              </a:ext>
            </a:extLst>
          </p:cNvPr>
          <p:cNvSpPr/>
          <p:nvPr/>
        </p:nvSpPr>
        <p:spPr>
          <a:xfrm>
            <a:off x="381000" y="2438400"/>
            <a:ext cx="7874000" cy="1270000"/>
          </a:xfrm>
          <a:prstGeom prst="rect">
            <a:avLst/>
          </a:prstGeom>
          <a:solidFill>
            <a:srgbClr val="0C0C0C"/>
          </a:solidFill>
          <a:ln w="12700" cap="flat" cmpd="sng" algn="ctr">
            <a:solidFill>
              <a:srgbClr val="33333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oAutofit/>
          </a:bodyPr>
          <a:lstStyle/>
          <a:p>
            <a:pPr algn="l"/>
            <a:r>
              <a:rPr lang="en-US" sz="1100">
                <a:solidFill>
                  <a:srgbClr val="4EC9B0"/>
                </a:solidFill>
                <a:latin typeface="Consolas"/>
              </a:rPr>
              <a:t>import requests
import yfinance as yf
# yfinance wraps Yahoo Finance API
spy = yf.download('SPY', start='2024-01-01')
print(spy.tail())        # last 5 rows of data</a:t>
            </a:r>
          </a:p>
        </p:txBody>
      </p:sp>
      <p:sp>
        <p:nvSpPr>
          <p:cNvPr id="22" name="TextBox 21">
            <a:extLst>
              <a:ext uri="{FF2B5EF4-FFF2-40B4-BE49-F238E27FC236}">
                <a16:creationId xmlns:a16="http://schemas.microsoft.com/office/drawing/2014/main" id="{9FAED723-F261-48E1-BEAD-D7CBF77E45B8}"/>
              </a:ext>
            </a:extLst>
          </p:cNvPr>
          <p:cNvSpPr txBox="1"/>
          <p:nvPr/>
        </p:nvSpPr>
        <p:spPr>
          <a:xfrm>
            <a:off x="381000" y="3784600"/>
            <a:ext cx="11557000" cy="1841500"/>
          </a:xfrm>
          <a:prstGeom prst="rect">
            <a:avLst/>
          </a:prstGeom>
          <a:noFill/>
        </p:spPr>
        <p:txBody>
          <a:bodyPr vertOverflow="overflow" vert="horz" wrap="square" rtlCol="0" anchor="t">
            <a:spAutoFit/>
          </a:bodyPr>
          <a:lstStyle/>
          <a:p>
            <a:pPr algn="l"/>
            <a:r>
              <a:rPr lang="en-US" sz="1200">
                <a:solidFill>
                  <a:srgbClr val="D0D4DC"/>
                </a:solidFill>
              </a:rPr>
              <a:t>An API (Application Programming Interface) is how your Python code requests data from external services. You send a request, the server processes it, and sends back structured data — usually JSON.
For quant finance, your main data sources:
• yfinance — free Yahoo Finance wrapper for stock prices, volumes, and fundamentals
• FRED (Federal Reserve) — macroeconomic data: GDP, inflation, interest rates, unemployment
• Polygon.io — real-time and historical market data (free tier available)
• Bloomberg Terminal API — institutional-grade data (available at NYU Stern)
JSON is the standard data format: key-value pairs that Python reads as dictionaries. Libraries like yfinance handle the API calls for you — you just call the function and get a DataFrame back.</a:t>
            </a:r>
          </a:p>
        </p:txBody>
      </p:sp>
    </p:spTree>
    <p:extLst>
      <p:ext uri="{BB962C8B-B14F-4D97-AF65-F5344CB8AC3E}">
        <p14:creationId xmlns:p14="http://schemas.microsoft.com/office/powerpoint/2010/main" val="1333728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E6BA0-7ADA-EB67-6051-457B99ED7D98}"/>
              </a:ext>
            </a:extLst>
          </p:cNvPr>
          <p:cNvSpPr>
            <a:spLocks noGrp="1"/>
          </p:cNvSpPr>
          <p:nvPr>
            <p:ph type="title"/>
          </p:nvPr>
        </p:nvSpPr>
        <p:spPr/>
        <p:txBody>
          <a:bodyPr>
            <a:normAutofit/>
          </a:bodyPr>
          <a:lstStyle/>
          <a:p>
            <a:r>
              <a:rPr lang="en-US" sz="2800" b="1" dirty="0"/>
              <a:t>Context Window Management &amp; Claude.md</a:t>
            </a:r>
          </a:p>
        </p:txBody>
      </p:sp>
      <p:sp>
        <p:nvSpPr>
          <p:cNvPr id="3" name="Text Placeholder 2">
            <a:extLst>
              <a:ext uri="{FF2B5EF4-FFF2-40B4-BE49-F238E27FC236}">
                <a16:creationId xmlns:a16="http://schemas.microsoft.com/office/drawing/2014/main" id="{2AB610BB-4E45-AD83-8349-A6CC2F6E0778}"/>
              </a:ext>
            </a:extLst>
          </p:cNvPr>
          <p:cNvSpPr>
            <a:spLocks noGrp="1"/>
          </p:cNvSpPr>
          <p:nvPr>
            <p:ph type="body" idx="1"/>
          </p:nvPr>
        </p:nvSpPr>
        <p:spPr/>
        <p:txBody>
          <a:bodyPr>
            <a:normAutofit/>
          </a:bodyPr>
          <a:lstStyle/>
          <a:p>
            <a:r>
              <a:rPr lang="en-US" sz="1600"/>
              <a:t>Section 10  —  The hidden skill that makes every Claude session dramatically more effective</a:t>
            </a:r>
          </a:p>
        </p:txBody>
      </p:sp>
      <p:pic>
        <p:nvPicPr>
          <p:cNvPr id="4" name="Graphic 4" descr="Context window lightbulb ico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14000" y="1968500"/>
            <a:ext cx="762000" cy="762000"/>
          </a:xfrm>
          <a:prstGeom prst="rect">
            <a:avLst/>
          </a:prstGeom>
        </p:spPr>
      </p:pic>
    </p:spTree>
    <p:extLst>
      <p:ext uri="{BB962C8B-B14F-4D97-AF65-F5344CB8AC3E}">
        <p14:creationId xmlns:p14="http://schemas.microsoft.com/office/powerpoint/2010/main" val="41359837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13BF9AB-5EDC-4AC8-B196-6EBBF0E51148}"/>
              </a:ext>
            </a:extLst>
          </p:cNvPr>
          <p:cNvSpPr txBox="1"/>
          <p:nvPr/>
        </p:nvSpPr>
        <p:spPr>
          <a:xfrm>
            <a:off x="381000" y="127000"/>
            <a:ext cx="11430000" cy="508000"/>
          </a:xfrm>
          <a:prstGeom prst="rect">
            <a:avLst/>
          </a:prstGeom>
          <a:noFill/>
        </p:spPr>
        <p:txBody>
          <a:bodyPr vertOverflow="overflow" vert="horz" wrap="square" rtlCol="0" anchor="t">
            <a:spAutoFit/>
          </a:bodyPr>
          <a:lstStyle/>
          <a:p>
            <a:pPr algn="l"/>
            <a:r>
              <a:rPr lang="en-US" sz="2200" b="1">
                <a:solidFill>
                  <a:srgbClr val="F0F0F0"/>
                </a:solidFill>
              </a:rPr>
              <a:t>Context Windows: Why Claude Gets Worse Over Time</a:t>
            </a:r>
          </a:p>
        </p:txBody>
      </p:sp>
      <p:sp>
        <p:nvSpPr>
          <p:cNvPr id="3" name="TextBox 2">
            <a:extLst>
              <a:ext uri="{FF2B5EF4-FFF2-40B4-BE49-F238E27FC236}">
                <a16:creationId xmlns:a16="http://schemas.microsoft.com/office/drawing/2014/main" id="{8B8B6B4A-CA3E-4D1E-9805-BC2DAC4BC470}"/>
              </a:ext>
            </a:extLst>
          </p:cNvPr>
          <p:cNvSpPr txBox="1"/>
          <p:nvPr/>
        </p:nvSpPr>
        <p:spPr>
          <a:xfrm>
            <a:off x="381000" y="673100"/>
            <a:ext cx="6350000" cy="228600"/>
          </a:xfrm>
          <a:prstGeom prst="rect">
            <a:avLst/>
          </a:prstGeom>
          <a:noFill/>
        </p:spPr>
        <p:txBody>
          <a:bodyPr vertOverflow="overflow" vert="horz" wrap="square" rtlCol="0" anchor="t">
            <a:spAutoFit/>
          </a:bodyPr>
          <a:lstStyle/>
          <a:p>
            <a:pPr algn="l"/>
            <a:r>
              <a:rPr lang="en-US" sz="900" b="1">
                <a:solidFill>
                  <a:srgbClr val="808080"/>
                </a:solidFill>
              </a:rPr>
              <a:t>CONTEXT WINDOW — QUALITY OVER A LONG SESSION</a:t>
            </a:r>
          </a:p>
        </p:txBody>
      </p:sp>
      <p:sp>
        <p:nvSpPr>
          <p:cNvPr id="4" name="Rectangle 3">
            <a:extLst>
              <a:ext uri="{FF2B5EF4-FFF2-40B4-BE49-F238E27FC236}">
                <a16:creationId xmlns:a16="http://schemas.microsoft.com/office/drawing/2014/main" id="{A9319080-FA0C-453A-BB1B-AAB0E0997E66}"/>
              </a:ext>
            </a:extLst>
          </p:cNvPr>
          <p:cNvSpPr/>
          <p:nvPr/>
        </p:nvSpPr>
        <p:spPr>
          <a:xfrm>
            <a:off x="381000" y="901700"/>
            <a:ext cx="1270000" cy="508000"/>
          </a:xfrm>
          <a:prstGeom prst="rect">
            <a:avLst/>
          </a:prstGeom>
          <a:solidFill>
            <a:srgbClr val="1A1D27"/>
          </a:solidFill>
          <a:ln w="12700" cap="flat" cmpd="sng" algn="ctr">
            <a:solidFill>
              <a:srgbClr val="33333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oAutofit/>
          </a:bodyPr>
          <a:lstStyle/>
          <a:p>
            <a:pPr algn="l"/>
            <a:endParaRPr lang="en-US"/>
          </a:p>
        </p:txBody>
      </p:sp>
      <p:sp>
        <p:nvSpPr>
          <p:cNvPr id="5" name="Rectangle 4">
            <a:extLst>
              <a:ext uri="{FF2B5EF4-FFF2-40B4-BE49-F238E27FC236}">
                <a16:creationId xmlns:a16="http://schemas.microsoft.com/office/drawing/2014/main" id="{0BA2440D-70B9-49CE-8054-C45A75C3C7BB}"/>
              </a:ext>
            </a:extLst>
          </p:cNvPr>
          <p:cNvSpPr/>
          <p:nvPr/>
        </p:nvSpPr>
        <p:spPr>
          <a:xfrm>
            <a:off x="381000" y="901700"/>
            <a:ext cx="1270000" cy="508000"/>
          </a:xfrm>
          <a:prstGeom prst="rect">
            <a:avLst/>
          </a:prstGeom>
          <a:solidFill>
            <a:srgbClr val="5FD06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00" b="1">
                <a:solidFill>
                  <a:srgbClr val="0F1117"/>
                </a:solidFill>
              </a:rPr>
              <a:t>100%</a:t>
            </a:r>
          </a:p>
        </p:txBody>
      </p:sp>
      <p:sp>
        <p:nvSpPr>
          <p:cNvPr id="6" name="TextBox 5">
            <a:extLst>
              <a:ext uri="{FF2B5EF4-FFF2-40B4-BE49-F238E27FC236}">
                <a16:creationId xmlns:a16="http://schemas.microsoft.com/office/drawing/2014/main" id="{9920BCC5-FA90-4F5E-A351-2BF421A1E042}"/>
              </a:ext>
            </a:extLst>
          </p:cNvPr>
          <p:cNvSpPr txBox="1"/>
          <p:nvPr/>
        </p:nvSpPr>
        <p:spPr>
          <a:xfrm>
            <a:off x="381000" y="1435100"/>
            <a:ext cx="1270000" cy="203200"/>
          </a:xfrm>
          <a:prstGeom prst="rect">
            <a:avLst/>
          </a:prstGeom>
          <a:noFill/>
        </p:spPr>
        <p:txBody>
          <a:bodyPr vertOverflow="overflow" vert="horz" wrap="square" rtlCol="0" anchor="t">
            <a:spAutoFit/>
          </a:bodyPr>
          <a:lstStyle/>
          <a:p>
            <a:pPr algn="l"/>
            <a:r>
              <a:rPr lang="en-US" sz="900" b="1">
                <a:solidFill>
                  <a:srgbClr val="5FD068"/>
                </a:solidFill>
              </a:rPr>
              <a:t>Start</a:t>
            </a:r>
          </a:p>
        </p:txBody>
      </p:sp>
      <p:sp>
        <p:nvSpPr>
          <p:cNvPr id="7" name="Rectangle 6">
            <a:extLst>
              <a:ext uri="{FF2B5EF4-FFF2-40B4-BE49-F238E27FC236}">
                <a16:creationId xmlns:a16="http://schemas.microsoft.com/office/drawing/2014/main" id="{33FD2FA6-EECC-4C50-856C-C3B80E22E88E}"/>
              </a:ext>
            </a:extLst>
          </p:cNvPr>
          <p:cNvSpPr/>
          <p:nvPr/>
        </p:nvSpPr>
        <p:spPr>
          <a:xfrm>
            <a:off x="1651000" y="901700"/>
            <a:ext cx="1270000" cy="508000"/>
          </a:xfrm>
          <a:prstGeom prst="rect">
            <a:avLst/>
          </a:prstGeom>
          <a:solidFill>
            <a:srgbClr val="1A1D27"/>
          </a:solidFill>
          <a:ln w="12700" cap="flat" cmpd="sng" algn="ctr">
            <a:solidFill>
              <a:srgbClr val="33333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oAutofit/>
          </a:bodyPr>
          <a:lstStyle/>
          <a:p>
            <a:pPr algn="l"/>
            <a:endParaRPr lang="en-US"/>
          </a:p>
        </p:txBody>
      </p:sp>
      <p:sp>
        <p:nvSpPr>
          <p:cNvPr id="8" name="Rectangle 7">
            <a:extLst>
              <a:ext uri="{FF2B5EF4-FFF2-40B4-BE49-F238E27FC236}">
                <a16:creationId xmlns:a16="http://schemas.microsoft.com/office/drawing/2014/main" id="{6BBAC540-94BB-4FC3-BD46-3B49A3ACD76D}"/>
              </a:ext>
            </a:extLst>
          </p:cNvPr>
          <p:cNvSpPr/>
          <p:nvPr/>
        </p:nvSpPr>
        <p:spPr>
          <a:xfrm>
            <a:off x="1651000" y="977900"/>
            <a:ext cx="1270000" cy="431800"/>
          </a:xfrm>
          <a:prstGeom prst="rect">
            <a:avLst/>
          </a:prstGeom>
          <a:solidFill>
            <a:srgbClr val="A8D84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00" b="1">
                <a:solidFill>
                  <a:srgbClr val="0F1117"/>
                </a:solidFill>
              </a:rPr>
              <a:t>85%</a:t>
            </a:r>
          </a:p>
        </p:txBody>
      </p:sp>
      <p:sp>
        <p:nvSpPr>
          <p:cNvPr id="9" name="TextBox 8">
            <a:extLst>
              <a:ext uri="{FF2B5EF4-FFF2-40B4-BE49-F238E27FC236}">
                <a16:creationId xmlns:a16="http://schemas.microsoft.com/office/drawing/2014/main" id="{09D52AC1-2635-4B8B-823E-6EB08F09DD6E}"/>
              </a:ext>
            </a:extLst>
          </p:cNvPr>
          <p:cNvSpPr txBox="1"/>
          <p:nvPr/>
        </p:nvSpPr>
        <p:spPr>
          <a:xfrm>
            <a:off x="1651000" y="1435100"/>
            <a:ext cx="1270000" cy="203200"/>
          </a:xfrm>
          <a:prstGeom prst="rect">
            <a:avLst/>
          </a:prstGeom>
          <a:noFill/>
        </p:spPr>
        <p:txBody>
          <a:bodyPr vertOverflow="overflow" vert="horz" wrap="square" rtlCol="0" anchor="t">
            <a:spAutoFit/>
          </a:bodyPr>
          <a:lstStyle/>
          <a:p>
            <a:pPr algn="l"/>
            <a:r>
              <a:rPr lang="en-US" sz="900" b="1">
                <a:solidFill>
                  <a:srgbClr val="A8D84E"/>
                </a:solidFill>
              </a:rPr>
              <a:t>10 min</a:t>
            </a:r>
          </a:p>
        </p:txBody>
      </p:sp>
      <p:sp>
        <p:nvSpPr>
          <p:cNvPr id="10" name="Rectangle 9">
            <a:extLst>
              <a:ext uri="{FF2B5EF4-FFF2-40B4-BE49-F238E27FC236}">
                <a16:creationId xmlns:a16="http://schemas.microsoft.com/office/drawing/2014/main" id="{0BF8A97B-522A-4432-9F10-5E07940FDF61}"/>
              </a:ext>
            </a:extLst>
          </p:cNvPr>
          <p:cNvSpPr/>
          <p:nvPr/>
        </p:nvSpPr>
        <p:spPr>
          <a:xfrm>
            <a:off x="2921000" y="901700"/>
            <a:ext cx="1270000" cy="508000"/>
          </a:xfrm>
          <a:prstGeom prst="rect">
            <a:avLst/>
          </a:prstGeom>
          <a:solidFill>
            <a:srgbClr val="1A1D27"/>
          </a:solidFill>
          <a:ln w="12700" cap="flat" cmpd="sng" algn="ctr">
            <a:solidFill>
              <a:srgbClr val="33333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oAutofit/>
          </a:bodyPr>
          <a:lstStyle/>
          <a:p>
            <a:pPr algn="l"/>
            <a:endParaRPr lang="en-US"/>
          </a:p>
        </p:txBody>
      </p:sp>
      <p:sp>
        <p:nvSpPr>
          <p:cNvPr id="11" name="Rectangle 10">
            <a:extLst>
              <a:ext uri="{FF2B5EF4-FFF2-40B4-BE49-F238E27FC236}">
                <a16:creationId xmlns:a16="http://schemas.microsoft.com/office/drawing/2014/main" id="{E36052C7-BB21-4C84-AD60-E0DE2C227805}"/>
              </a:ext>
            </a:extLst>
          </p:cNvPr>
          <p:cNvSpPr/>
          <p:nvPr/>
        </p:nvSpPr>
        <p:spPr>
          <a:xfrm>
            <a:off x="2921000" y="1104900"/>
            <a:ext cx="1270000" cy="304800"/>
          </a:xfrm>
          <a:prstGeom prst="rect">
            <a:avLst/>
          </a:prstGeom>
          <a:solidFill>
            <a:srgbClr val="FFD43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00" b="1">
                <a:solidFill>
                  <a:srgbClr val="0F1117"/>
                </a:solidFill>
              </a:rPr>
              <a:t>60%</a:t>
            </a:r>
          </a:p>
        </p:txBody>
      </p:sp>
      <p:sp>
        <p:nvSpPr>
          <p:cNvPr id="12" name="TextBox 11">
            <a:extLst>
              <a:ext uri="{FF2B5EF4-FFF2-40B4-BE49-F238E27FC236}">
                <a16:creationId xmlns:a16="http://schemas.microsoft.com/office/drawing/2014/main" id="{8902D288-0D9E-441E-B46D-CFB0CAFC0CBA}"/>
              </a:ext>
            </a:extLst>
          </p:cNvPr>
          <p:cNvSpPr txBox="1"/>
          <p:nvPr/>
        </p:nvSpPr>
        <p:spPr>
          <a:xfrm>
            <a:off x="2921000" y="1435100"/>
            <a:ext cx="1270000" cy="203200"/>
          </a:xfrm>
          <a:prstGeom prst="rect">
            <a:avLst/>
          </a:prstGeom>
          <a:noFill/>
        </p:spPr>
        <p:txBody>
          <a:bodyPr vertOverflow="overflow" vert="horz" wrap="square" rtlCol="0" anchor="t">
            <a:spAutoFit/>
          </a:bodyPr>
          <a:lstStyle/>
          <a:p>
            <a:pPr algn="l"/>
            <a:r>
              <a:rPr lang="en-US" sz="900" b="1">
                <a:solidFill>
                  <a:srgbClr val="FFD43B"/>
                </a:solidFill>
              </a:rPr>
              <a:t>30 min</a:t>
            </a:r>
          </a:p>
        </p:txBody>
      </p:sp>
      <p:sp>
        <p:nvSpPr>
          <p:cNvPr id="13" name="Rectangle 12">
            <a:extLst>
              <a:ext uri="{FF2B5EF4-FFF2-40B4-BE49-F238E27FC236}">
                <a16:creationId xmlns:a16="http://schemas.microsoft.com/office/drawing/2014/main" id="{D1F672BA-3162-4A2C-8AB1-50057A8481FA}"/>
              </a:ext>
            </a:extLst>
          </p:cNvPr>
          <p:cNvSpPr/>
          <p:nvPr/>
        </p:nvSpPr>
        <p:spPr>
          <a:xfrm>
            <a:off x="4191000" y="901700"/>
            <a:ext cx="1270000" cy="508000"/>
          </a:xfrm>
          <a:prstGeom prst="rect">
            <a:avLst/>
          </a:prstGeom>
          <a:solidFill>
            <a:srgbClr val="1A1D27"/>
          </a:solidFill>
          <a:ln w="12700" cap="flat" cmpd="sng" algn="ctr">
            <a:solidFill>
              <a:srgbClr val="33333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oAutofit/>
          </a:bodyPr>
          <a:lstStyle/>
          <a:p>
            <a:pPr algn="l"/>
            <a:endParaRPr lang="en-US"/>
          </a:p>
        </p:txBody>
      </p:sp>
      <p:sp>
        <p:nvSpPr>
          <p:cNvPr id="14" name="Rectangle 13">
            <a:extLst>
              <a:ext uri="{FF2B5EF4-FFF2-40B4-BE49-F238E27FC236}">
                <a16:creationId xmlns:a16="http://schemas.microsoft.com/office/drawing/2014/main" id="{ADC3A895-FB6B-415E-8A3B-A5260C583087}"/>
              </a:ext>
            </a:extLst>
          </p:cNvPr>
          <p:cNvSpPr/>
          <p:nvPr/>
        </p:nvSpPr>
        <p:spPr>
          <a:xfrm>
            <a:off x="4191000" y="1231900"/>
            <a:ext cx="1270000" cy="177800"/>
          </a:xfrm>
          <a:prstGeom prst="rect">
            <a:avLst/>
          </a:prstGeom>
          <a:solidFill>
            <a:srgbClr val="FF9F4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00" b="1">
                <a:solidFill>
                  <a:srgbClr val="FFFFFF"/>
                </a:solidFill>
              </a:rPr>
              <a:t>35%</a:t>
            </a:r>
          </a:p>
        </p:txBody>
      </p:sp>
      <p:sp>
        <p:nvSpPr>
          <p:cNvPr id="15" name="TextBox 14">
            <a:extLst>
              <a:ext uri="{FF2B5EF4-FFF2-40B4-BE49-F238E27FC236}">
                <a16:creationId xmlns:a16="http://schemas.microsoft.com/office/drawing/2014/main" id="{3E42B1E0-33A5-4A86-977E-6FBAE2663BF5}"/>
              </a:ext>
            </a:extLst>
          </p:cNvPr>
          <p:cNvSpPr txBox="1"/>
          <p:nvPr/>
        </p:nvSpPr>
        <p:spPr>
          <a:xfrm>
            <a:off x="4191000" y="1435100"/>
            <a:ext cx="1270000" cy="203200"/>
          </a:xfrm>
          <a:prstGeom prst="rect">
            <a:avLst/>
          </a:prstGeom>
          <a:noFill/>
        </p:spPr>
        <p:txBody>
          <a:bodyPr vertOverflow="overflow" vert="horz" wrap="square" rtlCol="0" anchor="t">
            <a:spAutoFit/>
          </a:bodyPr>
          <a:lstStyle/>
          <a:p>
            <a:pPr algn="l"/>
            <a:r>
              <a:rPr lang="en-US" sz="900" b="1">
                <a:solidFill>
                  <a:srgbClr val="FF9F43"/>
                </a:solidFill>
              </a:rPr>
              <a:t>1 hour</a:t>
            </a:r>
          </a:p>
        </p:txBody>
      </p:sp>
      <p:sp>
        <p:nvSpPr>
          <p:cNvPr id="16" name="Rectangle 15">
            <a:extLst>
              <a:ext uri="{FF2B5EF4-FFF2-40B4-BE49-F238E27FC236}">
                <a16:creationId xmlns:a16="http://schemas.microsoft.com/office/drawing/2014/main" id="{A518D3F3-D148-43B8-B2BC-4044925FB925}"/>
              </a:ext>
            </a:extLst>
          </p:cNvPr>
          <p:cNvSpPr/>
          <p:nvPr/>
        </p:nvSpPr>
        <p:spPr>
          <a:xfrm>
            <a:off x="5461000" y="901700"/>
            <a:ext cx="1270000" cy="508000"/>
          </a:xfrm>
          <a:prstGeom prst="rect">
            <a:avLst/>
          </a:prstGeom>
          <a:solidFill>
            <a:srgbClr val="1A1D27"/>
          </a:solidFill>
          <a:ln w="12700" cap="flat" cmpd="sng" algn="ctr">
            <a:solidFill>
              <a:srgbClr val="33333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oAutofit/>
          </a:bodyPr>
          <a:lstStyle/>
          <a:p>
            <a:pPr algn="l"/>
            <a:endParaRPr lang="en-US"/>
          </a:p>
        </p:txBody>
      </p:sp>
      <p:sp>
        <p:nvSpPr>
          <p:cNvPr id="17" name="Rectangle 16">
            <a:extLst>
              <a:ext uri="{FF2B5EF4-FFF2-40B4-BE49-F238E27FC236}">
                <a16:creationId xmlns:a16="http://schemas.microsoft.com/office/drawing/2014/main" id="{BDAB5E7F-6B47-4753-A326-8EDAA90C04A1}"/>
              </a:ext>
            </a:extLst>
          </p:cNvPr>
          <p:cNvSpPr/>
          <p:nvPr/>
        </p:nvSpPr>
        <p:spPr>
          <a:xfrm>
            <a:off x="5461000" y="1333500"/>
            <a:ext cx="1270000" cy="76200"/>
          </a:xfrm>
          <a:prstGeom prst="rect">
            <a:avLst/>
          </a:prstGeom>
          <a:solidFill>
            <a:srgbClr val="FF6B6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00" b="1">
                <a:solidFill>
                  <a:srgbClr val="FFFFFF"/>
                </a:solidFill>
              </a:rPr>
              <a:t>15%</a:t>
            </a:r>
          </a:p>
        </p:txBody>
      </p:sp>
      <p:sp>
        <p:nvSpPr>
          <p:cNvPr id="18" name="TextBox 17">
            <a:extLst>
              <a:ext uri="{FF2B5EF4-FFF2-40B4-BE49-F238E27FC236}">
                <a16:creationId xmlns:a16="http://schemas.microsoft.com/office/drawing/2014/main" id="{8D81D6EC-BD10-4526-8DE8-D86FA24CFF6D}"/>
              </a:ext>
            </a:extLst>
          </p:cNvPr>
          <p:cNvSpPr txBox="1"/>
          <p:nvPr/>
        </p:nvSpPr>
        <p:spPr>
          <a:xfrm>
            <a:off x="5461000" y="1435100"/>
            <a:ext cx="1270000" cy="203200"/>
          </a:xfrm>
          <a:prstGeom prst="rect">
            <a:avLst/>
          </a:prstGeom>
          <a:noFill/>
        </p:spPr>
        <p:txBody>
          <a:bodyPr vertOverflow="overflow" vert="horz" wrap="square" rtlCol="0" anchor="t">
            <a:spAutoFit/>
          </a:bodyPr>
          <a:lstStyle/>
          <a:p>
            <a:pPr algn="l"/>
            <a:r>
              <a:rPr lang="en-US" sz="900" b="1">
                <a:solidFill>
                  <a:srgbClr val="FF6B6B"/>
                </a:solidFill>
              </a:rPr>
              <a:t>2+ hours</a:t>
            </a:r>
          </a:p>
        </p:txBody>
      </p:sp>
      <p:sp>
        <p:nvSpPr>
          <p:cNvPr id="19" name="Arrow: Right 18">
            <a:extLst>
              <a:ext uri="{FF2B5EF4-FFF2-40B4-BE49-F238E27FC236}">
                <a16:creationId xmlns:a16="http://schemas.microsoft.com/office/drawing/2014/main" id="{3A0AA180-1C59-40FA-A5A8-DF0079D12494}"/>
              </a:ext>
            </a:extLst>
          </p:cNvPr>
          <p:cNvSpPr/>
          <p:nvPr/>
        </p:nvSpPr>
        <p:spPr>
          <a:xfrm>
            <a:off x="6832600" y="1054100"/>
            <a:ext cx="457200" cy="228600"/>
          </a:xfrm>
          <a:prstGeom prst="rightArrow">
            <a:avLst/>
          </a:prstGeom>
          <a:solidFill>
            <a:srgbClr val="FF6B6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TextBox 19">
            <a:extLst>
              <a:ext uri="{FF2B5EF4-FFF2-40B4-BE49-F238E27FC236}">
                <a16:creationId xmlns:a16="http://schemas.microsoft.com/office/drawing/2014/main" id="{49EFCF4F-3C14-4FF8-AA46-AAF67959E539}"/>
              </a:ext>
            </a:extLst>
          </p:cNvPr>
          <p:cNvSpPr txBox="1"/>
          <p:nvPr/>
        </p:nvSpPr>
        <p:spPr>
          <a:xfrm>
            <a:off x="7366000" y="952500"/>
            <a:ext cx="698500" cy="431800"/>
          </a:xfrm>
          <a:prstGeom prst="rect">
            <a:avLst/>
          </a:prstGeom>
          <a:noFill/>
        </p:spPr>
        <p:txBody>
          <a:bodyPr vertOverflow="overflow" vert="horz" wrap="square" rtlCol="0" anchor="t">
            <a:spAutoFit/>
          </a:bodyPr>
          <a:lstStyle/>
          <a:p>
            <a:pPr algn="l"/>
            <a:r>
              <a:rPr lang="en-US" sz="900" b="1">
                <a:solidFill>
                  <a:srgbClr val="FF6B6B"/>
                </a:solidFill>
              </a:rPr>
              <a:t>QUALITY
DROPS</a:t>
            </a:r>
          </a:p>
        </p:txBody>
      </p:sp>
      <p:sp>
        <p:nvSpPr>
          <p:cNvPr id="21" name="TextBox 20">
            <a:extLst>
              <a:ext uri="{FF2B5EF4-FFF2-40B4-BE49-F238E27FC236}">
                <a16:creationId xmlns:a16="http://schemas.microsoft.com/office/drawing/2014/main" id="{A2702761-67DD-4890-99F5-A96412958BCD}"/>
              </a:ext>
            </a:extLst>
          </p:cNvPr>
          <p:cNvSpPr txBox="1"/>
          <p:nvPr/>
        </p:nvSpPr>
        <p:spPr>
          <a:xfrm>
            <a:off x="7937500" y="673100"/>
            <a:ext cx="4064000" cy="228600"/>
          </a:xfrm>
          <a:prstGeom prst="rect">
            <a:avLst/>
          </a:prstGeom>
          <a:noFill/>
        </p:spPr>
        <p:txBody>
          <a:bodyPr vertOverflow="overflow" vert="horz" wrap="square" rtlCol="0" anchor="t">
            <a:spAutoFit/>
          </a:bodyPr>
          <a:lstStyle/>
          <a:p>
            <a:pPr algn="l"/>
            <a:r>
              <a:rPr lang="en-US" sz="900" b="1">
                <a:solidFill>
                  <a:srgbClr val="FF6B6B"/>
                </a:solidFill>
              </a:rPr>
              <a:t>SIGNS YOUR CONTEXT IS POLLUTED</a:t>
            </a:r>
          </a:p>
        </p:txBody>
      </p:sp>
      <p:sp>
        <p:nvSpPr>
          <p:cNvPr id="22" name="TextBox 21">
            <a:extLst>
              <a:ext uri="{FF2B5EF4-FFF2-40B4-BE49-F238E27FC236}">
                <a16:creationId xmlns:a16="http://schemas.microsoft.com/office/drawing/2014/main" id="{6E48CC15-B905-40C2-884F-5575F99E4A72}"/>
              </a:ext>
            </a:extLst>
          </p:cNvPr>
          <p:cNvSpPr txBox="1"/>
          <p:nvPr/>
        </p:nvSpPr>
        <p:spPr>
          <a:xfrm>
            <a:off x="7937500" y="889000"/>
            <a:ext cx="4064000" cy="228600"/>
          </a:xfrm>
          <a:prstGeom prst="rect">
            <a:avLst/>
          </a:prstGeom>
          <a:noFill/>
        </p:spPr>
        <p:txBody>
          <a:bodyPr vertOverflow="overflow" vert="horz" wrap="square" rtlCol="0" anchor="t">
            <a:spAutoFit/>
          </a:bodyPr>
          <a:lstStyle/>
          <a:p>
            <a:pPr algn="l"/>
            <a:r>
              <a:rPr lang="en-US" sz="1000">
                <a:solidFill>
                  <a:srgbClr val="FFD43B"/>
                </a:solidFill>
              </a:rPr>
              <a:t>⚠ Gives worse answers than earlier</a:t>
            </a:r>
          </a:p>
        </p:txBody>
      </p:sp>
      <p:sp>
        <p:nvSpPr>
          <p:cNvPr id="23" name="TextBox 22">
            <a:extLst>
              <a:ext uri="{FF2B5EF4-FFF2-40B4-BE49-F238E27FC236}">
                <a16:creationId xmlns:a16="http://schemas.microsoft.com/office/drawing/2014/main" id="{9A5DEEAD-9866-45CA-9E42-387A7D015050}"/>
              </a:ext>
            </a:extLst>
          </p:cNvPr>
          <p:cNvSpPr txBox="1"/>
          <p:nvPr/>
        </p:nvSpPr>
        <p:spPr>
          <a:xfrm>
            <a:off x="7937500" y="1143000"/>
            <a:ext cx="4064000" cy="228600"/>
          </a:xfrm>
          <a:prstGeom prst="rect">
            <a:avLst/>
          </a:prstGeom>
          <a:noFill/>
        </p:spPr>
        <p:txBody>
          <a:bodyPr vertOverflow="overflow" vert="horz" wrap="square" rtlCol="0" anchor="t">
            <a:spAutoFit/>
          </a:bodyPr>
          <a:lstStyle/>
          <a:p>
            <a:pPr algn="l"/>
            <a:r>
              <a:rPr lang="en-US" sz="1000">
                <a:solidFill>
                  <a:srgbClr val="FFD43B"/>
                </a:solidFill>
              </a:rPr>
              <a:t>⚠ Forgets your instructions</a:t>
            </a:r>
          </a:p>
        </p:txBody>
      </p:sp>
      <p:sp>
        <p:nvSpPr>
          <p:cNvPr id="24" name="TextBox 23">
            <a:extLst>
              <a:ext uri="{FF2B5EF4-FFF2-40B4-BE49-F238E27FC236}">
                <a16:creationId xmlns:a16="http://schemas.microsoft.com/office/drawing/2014/main" id="{A93E1AA4-F3A8-499E-A11E-6A0585A8E565}"/>
              </a:ext>
            </a:extLst>
          </p:cNvPr>
          <p:cNvSpPr txBox="1"/>
          <p:nvPr/>
        </p:nvSpPr>
        <p:spPr>
          <a:xfrm>
            <a:off x="7937500" y="1397000"/>
            <a:ext cx="4064000" cy="228600"/>
          </a:xfrm>
          <a:prstGeom prst="rect">
            <a:avLst/>
          </a:prstGeom>
          <a:noFill/>
        </p:spPr>
        <p:txBody>
          <a:bodyPr vertOverflow="overflow" vert="horz" wrap="square" rtlCol="0" anchor="t">
            <a:spAutoFit/>
          </a:bodyPr>
          <a:lstStyle/>
          <a:p>
            <a:pPr algn="l"/>
            <a:r>
              <a:rPr lang="en-US" sz="1000">
                <a:solidFill>
                  <a:srgbClr val="FFD43B"/>
                </a:solidFill>
              </a:rPr>
              <a:t>⚠ Contradicts what it said before</a:t>
            </a:r>
          </a:p>
        </p:txBody>
      </p:sp>
      <p:sp>
        <p:nvSpPr>
          <p:cNvPr id="25" name="TextBox 24">
            <a:extLst>
              <a:ext uri="{FF2B5EF4-FFF2-40B4-BE49-F238E27FC236}">
                <a16:creationId xmlns:a16="http://schemas.microsoft.com/office/drawing/2014/main" id="{36C6E91D-2C7A-4545-9E2C-1FA2431C2175}"/>
              </a:ext>
            </a:extLst>
          </p:cNvPr>
          <p:cNvSpPr txBox="1"/>
          <p:nvPr/>
        </p:nvSpPr>
        <p:spPr>
          <a:xfrm>
            <a:off x="7937500" y="1651000"/>
            <a:ext cx="4064000" cy="228600"/>
          </a:xfrm>
          <a:prstGeom prst="rect">
            <a:avLst/>
          </a:prstGeom>
          <a:noFill/>
        </p:spPr>
        <p:txBody>
          <a:bodyPr vertOverflow="overflow" vert="horz" wrap="square" rtlCol="0" anchor="t">
            <a:spAutoFit/>
          </a:bodyPr>
          <a:lstStyle/>
          <a:p>
            <a:pPr algn="l"/>
            <a:r>
              <a:rPr lang="en-US" sz="1000">
                <a:solidFill>
                  <a:srgbClr val="FFD43B"/>
                </a:solidFill>
              </a:rPr>
              <a:t>⚠ Loses track of project structure</a:t>
            </a:r>
          </a:p>
        </p:txBody>
      </p:sp>
      <p:sp>
        <p:nvSpPr>
          <p:cNvPr id="26" name="TextBox 25">
            <a:extLst>
              <a:ext uri="{FF2B5EF4-FFF2-40B4-BE49-F238E27FC236}">
                <a16:creationId xmlns:a16="http://schemas.microsoft.com/office/drawing/2014/main" id="{170413A8-47AA-4FC7-9ED1-1D36265518FB}"/>
              </a:ext>
            </a:extLst>
          </p:cNvPr>
          <p:cNvSpPr txBox="1"/>
          <p:nvPr/>
        </p:nvSpPr>
        <p:spPr>
          <a:xfrm>
            <a:off x="381000" y="1968500"/>
            <a:ext cx="11557000" cy="254000"/>
          </a:xfrm>
          <a:prstGeom prst="rect">
            <a:avLst/>
          </a:prstGeom>
          <a:noFill/>
        </p:spPr>
        <p:txBody>
          <a:bodyPr vertOverflow="overflow" vert="horz" wrap="square" rtlCol="0" anchor="t">
            <a:spAutoFit/>
          </a:bodyPr>
          <a:lstStyle/>
          <a:p>
            <a:pPr algn="l"/>
            <a:r>
              <a:rPr lang="en-US" sz="1400" b="1">
                <a:solidFill>
                  <a:srgbClr val="F0F0F0"/>
                </a:solidFill>
              </a:rPr>
              <a:t>THE RESET STRATEGY</a:t>
            </a:r>
          </a:p>
        </p:txBody>
      </p:sp>
      <p:sp>
        <p:nvSpPr>
          <p:cNvPr id="27" name="Rectangle: Rounded Corners 26">
            <a:extLst>
              <a:ext uri="{FF2B5EF4-FFF2-40B4-BE49-F238E27FC236}">
                <a16:creationId xmlns:a16="http://schemas.microsoft.com/office/drawing/2014/main" id="{1CC5588E-04B1-4816-93E4-E492C0029751}"/>
              </a:ext>
            </a:extLst>
          </p:cNvPr>
          <p:cNvSpPr/>
          <p:nvPr/>
        </p:nvSpPr>
        <p:spPr>
          <a:xfrm>
            <a:off x="381000" y="2273300"/>
            <a:ext cx="5588000" cy="330200"/>
          </a:xfrm>
          <a:prstGeom prst="roundRect">
            <a:avLst/>
          </a:prstGeom>
          <a:solidFill>
            <a:srgbClr val="5FD06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100" b="1">
                <a:solidFill>
                  <a:srgbClr val="0F1117"/>
                </a:solidFill>
              </a:rPr>
              <a:t>✔  START A NEW CHAT WHEN...</a:t>
            </a:r>
          </a:p>
        </p:txBody>
      </p:sp>
      <p:sp>
        <p:nvSpPr>
          <p:cNvPr id="28" name="TextBox 27">
            <a:extLst>
              <a:ext uri="{FF2B5EF4-FFF2-40B4-BE49-F238E27FC236}">
                <a16:creationId xmlns:a16="http://schemas.microsoft.com/office/drawing/2014/main" id="{0A916849-4A2B-43D4-8FEF-A7CF95B02940}"/>
              </a:ext>
            </a:extLst>
          </p:cNvPr>
          <p:cNvSpPr txBox="1"/>
          <p:nvPr/>
        </p:nvSpPr>
        <p:spPr>
          <a:xfrm>
            <a:off x="444500" y="2628900"/>
            <a:ext cx="5461000" cy="863600"/>
          </a:xfrm>
          <a:prstGeom prst="rect">
            <a:avLst/>
          </a:prstGeom>
          <a:noFill/>
        </p:spPr>
        <p:txBody>
          <a:bodyPr vertOverflow="overflow" vert="horz" wrap="square" rtlCol="0" anchor="t">
            <a:spAutoFit/>
          </a:bodyPr>
          <a:lstStyle/>
          <a:p>
            <a:pPr algn="l"/>
            <a:r>
              <a:rPr lang="en-US" sz="1000">
                <a:solidFill>
                  <a:srgbClr val="D0D4DC"/>
                </a:solidFill>
              </a:rPr>
              <a:t>• Switching to a completely different task
• Claude starts giving confused or repetitive answers
• You have been going back and forth for 20+ messages
• The conversation has drifted far from your original goal</a:t>
            </a:r>
          </a:p>
        </p:txBody>
      </p:sp>
      <p:sp>
        <p:nvSpPr>
          <p:cNvPr id="29" name="Rectangle: Rounded Corners 28">
            <a:extLst>
              <a:ext uri="{FF2B5EF4-FFF2-40B4-BE49-F238E27FC236}">
                <a16:creationId xmlns:a16="http://schemas.microsoft.com/office/drawing/2014/main" id="{49DF9719-2EEF-400E-9647-56003A0AB263}"/>
              </a:ext>
            </a:extLst>
          </p:cNvPr>
          <p:cNvSpPr/>
          <p:nvPr/>
        </p:nvSpPr>
        <p:spPr>
          <a:xfrm>
            <a:off x="6350000" y="2273300"/>
            <a:ext cx="5588000" cy="330200"/>
          </a:xfrm>
          <a:prstGeom prst="roundRect">
            <a:avLst/>
          </a:prstGeom>
          <a:solidFill>
            <a:srgbClr val="54A0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100" b="1">
                <a:solidFill>
                  <a:srgbClr val="FFFFFF"/>
                </a:solidFill>
              </a:rPr>
              <a:t>↻  CONTINUE THE CHAT WHEN...</a:t>
            </a:r>
          </a:p>
        </p:txBody>
      </p:sp>
      <p:sp>
        <p:nvSpPr>
          <p:cNvPr id="30" name="TextBox 29">
            <a:extLst>
              <a:ext uri="{FF2B5EF4-FFF2-40B4-BE49-F238E27FC236}">
                <a16:creationId xmlns:a16="http://schemas.microsoft.com/office/drawing/2014/main" id="{7FEF27A7-657F-4F4F-8C2F-CE39EBEEA734}"/>
              </a:ext>
            </a:extLst>
          </p:cNvPr>
          <p:cNvSpPr txBox="1"/>
          <p:nvPr/>
        </p:nvSpPr>
        <p:spPr>
          <a:xfrm>
            <a:off x="6413500" y="2628900"/>
            <a:ext cx="5461000" cy="863600"/>
          </a:xfrm>
          <a:prstGeom prst="rect">
            <a:avLst/>
          </a:prstGeom>
          <a:noFill/>
        </p:spPr>
        <p:txBody>
          <a:bodyPr vertOverflow="overflow" vert="horz" wrap="square" rtlCol="0" anchor="t">
            <a:spAutoFit/>
          </a:bodyPr>
          <a:lstStyle/>
          <a:p>
            <a:pPr algn="l"/>
            <a:r>
              <a:rPr lang="en-US" sz="1000">
                <a:solidFill>
                  <a:srgbClr val="D0D4DC"/>
                </a:solidFill>
              </a:rPr>
              <a:t>• Iterating on the same piece of code
• Claude still remembers your project context accurately
• You are debugging something it just wrote
• The conversation is under 15 messages and on-topic</a:t>
            </a:r>
          </a:p>
        </p:txBody>
      </p:sp>
      <p:sp>
        <p:nvSpPr>
          <p:cNvPr id="31" name="Rectangle: Rounded Corners 30">
            <a:extLst>
              <a:ext uri="{FF2B5EF4-FFF2-40B4-BE49-F238E27FC236}">
                <a16:creationId xmlns:a16="http://schemas.microsoft.com/office/drawing/2014/main" id="{2DFF50EA-5F84-4A35-B43B-5B11E6889830}"/>
              </a:ext>
            </a:extLst>
          </p:cNvPr>
          <p:cNvSpPr/>
          <p:nvPr/>
        </p:nvSpPr>
        <p:spPr>
          <a:xfrm>
            <a:off x="381000" y="3492500"/>
            <a:ext cx="11557000" cy="355600"/>
          </a:xfrm>
          <a:prstGeom prst="roundRect">
            <a:avLst/>
          </a:prstGeom>
          <a:solidFill>
            <a:srgbClr val="6C5CE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400" b="1">
                <a:solidFill>
                  <a:srgbClr val="FFFFFF"/>
                </a:solidFill>
              </a:rPr>
              <a:t>🔓  THE UNLOCK: Claude.md — Persistent Context for Every Session</a:t>
            </a:r>
          </a:p>
        </p:txBody>
      </p:sp>
      <p:sp>
        <p:nvSpPr>
          <p:cNvPr id="32" name="TextBox 31">
            <a:extLst>
              <a:ext uri="{FF2B5EF4-FFF2-40B4-BE49-F238E27FC236}">
                <a16:creationId xmlns:a16="http://schemas.microsoft.com/office/drawing/2014/main" id="{D1199DA1-2449-456D-9A27-4B05724AAC4D}"/>
              </a:ext>
            </a:extLst>
          </p:cNvPr>
          <p:cNvSpPr txBox="1"/>
          <p:nvPr/>
        </p:nvSpPr>
        <p:spPr>
          <a:xfrm>
            <a:off x="381000" y="3898900"/>
            <a:ext cx="6413500" cy="711200"/>
          </a:xfrm>
          <a:prstGeom prst="rect">
            <a:avLst/>
          </a:prstGeom>
          <a:noFill/>
        </p:spPr>
        <p:txBody>
          <a:bodyPr vertOverflow="overflow" vert="horz" wrap="square" rtlCol="0" anchor="t">
            <a:spAutoFit/>
          </a:bodyPr>
          <a:lstStyle/>
          <a:p>
            <a:pPr algn="l"/>
            <a:r>
              <a:rPr lang="en-US" sz="1000">
                <a:solidFill>
                  <a:srgbClr val="D0D4DC"/>
                </a:solidFill>
              </a:rPr>
              <a:t>Claude.md is a file you create in your project repo that gives Claude persistent context about your project every time you start a new chat. Instead of re-explaining your stack, your conventions, and what you are building, Claude reads this file automatically and starts every session already up to speed.</a:t>
            </a:r>
          </a:p>
        </p:txBody>
      </p:sp>
      <p:sp>
        <p:nvSpPr>
          <p:cNvPr id="33" name="Rectangle 32">
            <a:extLst>
              <a:ext uri="{FF2B5EF4-FFF2-40B4-BE49-F238E27FC236}">
                <a16:creationId xmlns:a16="http://schemas.microsoft.com/office/drawing/2014/main" id="{69D455B9-CDB8-4334-9FBF-81897EBD77FC}"/>
              </a:ext>
            </a:extLst>
          </p:cNvPr>
          <p:cNvSpPr/>
          <p:nvPr/>
        </p:nvSpPr>
        <p:spPr>
          <a:xfrm>
            <a:off x="381000" y="4660900"/>
            <a:ext cx="6413500" cy="2540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800">
                <a:solidFill>
                  <a:srgbClr val="808080"/>
                </a:solidFill>
                <a:latin typeface="Consolas"/>
              </a:rPr>
              <a:t>  ⬤  Claude.md — example for a quant project</a:t>
            </a:r>
          </a:p>
        </p:txBody>
      </p:sp>
      <p:sp>
        <p:nvSpPr>
          <p:cNvPr id="34" name="Rectangle 33">
            <a:extLst>
              <a:ext uri="{FF2B5EF4-FFF2-40B4-BE49-F238E27FC236}">
                <a16:creationId xmlns:a16="http://schemas.microsoft.com/office/drawing/2014/main" id="{9F843D15-0692-4770-8D96-657C735F3C55}"/>
              </a:ext>
            </a:extLst>
          </p:cNvPr>
          <p:cNvSpPr/>
          <p:nvPr/>
        </p:nvSpPr>
        <p:spPr>
          <a:xfrm>
            <a:off x="381000" y="4914900"/>
            <a:ext cx="6413500" cy="1333500"/>
          </a:xfrm>
          <a:prstGeom prst="rect">
            <a:avLst/>
          </a:prstGeom>
          <a:solidFill>
            <a:srgbClr val="0C0C0C"/>
          </a:solidFill>
          <a:ln w="12700" cap="flat" cmpd="sng" algn="ctr">
            <a:solidFill>
              <a:srgbClr val="33333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oAutofit/>
          </a:bodyPr>
          <a:lstStyle/>
          <a:p>
            <a:pPr algn="l"/>
            <a:r>
              <a:rPr lang="en-US" sz="900">
                <a:solidFill>
                  <a:srgbClr val="4EC9B0"/>
                </a:solidFill>
                <a:latin typeface="Consolas"/>
              </a:rPr>
              <a:t># Claude.md
## Project: SPY Momentum Backtester
Stack: Python 3.11, pandas, numpy, matplotlib
Structure: data/ strategies/ backtest.py
Conventions: use yfinance for data, type hints
Goal: Backtest momentum strategies on SPY
Rules: always add docstrings, use .env for keys
Current: building rolling average crossover</a:t>
            </a:r>
          </a:p>
        </p:txBody>
      </p:sp>
      <p:sp>
        <p:nvSpPr>
          <p:cNvPr id="35" name="TextBox 34">
            <a:extLst>
              <a:ext uri="{FF2B5EF4-FFF2-40B4-BE49-F238E27FC236}">
                <a16:creationId xmlns:a16="http://schemas.microsoft.com/office/drawing/2014/main" id="{AC56E28F-BDD1-4683-B61D-DB061CE0719F}"/>
              </a:ext>
            </a:extLst>
          </p:cNvPr>
          <p:cNvSpPr txBox="1"/>
          <p:nvPr/>
        </p:nvSpPr>
        <p:spPr>
          <a:xfrm>
            <a:off x="7048500" y="3898900"/>
            <a:ext cx="4889500" cy="228600"/>
          </a:xfrm>
          <a:prstGeom prst="rect">
            <a:avLst/>
          </a:prstGeom>
          <a:noFill/>
        </p:spPr>
        <p:txBody>
          <a:bodyPr vertOverflow="overflow" vert="horz" wrap="square" rtlCol="0" anchor="t">
            <a:spAutoFit/>
          </a:bodyPr>
          <a:lstStyle/>
          <a:p>
            <a:pPr algn="l"/>
            <a:r>
              <a:rPr lang="en-US" sz="1000" b="1">
                <a:solidFill>
                  <a:srgbClr val="FFD43B"/>
                </a:solidFill>
              </a:rPr>
              <a:t>WHAT TO PUT IN YOUR Claude.md</a:t>
            </a:r>
          </a:p>
        </p:txBody>
      </p:sp>
      <p:sp>
        <p:nvSpPr>
          <p:cNvPr id="36" name="TextBox 35">
            <a:extLst>
              <a:ext uri="{FF2B5EF4-FFF2-40B4-BE49-F238E27FC236}">
                <a16:creationId xmlns:a16="http://schemas.microsoft.com/office/drawing/2014/main" id="{C4205DBA-8451-4A5D-8558-B50AEECD5783}"/>
              </a:ext>
            </a:extLst>
          </p:cNvPr>
          <p:cNvSpPr txBox="1"/>
          <p:nvPr/>
        </p:nvSpPr>
        <p:spPr>
          <a:xfrm>
            <a:off x="7048500" y="4178300"/>
            <a:ext cx="4889500" cy="228600"/>
          </a:xfrm>
          <a:prstGeom prst="rect">
            <a:avLst/>
          </a:prstGeom>
          <a:noFill/>
        </p:spPr>
        <p:txBody>
          <a:bodyPr vertOverflow="overflow" vert="horz" wrap="square" rtlCol="0" anchor="t">
            <a:spAutoFit/>
          </a:bodyPr>
          <a:lstStyle/>
          <a:p>
            <a:pPr algn="l"/>
            <a:r>
              <a:rPr lang="en-US" sz="1000">
                <a:solidFill>
                  <a:srgbClr val="5FD068"/>
                </a:solidFill>
              </a:rPr>
              <a:t>✔ Language and libraries (Python, pandas, etc.)</a:t>
            </a:r>
          </a:p>
        </p:txBody>
      </p:sp>
      <p:sp>
        <p:nvSpPr>
          <p:cNvPr id="37" name="TextBox 36">
            <a:extLst>
              <a:ext uri="{FF2B5EF4-FFF2-40B4-BE49-F238E27FC236}">
                <a16:creationId xmlns:a16="http://schemas.microsoft.com/office/drawing/2014/main" id="{467F2D38-2405-412C-8C1F-1D050B1D74F6}"/>
              </a:ext>
            </a:extLst>
          </p:cNvPr>
          <p:cNvSpPr txBox="1"/>
          <p:nvPr/>
        </p:nvSpPr>
        <p:spPr>
          <a:xfrm>
            <a:off x="7048500" y="4406900"/>
            <a:ext cx="4889500" cy="228600"/>
          </a:xfrm>
          <a:prstGeom prst="rect">
            <a:avLst/>
          </a:prstGeom>
          <a:noFill/>
        </p:spPr>
        <p:txBody>
          <a:bodyPr vertOverflow="overflow" vert="horz" wrap="square" rtlCol="0" anchor="t">
            <a:spAutoFit/>
          </a:bodyPr>
          <a:lstStyle/>
          <a:p>
            <a:pPr algn="l"/>
            <a:r>
              <a:rPr lang="en-US" sz="1000">
                <a:solidFill>
                  <a:srgbClr val="5FD068"/>
                </a:solidFill>
              </a:rPr>
              <a:t>✔ What the project does and its goal</a:t>
            </a:r>
          </a:p>
        </p:txBody>
      </p:sp>
      <p:sp>
        <p:nvSpPr>
          <p:cNvPr id="38" name="TextBox 37">
            <a:extLst>
              <a:ext uri="{FF2B5EF4-FFF2-40B4-BE49-F238E27FC236}">
                <a16:creationId xmlns:a16="http://schemas.microsoft.com/office/drawing/2014/main" id="{0F0622F4-201A-42CF-8FFA-CEFA5F760A44}"/>
              </a:ext>
            </a:extLst>
          </p:cNvPr>
          <p:cNvSpPr txBox="1"/>
          <p:nvPr/>
        </p:nvSpPr>
        <p:spPr>
          <a:xfrm>
            <a:off x="7048500" y="4635500"/>
            <a:ext cx="4889500" cy="228600"/>
          </a:xfrm>
          <a:prstGeom prst="rect">
            <a:avLst/>
          </a:prstGeom>
          <a:noFill/>
        </p:spPr>
        <p:txBody>
          <a:bodyPr vertOverflow="overflow" vert="horz" wrap="square" rtlCol="0" anchor="t">
            <a:spAutoFit/>
          </a:bodyPr>
          <a:lstStyle/>
          <a:p>
            <a:pPr algn="l"/>
            <a:r>
              <a:rPr lang="en-US" sz="1000">
                <a:solidFill>
                  <a:srgbClr val="5FD068"/>
                </a:solidFill>
              </a:rPr>
              <a:t>✔ Folder structure and key files</a:t>
            </a:r>
          </a:p>
        </p:txBody>
      </p:sp>
      <p:sp>
        <p:nvSpPr>
          <p:cNvPr id="39" name="TextBox 38">
            <a:extLst>
              <a:ext uri="{FF2B5EF4-FFF2-40B4-BE49-F238E27FC236}">
                <a16:creationId xmlns:a16="http://schemas.microsoft.com/office/drawing/2014/main" id="{50DF75FB-5786-413D-AAF0-B33F336F6009}"/>
              </a:ext>
            </a:extLst>
          </p:cNvPr>
          <p:cNvSpPr txBox="1"/>
          <p:nvPr/>
        </p:nvSpPr>
        <p:spPr>
          <a:xfrm>
            <a:off x="7048500" y="4864100"/>
            <a:ext cx="4889500" cy="228600"/>
          </a:xfrm>
          <a:prstGeom prst="rect">
            <a:avLst/>
          </a:prstGeom>
          <a:noFill/>
        </p:spPr>
        <p:txBody>
          <a:bodyPr vertOverflow="overflow" vert="horz" wrap="square" rtlCol="0" anchor="t">
            <a:spAutoFit/>
          </a:bodyPr>
          <a:lstStyle/>
          <a:p>
            <a:pPr algn="l"/>
            <a:r>
              <a:rPr lang="en-US" sz="1000">
                <a:solidFill>
                  <a:srgbClr val="5FD068"/>
                </a:solidFill>
              </a:rPr>
              <a:t>✔ Coding conventions and style rules</a:t>
            </a:r>
          </a:p>
        </p:txBody>
      </p:sp>
      <p:sp>
        <p:nvSpPr>
          <p:cNvPr id="40" name="TextBox 39">
            <a:extLst>
              <a:ext uri="{FF2B5EF4-FFF2-40B4-BE49-F238E27FC236}">
                <a16:creationId xmlns:a16="http://schemas.microsoft.com/office/drawing/2014/main" id="{518087FF-3B0F-4B2C-A95D-E7A207CECBF4}"/>
              </a:ext>
            </a:extLst>
          </p:cNvPr>
          <p:cNvSpPr txBox="1"/>
          <p:nvPr/>
        </p:nvSpPr>
        <p:spPr>
          <a:xfrm>
            <a:off x="7048500" y="5092700"/>
            <a:ext cx="4889500" cy="228600"/>
          </a:xfrm>
          <a:prstGeom prst="rect">
            <a:avLst/>
          </a:prstGeom>
          <a:noFill/>
        </p:spPr>
        <p:txBody>
          <a:bodyPr vertOverflow="overflow" vert="horz" wrap="square" rtlCol="0" anchor="t">
            <a:spAutoFit/>
          </a:bodyPr>
          <a:lstStyle/>
          <a:p>
            <a:pPr algn="l"/>
            <a:r>
              <a:rPr lang="en-US" sz="1000">
                <a:solidFill>
                  <a:srgbClr val="5FD068"/>
                </a:solidFill>
              </a:rPr>
              <a:t>✔ What Claude should always know/remember</a:t>
            </a:r>
          </a:p>
        </p:txBody>
      </p:sp>
      <p:sp>
        <p:nvSpPr>
          <p:cNvPr id="41" name="TextBox 40">
            <a:extLst>
              <a:ext uri="{FF2B5EF4-FFF2-40B4-BE49-F238E27FC236}">
                <a16:creationId xmlns:a16="http://schemas.microsoft.com/office/drawing/2014/main" id="{F49ED77B-E33B-420F-A6BE-3A5BA5398147}"/>
              </a:ext>
            </a:extLst>
          </p:cNvPr>
          <p:cNvSpPr txBox="1"/>
          <p:nvPr/>
        </p:nvSpPr>
        <p:spPr>
          <a:xfrm>
            <a:off x="7048500" y="5321300"/>
            <a:ext cx="4889500" cy="228600"/>
          </a:xfrm>
          <a:prstGeom prst="rect">
            <a:avLst/>
          </a:prstGeom>
          <a:noFill/>
        </p:spPr>
        <p:txBody>
          <a:bodyPr vertOverflow="overflow" vert="horz" wrap="square" rtlCol="0" anchor="t">
            <a:spAutoFit/>
          </a:bodyPr>
          <a:lstStyle/>
          <a:p>
            <a:pPr algn="l"/>
            <a:r>
              <a:rPr lang="en-US" sz="1000">
                <a:solidFill>
                  <a:srgbClr val="5FD068"/>
                </a:solidFill>
              </a:rPr>
              <a:t>✔ Current status and what you are working on</a:t>
            </a:r>
          </a:p>
        </p:txBody>
      </p:sp>
      <p:sp>
        <p:nvSpPr>
          <p:cNvPr id="42" name="Rectangle: Rounded Corners 41">
            <a:extLst>
              <a:ext uri="{FF2B5EF4-FFF2-40B4-BE49-F238E27FC236}">
                <a16:creationId xmlns:a16="http://schemas.microsoft.com/office/drawing/2014/main" id="{BB28A343-30B7-412D-812D-165A53F1C3BE}"/>
              </a:ext>
            </a:extLst>
          </p:cNvPr>
          <p:cNvSpPr/>
          <p:nvPr/>
        </p:nvSpPr>
        <p:spPr>
          <a:xfrm>
            <a:off x="7048500" y="5626100"/>
            <a:ext cx="4889500" cy="635000"/>
          </a:xfrm>
          <a:prstGeom prst="roundRect">
            <a:avLst/>
          </a:prstGeom>
          <a:solidFill>
            <a:srgbClr val="1A1D27"/>
          </a:solidFill>
          <a:ln w="38100" cap="flat" cmpd="sng" algn="ctr">
            <a:solidFill>
              <a:srgbClr val="FF9F4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100" b="1">
                <a:solidFill>
                  <a:srgbClr val="FF9F43"/>
                </a:solidFill>
              </a:rPr>
              <a:t>SCREENSHOT: Example Claude.md file open in VSCode</a:t>
            </a:r>
          </a:p>
        </p:txBody>
      </p:sp>
    </p:spTree>
    <p:extLst>
      <p:ext uri="{BB962C8B-B14F-4D97-AF65-F5344CB8AC3E}">
        <p14:creationId xmlns:p14="http://schemas.microsoft.com/office/powerpoint/2010/main" val="15711466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5DC1A-101A-7ED7-EA16-BAE8D6A27117}"/>
              </a:ext>
            </a:extLst>
          </p:cNvPr>
          <p:cNvSpPr>
            <a:spLocks noGrp="1"/>
          </p:cNvSpPr>
          <p:nvPr>
            <p:ph type="title"/>
          </p:nvPr>
        </p:nvSpPr>
        <p:spPr/>
        <p:txBody>
          <a:bodyPr>
            <a:normAutofit/>
          </a:bodyPr>
          <a:lstStyle/>
          <a:p>
            <a:r>
              <a:rPr lang="en-US" sz="4000" b="1"/>
              <a:t>Docker Basics</a:t>
            </a:r>
          </a:p>
        </p:txBody>
      </p:sp>
      <p:sp>
        <p:nvSpPr>
          <p:cNvPr id="3" name="Text Placeholder 2">
            <a:extLst>
              <a:ext uri="{FF2B5EF4-FFF2-40B4-BE49-F238E27FC236}">
                <a16:creationId xmlns:a16="http://schemas.microsoft.com/office/drawing/2014/main" id="{67FA6306-C539-2D03-744C-207341FFC643}"/>
              </a:ext>
            </a:extLst>
          </p:cNvPr>
          <p:cNvSpPr>
            <a:spLocks noGrp="1"/>
          </p:cNvSpPr>
          <p:nvPr>
            <p:ph type="body" idx="1"/>
          </p:nvPr>
        </p:nvSpPr>
        <p:spPr/>
        <p:txBody>
          <a:bodyPr>
            <a:normAutofit/>
          </a:bodyPr>
          <a:lstStyle/>
          <a:p>
            <a:r>
              <a:rPr lang="en-US" sz="1600"/>
              <a:t>Section 11  —  Understanding containers and how production systems are deployed</a:t>
            </a:r>
          </a:p>
        </p:txBody>
      </p:sp>
      <p:pic>
        <p:nvPicPr>
          <p:cNvPr id="4" name="Graphic 4" descr="Container/box icon for Docke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14000" y="1968500"/>
            <a:ext cx="762000" cy="762000"/>
          </a:xfrm>
          <a:prstGeom prst="rect">
            <a:avLst/>
          </a:prstGeom>
        </p:spPr>
      </p:pic>
    </p:spTree>
    <p:extLst>
      <p:ext uri="{BB962C8B-B14F-4D97-AF65-F5344CB8AC3E}">
        <p14:creationId xmlns:p14="http://schemas.microsoft.com/office/powerpoint/2010/main" val="26558524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BFF8B326-459E-4AF6-8444-C3B4F8123C09}"/>
              </a:ext>
            </a:extLst>
          </p:cNvPr>
          <p:cNvSpPr txBox="1"/>
          <p:nvPr/>
        </p:nvSpPr>
        <p:spPr>
          <a:xfrm>
            <a:off x="381000" y="127000"/>
            <a:ext cx="11430000" cy="508000"/>
          </a:xfrm>
          <a:prstGeom prst="rect">
            <a:avLst/>
          </a:prstGeom>
          <a:noFill/>
        </p:spPr>
        <p:txBody>
          <a:bodyPr vertOverflow="overflow" vert="horz" wrap="square" rtlCol="0" anchor="t">
            <a:spAutoFit/>
          </a:bodyPr>
          <a:lstStyle/>
          <a:p>
            <a:pPr algn="l"/>
            <a:r>
              <a:rPr lang="en-US" sz="2400" b="1">
                <a:solidFill>
                  <a:srgbClr val="F0F0F0"/>
                </a:solidFill>
              </a:rPr>
              <a:t>Docker: Your Code in a Portable Box</a:t>
            </a:r>
          </a:p>
        </p:txBody>
      </p:sp>
      <p:sp>
        <p:nvSpPr>
          <p:cNvPr id="15" name="TextBox 14">
            <a:extLst>
              <a:ext uri="{FF2B5EF4-FFF2-40B4-BE49-F238E27FC236}">
                <a16:creationId xmlns:a16="http://schemas.microsoft.com/office/drawing/2014/main" id="{61916839-19C7-4A8E-9CF4-868D457D64DA}"/>
              </a:ext>
            </a:extLst>
          </p:cNvPr>
          <p:cNvSpPr txBox="1"/>
          <p:nvPr/>
        </p:nvSpPr>
        <p:spPr>
          <a:xfrm>
            <a:off x="381000" y="698500"/>
            <a:ext cx="2794000" cy="304800"/>
          </a:xfrm>
          <a:prstGeom prst="rect">
            <a:avLst/>
          </a:prstGeom>
          <a:noFill/>
        </p:spPr>
        <p:txBody>
          <a:bodyPr vertOverflow="overflow" vert="horz" wrap="square" rtlCol="0" anchor="t">
            <a:spAutoFit/>
          </a:bodyPr>
          <a:lstStyle/>
          <a:p>
            <a:pPr algn="l"/>
            <a:r>
              <a:rPr lang="en-US" sz="1400" b="1">
                <a:solidFill>
                  <a:srgbClr val="FF6B6B"/>
                </a:solidFill>
              </a:rPr>
              <a:t>WITHOUT DOCKER</a:t>
            </a:r>
          </a:p>
        </p:txBody>
      </p:sp>
      <p:sp>
        <p:nvSpPr>
          <p:cNvPr id="16" name="Rectangle: Rounded Corners 15">
            <a:extLst>
              <a:ext uri="{FF2B5EF4-FFF2-40B4-BE49-F238E27FC236}">
                <a16:creationId xmlns:a16="http://schemas.microsoft.com/office/drawing/2014/main" id="{4A189AFD-E395-40E7-B005-0ADBE8A872A5}"/>
              </a:ext>
            </a:extLst>
          </p:cNvPr>
          <p:cNvSpPr/>
          <p:nvPr/>
        </p:nvSpPr>
        <p:spPr>
          <a:xfrm>
            <a:off x="508000" y="1079500"/>
            <a:ext cx="1143000" cy="406400"/>
          </a:xfrm>
          <a:prstGeom prst="roundRect">
            <a:avLst/>
          </a:prstGeom>
          <a:solidFill>
            <a:srgbClr val="3776AB"/>
          </a:solidFill>
          <a:ln w="12700" cap="flat" cmpd="sng" algn="ctr">
            <a:solidFill>
              <a:srgbClr val="FF6B6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900">
                <a:solidFill>
                  <a:srgbClr val="F0F0F0"/>
                </a:solidFill>
              </a:rPr>
              <a:t>Python 3.9</a:t>
            </a:r>
          </a:p>
        </p:txBody>
      </p:sp>
      <p:sp>
        <p:nvSpPr>
          <p:cNvPr id="17" name="Rectangle: Rounded Corners 16">
            <a:extLst>
              <a:ext uri="{FF2B5EF4-FFF2-40B4-BE49-F238E27FC236}">
                <a16:creationId xmlns:a16="http://schemas.microsoft.com/office/drawing/2014/main" id="{1A51C2E0-2C7D-4BE3-B28F-51473962740A}"/>
              </a:ext>
            </a:extLst>
          </p:cNvPr>
          <p:cNvSpPr/>
          <p:nvPr/>
        </p:nvSpPr>
        <p:spPr>
          <a:xfrm>
            <a:off x="635000" y="1498600"/>
            <a:ext cx="1079500" cy="355600"/>
          </a:xfrm>
          <a:prstGeom prst="roundRect">
            <a:avLst/>
          </a:prstGeom>
          <a:solidFill>
            <a:srgbClr val="150458"/>
          </a:solidFill>
          <a:ln w="12700" cap="flat" cmpd="sng" algn="ctr">
            <a:solidFill>
              <a:srgbClr val="FF6B6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900">
                <a:solidFill>
                  <a:srgbClr val="F0F0F0"/>
                </a:solidFill>
              </a:rPr>
              <a:t>pandas 1.3</a:t>
            </a:r>
          </a:p>
        </p:txBody>
      </p:sp>
      <p:sp>
        <p:nvSpPr>
          <p:cNvPr id="18" name="Rectangle: Rounded Corners 17">
            <a:extLst>
              <a:ext uri="{FF2B5EF4-FFF2-40B4-BE49-F238E27FC236}">
                <a16:creationId xmlns:a16="http://schemas.microsoft.com/office/drawing/2014/main" id="{E0BE52C2-53EE-4522-BAA9-1F000D8AE49D}"/>
              </a:ext>
            </a:extLst>
          </p:cNvPr>
          <p:cNvSpPr/>
          <p:nvPr/>
        </p:nvSpPr>
        <p:spPr>
          <a:xfrm>
            <a:off x="1778000" y="1168400"/>
            <a:ext cx="1079500" cy="355600"/>
          </a:xfrm>
          <a:prstGeom prst="roundRect">
            <a:avLst/>
          </a:prstGeom>
          <a:solidFill>
            <a:srgbClr val="4DABCF"/>
          </a:solidFill>
          <a:ln w="12700" cap="flat" cmpd="sng" algn="ctr">
            <a:solidFill>
              <a:srgbClr val="FF6B6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900">
                <a:solidFill>
                  <a:srgbClr val="F0F0F0"/>
                </a:solidFill>
              </a:rPr>
              <a:t>numpy 1.21</a:t>
            </a:r>
          </a:p>
        </p:txBody>
      </p:sp>
      <p:sp>
        <p:nvSpPr>
          <p:cNvPr id="19" name="Rectangle: Rounded Corners 18">
            <a:extLst>
              <a:ext uri="{FF2B5EF4-FFF2-40B4-BE49-F238E27FC236}">
                <a16:creationId xmlns:a16="http://schemas.microsoft.com/office/drawing/2014/main" id="{1DCC7FED-06DB-4E5D-A81A-6EE92BB8FA36}"/>
              </a:ext>
            </a:extLst>
          </p:cNvPr>
          <p:cNvSpPr/>
          <p:nvPr/>
        </p:nvSpPr>
        <p:spPr>
          <a:xfrm>
            <a:off x="1206500" y="1879600"/>
            <a:ext cx="1206500" cy="355600"/>
          </a:xfrm>
          <a:prstGeom prst="roundRect">
            <a:avLst/>
          </a:prstGeom>
          <a:solidFill>
            <a:srgbClr val="666666"/>
          </a:solidFill>
          <a:ln w="12700" cap="flat" cmpd="sng" algn="ctr">
            <a:solidFill>
              <a:srgbClr val="FF6B6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900">
                <a:solidFill>
                  <a:srgbClr val="F0F0F0"/>
                </a:solidFill>
              </a:rPr>
              <a:t>OS configs</a:t>
            </a:r>
          </a:p>
        </p:txBody>
      </p:sp>
      <p:sp>
        <p:nvSpPr>
          <p:cNvPr id="20" name="Rectangle: Rounded Corners 19">
            <a:extLst>
              <a:ext uri="{FF2B5EF4-FFF2-40B4-BE49-F238E27FC236}">
                <a16:creationId xmlns:a16="http://schemas.microsoft.com/office/drawing/2014/main" id="{856EB0EA-48D3-41EB-A9A8-261B95E7FFDA}"/>
              </a:ext>
            </a:extLst>
          </p:cNvPr>
          <p:cNvSpPr/>
          <p:nvPr/>
        </p:nvSpPr>
        <p:spPr>
          <a:xfrm>
            <a:off x="444500" y="2159000"/>
            <a:ext cx="1016000" cy="330200"/>
          </a:xfrm>
          <a:prstGeom prst="roundRect">
            <a:avLst/>
          </a:prstGeom>
          <a:solidFill>
            <a:srgbClr val="555555"/>
          </a:solidFill>
          <a:ln w="12700" cap="flat" cmpd="sng" algn="ctr">
            <a:solidFill>
              <a:srgbClr val="FF6B6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900">
                <a:solidFill>
                  <a:srgbClr val="F0F0F0"/>
                </a:solidFill>
              </a:rPr>
              <a:t>PATH vars</a:t>
            </a:r>
          </a:p>
        </p:txBody>
      </p:sp>
      <p:sp>
        <p:nvSpPr>
          <p:cNvPr id="21" name="Rectangle: Rounded Corners 20">
            <a:extLst>
              <a:ext uri="{FF2B5EF4-FFF2-40B4-BE49-F238E27FC236}">
                <a16:creationId xmlns:a16="http://schemas.microsoft.com/office/drawing/2014/main" id="{C0D370CC-CB28-4235-89DC-D89CF0C51411}"/>
              </a:ext>
            </a:extLst>
          </p:cNvPr>
          <p:cNvSpPr/>
          <p:nvPr/>
        </p:nvSpPr>
        <p:spPr>
          <a:xfrm>
            <a:off x="1905000" y="1587500"/>
            <a:ext cx="1143000" cy="355600"/>
          </a:xfrm>
          <a:prstGeom prst="roundRect">
            <a:avLst/>
          </a:prstGeom>
          <a:solidFill>
            <a:srgbClr val="444444"/>
          </a:solidFill>
          <a:ln w="12700" cap="flat" cmpd="sng" algn="ctr">
            <a:solidFill>
              <a:srgbClr val="FF6B6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900">
                <a:solidFill>
                  <a:srgbClr val="F0F0F0"/>
                </a:solidFill>
              </a:rPr>
              <a:t>system libs</a:t>
            </a:r>
          </a:p>
        </p:txBody>
      </p:sp>
      <p:sp>
        <p:nvSpPr>
          <p:cNvPr id="22" name="TextBox 21">
            <a:extLst>
              <a:ext uri="{FF2B5EF4-FFF2-40B4-BE49-F238E27FC236}">
                <a16:creationId xmlns:a16="http://schemas.microsoft.com/office/drawing/2014/main" id="{841F4973-92E6-4E7A-9C4A-CE4819A2A0B7}"/>
              </a:ext>
            </a:extLst>
          </p:cNvPr>
          <p:cNvSpPr txBox="1"/>
          <p:nvPr/>
        </p:nvSpPr>
        <p:spPr>
          <a:xfrm>
            <a:off x="381000" y="2565400"/>
            <a:ext cx="2794000" cy="279400"/>
          </a:xfrm>
          <a:prstGeom prst="rect">
            <a:avLst/>
          </a:prstGeom>
          <a:noFill/>
        </p:spPr>
        <p:txBody>
          <a:bodyPr vertOverflow="overflow" vert="horz" wrap="square" rtlCol="0" anchor="t">
            <a:spAutoFit/>
          </a:bodyPr>
          <a:lstStyle/>
          <a:p>
            <a:pPr algn="l"/>
            <a:r>
              <a:rPr lang="en-US" sz="1100" i="1">
                <a:solidFill>
                  <a:srgbClr val="FF6B6B"/>
                </a:solidFill>
              </a:rPr>
              <a:t>"It works on my machine"</a:t>
            </a:r>
          </a:p>
        </p:txBody>
      </p:sp>
      <p:sp>
        <p:nvSpPr>
          <p:cNvPr id="23" name="TextBox 22">
            <a:extLst>
              <a:ext uri="{FF2B5EF4-FFF2-40B4-BE49-F238E27FC236}">
                <a16:creationId xmlns:a16="http://schemas.microsoft.com/office/drawing/2014/main" id="{39619490-E59D-458F-B79F-96FBA1438815}"/>
              </a:ext>
            </a:extLst>
          </p:cNvPr>
          <p:cNvSpPr txBox="1"/>
          <p:nvPr/>
        </p:nvSpPr>
        <p:spPr>
          <a:xfrm>
            <a:off x="3683000" y="698500"/>
            <a:ext cx="2794000" cy="304800"/>
          </a:xfrm>
          <a:prstGeom prst="rect">
            <a:avLst/>
          </a:prstGeom>
          <a:noFill/>
        </p:spPr>
        <p:txBody>
          <a:bodyPr vertOverflow="overflow" vert="horz" wrap="square" rtlCol="0" anchor="t">
            <a:spAutoFit/>
          </a:bodyPr>
          <a:lstStyle/>
          <a:p>
            <a:pPr algn="l"/>
            <a:r>
              <a:rPr lang="en-US" sz="1400" b="1">
                <a:solidFill>
                  <a:srgbClr val="5FD068"/>
                </a:solidFill>
              </a:rPr>
              <a:t>WITH DOCKER</a:t>
            </a:r>
          </a:p>
        </p:txBody>
      </p:sp>
      <p:sp>
        <p:nvSpPr>
          <p:cNvPr id="24" name="Rectangle: Rounded Corners 23">
            <a:extLst>
              <a:ext uri="{FF2B5EF4-FFF2-40B4-BE49-F238E27FC236}">
                <a16:creationId xmlns:a16="http://schemas.microsoft.com/office/drawing/2014/main" id="{05C9FA1F-D738-460A-9113-4A0BEB0F4406}"/>
              </a:ext>
            </a:extLst>
          </p:cNvPr>
          <p:cNvSpPr/>
          <p:nvPr/>
        </p:nvSpPr>
        <p:spPr>
          <a:xfrm>
            <a:off x="3683000" y="1041400"/>
            <a:ext cx="2794000" cy="1714500"/>
          </a:xfrm>
          <a:prstGeom prst="roundRect">
            <a:avLst/>
          </a:prstGeom>
          <a:solidFill>
            <a:srgbClr val="1A2332"/>
          </a:solidFill>
          <a:ln w="38100" cap="flat" cmpd="sng" algn="ctr">
            <a:solidFill>
              <a:srgbClr val="0DB7E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oAutofit/>
          </a:bodyPr>
          <a:lstStyle/>
          <a:p>
            <a:pPr algn="l"/>
            <a:endParaRPr lang="en-US"/>
          </a:p>
        </p:txBody>
      </p:sp>
      <p:sp>
        <p:nvSpPr>
          <p:cNvPr id="25" name="Rectangle 24">
            <a:extLst>
              <a:ext uri="{FF2B5EF4-FFF2-40B4-BE49-F238E27FC236}">
                <a16:creationId xmlns:a16="http://schemas.microsoft.com/office/drawing/2014/main" id="{AB95B7AD-4A37-47C6-A6B1-CA4515A23CC5}"/>
              </a:ext>
            </a:extLst>
          </p:cNvPr>
          <p:cNvSpPr/>
          <p:nvPr/>
        </p:nvSpPr>
        <p:spPr>
          <a:xfrm>
            <a:off x="3683000" y="1041400"/>
            <a:ext cx="2794000" cy="355600"/>
          </a:xfrm>
          <a:prstGeom prst="rect">
            <a:avLst/>
          </a:prstGeom>
          <a:solidFill>
            <a:srgbClr val="0DB7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100" b="1">
                <a:solidFill>
                  <a:srgbClr val="FFFFFF"/>
                </a:solidFill>
              </a:rPr>
              <a:t>📦  DOCKER CONTAINER</a:t>
            </a:r>
          </a:p>
        </p:txBody>
      </p:sp>
      <p:sp>
        <p:nvSpPr>
          <p:cNvPr id="26" name="Rectangle: Rounded Corners 25">
            <a:extLst>
              <a:ext uri="{FF2B5EF4-FFF2-40B4-BE49-F238E27FC236}">
                <a16:creationId xmlns:a16="http://schemas.microsoft.com/office/drawing/2014/main" id="{CB60AEA6-8474-4953-A81B-D19D34BF024F}"/>
              </a:ext>
            </a:extLst>
          </p:cNvPr>
          <p:cNvSpPr/>
          <p:nvPr/>
        </p:nvSpPr>
        <p:spPr>
          <a:xfrm>
            <a:off x="3810000" y="1447800"/>
            <a:ext cx="2540000" cy="279400"/>
          </a:xfrm>
          <a:prstGeom prst="roundRect">
            <a:avLst/>
          </a:prstGeom>
          <a:solidFill>
            <a:srgbClr val="3776A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000" b="1">
                <a:solidFill>
                  <a:srgbClr val="FFFFFF"/>
                </a:solidFill>
              </a:rPr>
              <a:t>Python 3.11</a:t>
            </a:r>
          </a:p>
        </p:txBody>
      </p:sp>
      <p:sp>
        <p:nvSpPr>
          <p:cNvPr id="27" name="Rectangle: Rounded Corners 26">
            <a:extLst>
              <a:ext uri="{FF2B5EF4-FFF2-40B4-BE49-F238E27FC236}">
                <a16:creationId xmlns:a16="http://schemas.microsoft.com/office/drawing/2014/main" id="{375FC663-0B8D-491C-8FA5-AA6DEAD2FB1B}"/>
              </a:ext>
            </a:extLst>
          </p:cNvPr>
          <p:cNvSpPr/>
          <p:nvPr/>
        </p:nvSpPr>
        <p:spPr>
          <a:xfrm>
            <a:off x="3810000" y="1778000"/>
            <a:ext cx="2540000" cy="279400"/>
          </a:xfrm>
          <a:prstGeom prst="roundRect">
            <a:avLst/>
          </a:prstGeom>
          <a:solidFill>
            <a:srgbClr val="6C5CE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000" b="1">
                <a:solidFill>
                  <a:srgbClr val="FFFFFF"/>
                </a:solidFill>
              </a:rPr>
              <a:t>pandas + numpy + sklearn</a:t>
            </a:r>
          </a:p>
        </p:txBody>
      </p:sp>
      <p:sp>
        <p:nvSpPr>
          <p:cNvPr id="28" name="Rectangle: Rounded Corners 27">
            <a:extLst>
              <a:ext uri="{FF2B5EF4-FFF2-40B4-BE49-F238E27FC236}">
                <a16:creationId xmlns:a16="http://schemas.microsoft.com/office/drawing/2014/main" id="{652627FE-3115-4A4B-AC62-8E79ABF90313}"/>
              </a:ext>
            </a:extLst>
          </p:cNvPr>
          <p:cNvSpPr/>
          <p:nvPr/>
        </p:nvSpPr>
        <p:spPr>
          <a:xfrm>
            <a:off x="3810000" y="2108200"/>
            <a:ext cx="2540000" cy="279400"/>
          </a:xfrm>
          <a:prstGeom prst="roundRect">
            <a:avLst/>
          </a:prstGeom>
          <a:solidFill>
            <a:srgbClr val="5FD06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000" b="1">
                <a:solidFill>
                  <a:srgbClr val="FFFFFF"/>
                </a:solidFill>
              </a:rPr>
              <a:t>Your Code</a:t>
            </a:r>
          </a:p>
        </p:txBody>
      </p:sp>
      <p:sp>
        <p:nvSpPr>
          <p:cNvPr id="29" name="Rectangle: Rounded Corners 28">
            <a:extLst>
              <a:ext uri="{FF2B5EF4-FFF2-40B4-BE49-F238E27FC236}">
                <a16:creationId xmlns:a16="http://schemas.microsoft.com/office/drawing/2014/main" id="{DD149FB1-1702-4B32-A0B6-F388E34A6ECB}"/>
              </a:ext>
            </a:extLst>
          </p:cNvPr>
          <p:cNvSpPr/>
          <p:nvPr/>
        </p:nvSpPr>
        <p:spPr>
          <a:xfrm>
            <a:off x="3810000" y="2438400"/>
            <a:ext cx="2540000" cy="279400"/>
          </a:xfrm>
          <a:prstGeom prst="roundRect">
            <a:avLst/>
          </a:prstGeom>
          <a:solidFill>
            <a:srgbClr val="54A0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000" b="1">
                <a:solidFill>
                  <a:srgbClr val="FFFFFF"/>
                </a:solidFill>
              </a:rPr>
              <a:t>All Dependencies</a:t>
            </a:r>
          </a:p>
        </p:txBody>
      </p:sp>
      <p:sp>
        <p:nvSpPr>
          <p:cNvPr id="30" name="TextBox 29">
            <a:extLst>
              <a:ext uri="{FF2B5EF4-FFF2-40B4-BE49-F238E27FC236}">
                <a16:creationId xmlns:a16="http://schemas.microsoft.com/office/drawing/2014/main" id="{CAADB881-BC48-4F34-949A-F3BD901E9F23}"/>
              </a:ext>
            </a:extLst>
          </p:cNvPr>
          <p:cNvSpPr txBox="1"/>
          <p:nvPr/>
        </p:nvSpPr>
        <p:spPr>
          <a:xfrm>
            <a:off x="3683000" y="2819400"/>
            <a:ext cx="2794000" cy="279400"/>
          </a:xfrm>
          <a:prstGeom prst="rect">
            <a:avLst/>
          </a:prstGeom>
          <a:noFill/>
        </p:spPr>
        <p:txBody>
          <a:bodyPr vertOverflow="overflow" vert="horz" wrap="square" rtlCol="0" anchor="t">
            <a:spAutoFit/>
          </a:bodyPr>
          <a:lstStyle/>
          <a:p>
            <a:pPr algn="l"/>
            <a:r>
              <a:rPr lang="en-US" sz="1100" i="1">
                <a:solidFill>
                  <a:srgbClr val="5FD068"/>
                </a:solidFill>
              </a:rPr>
              <a:t>Works everywhere, every time</a:t>
            </a:r>
          </a:p>
        </p:txBody>
      </p:sp>
      <p:sp>
        <p:nvSpPr>
          <p:cNvPr id="31" name="Arrow: Right 30">
            <a:extLst>
              <a:ext uri="{FF2B5EF4-FFF2-40B4-BE49-F238E27FC236}">
                <a16:creationId xmlns:a16="http://schemas.microsoft.com/office/drawing/2014/main" id="{419EF406-21D8-4003-98C1-ACB4AF5C8CB5}"/>
              </a:ext>
            </a:extLst>
          </p:cNvPr>
          <p:cNvSpPr/>
          <p:nvPr/>
        </p:nvSpPr>
        <p:spPr>
          <a:xfrm>
            <a:off x="3225800" y="1651000"/>
            <a:ext cx="381000" cy="457200"/>
          </a:xfrm>
          <a:prstGeom prst="rightArrow">
            <a:avLst/>
          </a:prstGeom>
          <a:solidFill>
            <a:srgbClr val="F0F0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2" name="TextBox 31">
            <a:extLst>
              <a:ext uri="{FF2B5EF4-FFF2-40B4-BE49-F238E27FC236}">
                <a16:creationId xmlns:a16="http://schemas.microsoft.com/office/drawing/2014/main" id="{5B8AB588-BE6C-4A98-8E9E-7FF88E7F9089}"/>
              </a:ext>
            </a:extLst>
          </p:cNvPr>
          <p:cNvSpPr txBox="1"/>
          <p:nvPr/>
        </p:nvSpPr>
        <p:spPr>
          <a:xfrm>
            <a:off x="381000" y="3225800"/>
            <a:ext cx="11557000" cy="2413000"/>
          </a:xfrm>
          <a:prstGeom prst="rect">
            <a:avLst/>
          </a:prstGeom>
          <a:noFill/>
        </p:spPr>
        <p:txBody>
          <a:bodyPr vertOverflow="overflow" vert="horz" wrap="square" rtlCol="0" anchor="t">
            <a:spAutoFit/>
          </a:bodyPr>
          <a:lstStyle/>
          <a:p>
            <a:pPr algn="l"/>
            <a:r>
              <a:rPr lang="en-US" sz="1200">
                <a:solidFill>
                  <a:srgbClr val="D0D4DC"/>
                </a:solidFill>
              </a:rPr>
              <a:t>Docker packages your entire application — code, Python version, libraries, OS configurations — into a single portable container. Anyone with Docker installed can run your container and get the exact same results.
Why this matters for quant finance:
• Reproducibility is critical — regulators, portfolio managers, and quants need to verify that a model produces the same results months later. Docker guarantees this.
• Team collaboration becomes seamless — no more 'it works on my machine' when sharing backtesting code with teammates.
• Deployment to cloud (AWS, GCP) uses containers — your local Docker image can run in production with zero changes.
You won't use Docker in this course, but understanding the concept matters. When you join a quant team, their codebase will almost certainly be containerized. Think of it as a shipping container for code — everything stays packed together and arrives intact.</a:t>
            </a:r>
          </a:p>
        </p:txBody>
      </p:sp>
    </p:spTree>
    <p:extLst>
      <p:ext uri="{BB962C8B-B14F-4D97-AF65-F5344CB8AC3E}">
        <p14:creationId xmlns:p14="http://schemas.microsoft.com/office/powerpoint/2010/main" val="41773358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B4378-3F70-3B2C-0549-F2820DA99850}"/>
              </a:ext>
            </a:extLst>
          </p:cNvPr>
          <p:cNvSpPr>
            <a:spLocks noGrp="1"/>
          </p:cNvSpPr>
          <p:nvPr>
            <p:ph type="title"/>
          </p:nvPr>
        </p:nvSpPr>
        <p:spPr/>
        <p:txBody>
          <a:bodyPr>
            <a:normAutofit/>
          </a:bodyPr>
          <a:lstStyle/>
          <a:p>
            <a:r>
              <a:rPr lang="en-US" sz="4000" b="1"/>
              <a:t>Debugging Fundamentals</a:t>
            </a:r>
          </a:p>
        </p:txBody>
      </p:sp>
      <p:sp>
        <p:nvSpPr>
          <p:cNvPr id="3" name="Text Placeholder 2">
            <a:extLst>
              <a:ext uri="{FF2B5EF4-FFF2-40B4-BE49-F238E27FC236}">
                <a16:creationId xmlns:a16="http://schemas.microsoft.com/office/drawing/2014/main" id="{AB5A7542-64FD-DFB7-DB91-75D24BF186C8}"/>
              </a:ext>
            </a:extLst>
          </p:cNvPr>
          <p:cNvSpPr>
            <a:spLocks noGrp="1"/>
          </p:cNvSpPr>
          <p:nvPr>
            <p:ph type="body" idx="1"/>
          </p:nvPr>
        </p:nvSpPr>
        <p:spPr/>
        <p:txBody>
          <a:bodyPr>
            <a:normAutofit/>
          </a:bodyPr>
          <a:lstStyle/>
          <a:p>
            <a:r>
              <a:rPr lang="en-US" sz="1600"/>
              <a:t>Section 12  —  Reading error messages, using print statements, and fixing code with Claude</a:t>
            </a:r>
          </a:p>
        </p:txBody>
      </p:sp>
      <p:pic>
        <p:nvPicPr>
          <p:cNvPr id="4" name="Graphic 4" descr="Bug icon for debuggi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14000" y="1968500"/>
            <a:ext cx="762000" cy="762000"/>
          </a:xfrm>
          <a:prstGeom prst="rect">
            <a:avLst/>
          </a:prstGeom>
        </p:spPr>
      </p:pic>
    </p:spTree>
    <p:extLst>
      <p:ext uri="{BB962C8B-B14F-4D97-AF65-F5344CB8AC3E}">
        <p14:creationId xmlns:p14="http://schemas.microsoft.com/office/powerpoint/2010/main" val="26680269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ED01175-5290-4660-8950-8A2A055E0449}"/>
              </a:ext>
            </a:extLst>
          </p:cNvPr>
          <p:cNvSpPr txBox="1"/>
          <p:nvPr/>
        </p:nvSpPr>
        <p:spPr>
          <a:xfrm>
            <a:off x="381000" y="127000"/>
            <a:ext cx="11430000" cy="508000"/>
          </a:xfrm>
          <a:prstGeom prst="rect">
            <a:avLst/>
          </a:prstGeom>
          <a:noFill/>
        </p:spPr>
        <p:txBody>
          <a:bodyPr vertOverflow="overflow" vert="horz" wrap="square" rtlCol="0" anchor="t">
            <a:spAutoFit/>
          </a:bodyPr>
          <a:lstStyle/>
          <a:p>
            <a:pPr algn="l"/>
            <a:r>
              <a:rPr lang="en-US" sz="2400" b="1">
                <a:solidFill>
                  <a:srgbClr val="F0F0F0"/>
                </a:solidFill>
              </a:rPr>
              <a:t>Debugging: The Error Resolution Workflow</a:t>
            </a:r>
          </a:p>
        </p:txBody>
      </p:sp>
      <p:sp>
        <p:nvSpPr>
          <p:cNvPr id="3" name="Rectangle: Rounded Corners 2">
            <a:extLst>
              <a:ext uri="{FF2B5EF4-FFF2-40B4-BE49-F238E27FC236}">
                <a16:creationId xmlns:a16="http://schemas.microsoft.com/office/drawing/2014/main" id="{4D240C85-AA7D-48C7-984A-4F4EF0C51E33}"/>
              </a:ext>
            </a:extLst>
          </p:cNvPr>
          <p:cNvSpPr/>
          <p:nvPr/>
        </p:nvSpPr>
        <p:spPr>
          <a:xfrm>
            <a:off x="533400" y="698500"/>
            <a:ext cx="1524000" cy="698500"/>
          </a:xfrm>
          <a:prstGeom prst="roundRect">
            <a:avLst/>
          </a:prstGeom>
          <a:solidFill>
            <a:srgbClr val="FF6B6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000" b="1">
                <a:solidFill>
                  <a:srgbClr val="FFFFFF"/>
                </a:solidFill>
              </a:rPr>
              <a:t>ERROR
APPEARS</a:t>
            </a:r>
          </a:p>
        </p:txBody>
      </p:sp>
      <p:sp>
        <p:nvSpPr>
          <p:cNvPr id="4" name="Arrow: Right 3">
            <a:extLst>
              <a:ext uri="{FF2B5EF4-FFF2-40B4-BE49-F238E27FC236}">
                <a16:creationId xmlns:a16="http://schemas.microsoft.com/office/drawing/2014/main" id="{54198F44-05B9-45D9-8F7E-90EDEDFF83F1}"/>
              </a:ext>
            </a:extLst>
          </p:cNvPr>
          <p:cNvSpPr/>
          <p:nvPr/>
        </p:nvSpPr>
        <p:spPr>
          <a:xfrm>
            <a:off x="2082800" y="946150"/>
            <a:ext cx="330200" cy="203200"/>
          </a:xfrm>
          <a:prstGeom prst="rightArrow">
            <a:avLst/>
          </a:prstGeom>
          <a:solidFill>
            <a:srgbClr val="F0F0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Rounded Corners 4">
            <a:extLst>
              <a:ext uri="{FF2B5EF4-FFF2-40B4-BE49-F238E27FC236}">
                <a16:creationId xmlns:a16="http://schemas.microsoft.com/office/drawing/2014/main" id="{92D9C49D-8969-4625-9B52-A82D44770D57}"/>
              </a:ext>
            </a:extLst>
          </p:cNvPr>
          <p:cNvSpPr/>
          <p:nvPr/>
        </p:nvSpPr>
        <p:spPr>
          <a:xfrm>
            <a:off x="2438400" y="698500"/>
            <a:ext cx="1524000" cy="698500"/>
          </a:xfrm>
          <a:prstGeom prst="roundRect">
            <a:avLst/>
          </a:prstGeom>
          <a:solidFill>
            <a:srgbClr val="FF9F4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000" b="1">
                <a:solidFill>
                  <a:srgbClr val="FFFFFF"/>
                </a:solidFill>
              </a:rPr>
              <a:t>READ
TRACEBACK</a:t>
            </a:r>
          </a:p>
        </p:txBody>
      </p:sp>
      <p:sp>
        <p:nvSpPr>
          <p:cNvPr id="10" name="Arrow: Right 9">
            <a:extLst>
              <a:ext uri="{FF2B5EF4-FFF2-40B4-BE49-F238E27FC236}">
                <a16:creationId xmlns:a16="http://schemas.microsoft.com/office/drawing/2014/main" id="{3FA116BE-7C4A-41EB-8E57-E90291943D7F}"/>
              </a:ext>
            </a:extLst>
          </p:cNvPr>
          <p:cNvSpPr/>
          <p:nvPr/>
        </p:nvSpPr>
        <p:spPr>
          <a:xfrm>
            <a:off x="3987800" y="946150"/>
            <a:ext cx="330200" cy="203200"/>
          </a:xfrm>
          <a:prstGeom prst="rightArrow">
            <a:avLst/>
          </a:prstGeom>
          <a:solidFill>
            <a:srgbClr val="F0F0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Rectangle: Rounded Corners 10">
            <a:extLst>
              <a:ext uri="{FF2B5EF4-FFF2-40B4-BE49-F238E27FC236}">
                <a16:creationId xmlns:a16="http://schemas.microsoft.com/office/drawing/2014/main" id="{2B3C428B-25B8-4D88-8EAB-703D5702D8BF}"/>
              </a:ext>
            </a:extLst>
          </p:cNvPr>
          <p:cNvSpPr/>
          <p:nvPr/>
        </p:nvSpPr>
        <p:spPr>
          <a:xfrm>
            <a:off x="4343400" y="698500"/>
            <a:ext cx="1524000" cy="698500"/>
          </a:xfrm>
          <a:prstGeom prst="roundRect">
            <a:avLst/>
          </a:prstGeom>
          <a:solidFill>
            <a:srgbClr val="54A0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000" b="1">
                <a:solidFill>
                  <a:srgbClr val="FFFFFF"/>
                </a:solidFill>
              </a:rPr>
              <a:t>FIND THE
LINE #</a:t>
            </a:r>
          </a:p>
        </p:txBody>
      </p:sp>
      <p:sp>
        <p:nvSpPr>
          <p:cNvPr id="12" name="Arrow: Right 11">
            <a:extLst>
              <a:ext uri="{FF2B5EF4-FFF2-40B4-BE49-F238E27FC236}">
                <a16:creationId xmlns:a16="http://schemas.microsoft.com/office/drawing/2014/main" id="{894B0065-051C-4683-8885-B4AA593EA14D}"/>
              </a:ext>
            </a:extLst>
          </p:cNvPr>
          <p:cNvSpPr/>
          <p:nvPr/>
        </p:nvSpPr>
        <p:spPr>
          <a:xfrm>
            <a:off x="5892800" y="946150"/>
            <a:ext cx="330200" cy="203200"/>
          </a:xfrm>
          <a:prstGeom prst="rightArrow">
            <a:avLst/>
          </a:prstGeom>
          <a:solidFill>
            <a:srgbClr val="F0F0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Rectangle: Rounded Corners 12">
            <a:extLst>
              <a:ext uri="{FF2B5EF4-FFF2-40B4-BE49-F238E27FC236}">
                <a16:creationId xmlns:a16="http://schemas.microsoft.com/office/drawing/2014/main" id="{76CB754B-C638-4D11-AE9C-DB3A7530DB87}"/>
              </a:ext>
            </a:extLst>
          </p:cNvPr>
          <p:cNvSpPr/>
          <p:nvPr/>
        </p:nvSpPr>
        <p:spPr>
          <a:xfrm>
            <a:off x="6248400" y="698500"/>
            <a:ext cx="1524000" cy="698500"/>
          </a:xfrm>
          <a:prstGeom prst="roundRect">
            <a:avLst/>
          </a:prstGeom>
          <a:solidFill>
            <a:srgbClr val="6C5CE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000" b="1">
                <a:solidFill>
                  <a:srgbClr val="FFFFFF"/>
                </a:solidFill>
              </a:rPr>
              <a:t>PASTE TO
CLAUDE</a:t>
            </a:r>
          </a:p>
        </p:txBody>
      </p:sp>
      <p:sp>
        <p:nvSpPr>
          <p:cNvPr id="14" name="Arrow: Right 13">
            <a:extLst>
              <a:ext uri="{FF2B5EF4-FFF2-40B4-BE49-F238E27FC236}">
                <a16:creationId xmlns:a16="http://schemas.microsoft.com/office/drawing/2014/main" id="{3FBC14F9-8C92-4262-AE15-D26A295DD62A}"/>
              </a:ext>
            </a:extLst>
          </p:cNvPr>
          <p:cNvSpPr/>
          <p:nvPr/>
        </p:nvSpPr>
        <p:spPr>
          <a:xfrm>
            <a:off x="7797800" y="946150"/>
            <a:ext cx="330200" cy="203200"/>
          </a:xfrm>
          <a:prstGeom prst="rightArrow">
            <a:avLst/>
          </a:prstGeom>
          <a:solidFill>
            <a:srgbClr val="F0F0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Rectangle: Rounded Corners 14">
            <a:extLst>
              <a:ext uri="{FF2B5EF4-FFF2-40B4-BE49-F238E27FC236}">
                <a16:creationId xmlns:a16="http://schemas.microsoft.com/office/drawing/2014/main" id="{FAFC7E51-57A4-4AD4-9F7B-2E4ACF84A278}"/>
              </a:ext>
            </a:extLst>
          </p:cNvPr>
          <p:cNvSpPr/>
          <p:nvPr/>
        </p:nvSpPr>
        <p:spPr>
          <a:xfrm>
            <a:off x="8153400" y="698500"/>
            <a:ext cx="1524000" cy="698500"/>
          </a:xfrm>
          <a:prstGeom prst="roundRect">
            <a:avLst/>
          </a:prstGeom>
          <a:solidFill>
            <a:srgbClr val="00D2D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000" b="1">
                <a:solidFill>
                  <a:srgbClr val="0F1117"/>
                </a:solidFill>
              </a:rPr>
              <a:t>APPLY
FIX</a:t>
            </a:r>
          </a:p>
        </p:txBody>
      </p:sp>
      <p:sp>
        <p:nvSpPr>
          <p:cNvPr id="16" name="Arrow: Right 15">
            <a:extLst>
              <a:ext uri="{FF2B5EF4-FFF2-40B4-BE49-F238E27FC236}">
                <a16:creationId xmlns:a16="http://schemas.microsoft.com/office/drawing/2014/main" id="{30B171FF-7FA0-4664-A56A-AE537DFE60B6}"/>
              </a:ext>
            </a:extLst>
          </p:cNvPr>
          <p:cNvSpPr/>
          <p:nvPr/>
        </p:nvSpPr>
        <p:spPr>
          <a:xfrm>
            <a:off x="9702800" y="946150"/>
            <a:ext cx="330200" cy="203200"/>
          </a:xfrm>
          <a:prstGeom prst="rightArrow">
            <a:avLst/>
          </a:prstGeom>
          <a:solidFill>
            <a:srgbClr val="F0F0F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Rectangle: Rounded Corners 16">
            <a:extLst>
              <a:ext uri="{FF2B5EF4-FFF2-40B4-BE49-F238E27FC236}">
                <a16:creationId xmlns:a16="http://schemas.microsoft.com/office/drawing/2014/main" id="{EE3F0987-40E6-4165-8F46-3823E66A8371}"/>
              </a:ext>
            </a:extLst>
          </p:cNvPr>
          <p:cNvSpPr/>
          <p:nvPr/>
        </p:nvSpPr>
        <p:spPr>
          <a:xfrm>
            <a:off x="10058400" y="698500"/>
            <a:ext cx="1524000" cy="698500"/>
          </a:xfrm>
          <a:prstGeom prst="roundRect">
            <a:avLst/>
          </a:prstGeom>
          <a:solidFill>
            <a:srgbClr val="5FD06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000" b="1">
                <a:solidFill>
                  <a:srgbClr val="0F1117"/>
                </a:solidFill>
              </a:rPr>
              <a:t>RE-RUN
CODE</a:t>
            </a:r>
          </a:p>
        </p:txBody>
      </p:sp>
      <p:sp>
        <p:nvSpPr>
          <p:cNvPr id="18" name="Rectangle 17">
            <a:extLst>
              <a:ext uri="{FF2B5EF4-FFF2-40B4-BE49-F238E27FC236}">
                <a16:creationId xmlns:a16="http://schemas.microsoft.com/office/drawing/2014/main" id="{4F5F99A3-74FD-4F07-979F-668B42FF6651}"/>
              </a:ext>
            </a:extLst>
          </p:cNvPr>
          <p:cNvSpPr/>
          <p:nvPr/>
        </p:nvSpPr>
        <p:spPr>
          <a:xfrm>
            <a:off x="381000" y="1498600"/>
            <a:ext cx="5461000" cy="279400"/>
          </a:xfrm>
          <a:prstGeom prst="rect">
            <a:avLst/>
          </a:prstGeom>
          <a:solidFill>
            <a:srgbClr val="1E1E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900">
                <a:solidFill>
                  <a:srgbClr val="808080"/>
                </a:solidFill>
                <a:latin typeface="Consolas"/>
              </a:rPr>
              <a:t>  ⬤  Terminal — error output</a:t>
            </a:r>
          </a:p>
        </p:txBody>
      </p:sp>
      <p:sp>
        <p:nvSpPr>
          <p:cNvPr id="19" name="Rectangle 18">
            <a:extLst>
              <a:ext uri="{FF2B5EF4-FFF2-40B4-BE49-F238E27FC236}">
                <a16:creationId xmlns:a16="http://schemas.microsoft.com/office/drawing/2014/main" id="{63AC2396-9AB9-4CEF-997A-39106937B6E4}"/>
              </a:ext>
            </a:extLst>
          </p:cNvPr>
          <p:cNvSpPr/>
          <p:nvPr/>
        </p:nvSpPr>
        <p:spPr>
          <a:xfrm>
            <a:off x="381000" y="1778000"/>
            <a:ext cx="5461000" cy="1270000"/>
          </a:xfrm>
          <a:prstGeom prst="rect">
            <a:avLst/>
          </a:prstGeom>
          <a:solidFill>
            <a:srgbClr val="0C0C0C"/>
          </a:solidFill>
          <a:ln w="12700" cap="flat" cmpd="sng" algn="ctr">
            <a:solidFill>
              <a:srgbClr val="33333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oAutofit/>
          </a:bodyPr>
          <a:lstStyle/>
          <a:p>
            <a:pPr algn="l"/>
            <a:r>
              <a:rPr lang="en-US" sz="1000">
                <a:solidFill>
                  <a:srgbClr val="FF6B6B"/>
                </a:solidFill>
                <a:latin typeface="Consolas"/>
              </a:rPr>
              <a:t>Traceback (most recent call last):
  File "strategy.py", line 14
    returns = df['Close'].pct_change()
KeyError: 'Close'
&gt;&gt;&gt; Column name is 'Adj Close', not 'Close'</a:t>
            </a:r>
          </a:p>
        </p:txBody>
      </p:sp>
      <p:sp>
        <p:nvSpPr>
          <p:cNvPr id="20" name="Rectangle: Rounded Corners 19">
            <a:extLst>
              <a:ext uri="{FF2B5EF4-FFF2-40B4-BE49-F238E27FC236}">
                <a16:creationId xmlns:a16="http://schemas.microsoft.com/office/drawing/2014/main" id="{15BEB7B7-A285-46B6-82C5-24FA23A01AE5}"/>
              </a:ext>
            </a:extLst>
          </p:cNvPr>
          <p:cNvSpPr/>
          <p:nvPr/>
        </p:nvSpPr>
        <p:spPr>
          <a:xfrm>
            <a:off x="381000" y="3175000"/>
            <a:ext cx="2857500" cy="889000"/>
          </a:xfrm>
          <a:prstGeom prst="roundRect">
            <a:avLst/>
          </a:prstGeom>
          <a:solidFill>
            <a:srgbClr val="1A1D27"/>
          </a:solidFill>
          <a:ln w="25400" cap="flat" cmpd="sng" algn="ctr">
            <a:solidFill>
              <a:srgbClr val="FF6B6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000">
                <a:solidFill>
                  <a:srgbClr val="D0D4DC"/>
                </a:solidFill>
              </a:rPr>
              <a:t>KeyError
Wrong column name
Fix: df.columns to check</a:t>
            </a:r>
          </a:p>
        </p:txBody>
      </p:sp>
      <p:sp>
        <p:nvSpPr>
          <p:cNvPr id="21" name="Rectangle: Rounded Corners 20">
            <a:extLst>
              <a:ext uri="{FF2B5EF4-FFF2-40B4-BE49-F238E27FC236}">
                <a16:creationId xmlns:a16="http://schemas.microsoft.com/office/drawing/2014/main" id="{5C8129DE-4E68-4A37-B8F2-D2F8A607965A}"/>
              </a:ext>
            </a:extLst>
          </p:cNvPr>
          <p:cNvSpPr/>
          <p:nvPr/>
        </p:nvSpPr>
        <p:spPr>
          <a:xfrm>
            <a:off x="3340100" y="3175000"/>
            <a:ext cx="2857500" cy="889000"/>
          </a:xfrm>
          <a:prstGeom prst="roundRect">
            <a:avLst/>
          </a:prstGeom>
          <a:solidFill>
            <a:srgbClr val="1A1D27"/>
          </a:solidFill>
          <a:ln w="25400" cap="flat" cmpd="sng" algn="ctr">
            <a:solidFill>
              <a:srgbClr val="FF9F4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000">
                <a:solidFill>
                  <a:srgbClr val="D0D4DC"/>
                </a:solidFill>
              </a:rPr>
              <a:t>ModuleNotFoundError
Package not installed
Fix: pip install &lt;pkg&gt;</a:t>
            </a:r>
          </a:p>
        </p:txBody>
      </p:sp>
      <p:sp>
        <p:nvSpPr>
          <p:cNvPr id="22" name="Rectangle: Rounded Corners 21">
            <a:extLst>
              <a:ext uri="{FF2B5EF4-FFF2-40B4-BE49-F238E27FC236}">
                <a16:creationId xmlns:a16="http://schemas.microsoft.com/office/drawing/2014/main" id="{D991747C-3D1D-416A-B51F-F302426F98E9}"/>
              </a:ext>
            </a:extLst>
          </p:cNvPr>
          <p:cNvSpPr/>
          <p:nvPr/>
        </p:nvSpPr>
        <p:spPr>
          <a:xfrm>
            <a:off x="6299200" y="3175000"/>
            <a:ext cx="2857500" cy="889000"/>
          </a:xfrm>
          <a:prstGeom prst="roundRect">
            <a:avLst/>
          </a:prstGeom>
          <a:solidFill>
            <a:srgbClr val="1A1D27"/>
          </a:solidFill>
          <a:ln w="25400" cap="flat" cmpd="sng" algn="ctr">
            <a:solidFill>
              <a:srgbClr val="54A0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000">
                <a:solidFill>
                  <a:srgbClr val="D0D4DC"/>
                </a:solidFill>
              </a:rPr>
              <a:t>TypeError
Wrong data type
Fix: Check .dtype</a:t>
            </a:r>
          </a:p>
        </p:txBody>
      </p:sp>
      <p:sp>
        <p:nvSpPr>
          <p:cNvPr id="23" name="Rectangle: Rounded Corners 22">
            <a:extLst>
              <a:ext uri="{FF2B5EF4-FFF2-40B4-BE49-F238E27FC236}">
                <a16:creationId xmlns:a16="http://schemas.microsoft.com/office/drawing/2014/main" id="{8EDDE4D3-CA2D-42BF-B242-85AE08660380}"/>
              </a:ext>
            </a:extLst>
          </p:cNvPr>
          <p:cNvSpPr/>
          <p:nvPr/>
        </p:nvSpPr>
        <p:spPr>
          <a:xfrm>
            <a:off x="9258300" y="3175000"/>
            <a:ext cx="2857500" cy="889000"/>
          </a:xfrm>
          <a:prstGeom prst="roundRect">
            <a:avLst/>
          </a:prstGeom>
          <a:solidFill>
            <a:srgbClr val="1A1D27"/>
          </a:solidFill>
          <a:ln w="25400" cap="flat" cmpd="sng" algn="ctr">
            <a:solidFill>
              <a:srgbClr val="6C5CE7"/>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000">
                <a:solidFill>
                  <a:srgbClr val="D0D4DC"/>
                </a:solidFill>
              </a:rPr>
              <a:t>IndexError
Out of range
Fix: Check len()</a:t>
            </a:r>
          </a:p>
        </p:txBody>
      </p:sp>
      <p:sp>
        <p:nvSpPr>
          <p:cNvPr id="24" name="Rectangle: Rounded Corners 23">
            <a:extLst>
              <a:ext uri="{FF2B5EF4-FFF2-40B4-BE49-F238E27FC236}">
                <a16:creationId xmlns:a16="http://schemas.microsoft.com/office/drawing/2014/main" id="{27D321EE-3E78-489C-9F80-A9DD99AAEC2B}"/>
              </a:ext>
            </a:extLst>
          </p:cNvPr>
          <p:cNvSpPr/>
          <p:nvPr/>
        </p:nvSpPr>
        <p:spPr>
          <a:xfrm>
            <a:off x="6032500" y="1498600"/>
            <a:ext cx="5905500" cy="1574800"/>
          </a:xfrm>
          <a:prstGeom prst="roundRect">
            <a:avLst/>
          </a:prstGeom>
          <a:solidFill>
            <a:srgbClr val="1A1D27"/>
          </a:solidFill>
          <a:ln w="38100" cap="flat" cmpd="sng" algn="ctr">
            <a:solidFill>
              <a:srgbClr val="FF9F4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400" b="1">
                <a:solidFill>
                  <a:srgbClr val="FF9F43"/>
                </a:solidFill>
              </a:rPr>
              <a:t>SCREENSHOT:
Python error pasted into Claude with fix</a:t>
            </a:r>
          </a:p>
        </p:txBody>
      </p:sp>
      <p:sp>
        <p:nvSpPr>
          <p:cNvPr id="25" name="TextBox 24">
            <a:extLst>
              <a:ext uri="{FF2B5EF4-FFF2-40B4-BE49-F238E27FC236}">
                <a16:creationId xmlns:a16="http://schemas.microsoft.com/office/drawing/2014/main" id="{BE90EE79-7AEC-4820-8EEF-139D2FFDB3A1}"/>
              </a:ext>
            </a:extLst>
          </p:cNvPr>
          <p:cNvSpPr txBox="1"/>
          <p:nvPr/>
        </p:nvSpPr>
        <p:spPr>
          <a:xfrm>
            <a:off x="381000" y="4191000"/>
            <a:ext cx="11557000" cy="635000"/>
          </a:xfrm>
          <a:prstGeom prst="rect">
            <a:avLst/>
          </a:prstGeom>
          <a:noFill/>
        </p:spPr>
        <p:txBody>
          <a:bodyPr vertOverflow="overflow" vert="horz" wrap="square" rtlCol="0" anchor="t">
            <a:spAutoFit/>
          </a:bodyPr>
          <a:lstStyle/>
          <a:p>
            <a:pPr algn="l"/>
            <a:r>
              <a:rPr lang="en-US" sz="1200">
                <a:solidFill>
                  <a:srgbClr val="D0D4DC"/>
                </a:solidFill>
              </a:rPr>
              <a:t>Debugging is the most underrated skill in programming. Errors are normal — even senior engineers hit errors constantly. The key is reading the traceback from bottom to top: the last line tells you the error type, and the line above it shows exactly where it happened. Copy the full error into Claude and it will explain the fix in seconds.</a:t>
            </a:r>
          </a:p>
        </p:txBody>
      </p:sp>
    </p:spTree>
    <p:extLst>
      <p:ext uri="{BB962C8B-B14F-4D97-AF65-F5344CB8AC3E}">
        <p14:creationId xmlns:p14="http://schemas.microsoft.com/office/powerpoint/2010/main" val="24581147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E15AF-DDF8-E388-EFE9-CB11C1FA1E58}"/>
              </a:ext>
            </a:extLst>
          </p:cNvPr>
          <p:cNvSpPr>
            <a:spLocks noGrp="1"/>
          </p:cNvSpPr>
          <p:nvPr>
            <p:ph type="title"/>
          </p:nvPr>
        </p:nvSpPr>
        <p:spPr/>
        <p:txBody>
          <a:bodyPr>
            <a:normAutofit/>
          </a:bodyPr>
          <a:lstStyle/>
          <a:p>
            <a:r>
              <a:rPr lang="en-US" sz="4000" b="1"/>
              <a:t>Reading Documentation</a:t>
            </a:r>
          </a:p>
        </p:txBody>
      </p:sp>
      <p:sp>
        <p:nvSpPr>
          <p:cNvPr id="3" name="Text Placeholder 2">
            <a:extLst>
              <a:ext uri="{FF2B5EF4-FFF2-40B4-BE49-F238E27FC236}">
                <a16:creationId xmlns:a16="http://schemas.microsoft.com/office/drawing/2014/main" id="{715E9992-914A-F38A-7A07-B0EA63065264}"/>
              </a:ext>
            </a:extLst>
          </p:cNvPr>
          <p:cNvSpPr>
            <a:spLocks noGrp="1"/>
          </p:cNvSpPr>
          <p:nvPr>
            <p:ph type="body" idx="1"/>
          </p:nvPr>
        </p:nvSpPr>
        <p:spPr/>
        <p:txBody>
          <a:bodyPr>
            <a:normAutofit/>
          </a:bodyPr>
          <a:lstStyle/>
          <a:p>
            <a:r>
              <a:rPr lang="en-US" sz="1600"/>
              <a:t>Section 13  —  The self-teaching skill that makes you independent as a builder</a:t>
            </a:r>
          </a:p>
        </p:txBody>
      </p:sp>
      <p:pic>
        <p:nvPicPr>
          <p:cNvPr id="4" name="Graphic 4" descr="Book icon for documentatio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14000" y="1968500"/>
            <a:ext cx="762000" cy="762000"/>
          </a:xfrm>
          <a:prstGeom prst="rect">
            <a:avLst/>
          </a:prstGeom>
        </p:spPr>
      </p:pic>
    </p:spTree>
    <p:extLst>
      <p:ext uri="{BB962C8B-B14F-4D97-AF65-F5344CB8AC3E}">
        <p14:creationId xmlns:p14="http://schemas.microsoft.com/office/powerpoint/2010/main" val="41704379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EDCD1753-E0D4-44CA-85E8-350738ECAAC9}"/>
              </a:ext>
            </a:extLst>
          </p:cNvPr>
          <p:cNvSpPr txBox="1"/>
          <p:nvPr/>
        </p:nvSpPr>
        <p:spPr>
          <a:xfrm>
            <a:off x="381000" y="127000"/>
            <a:ext cx="11430000" cy="508000"/>
          </a:xfrm>
          <a:prstGeom prst="rect">
            <a:avLst/>
          </a:prstGeom>
          <a:noFill/>
        </p:spPr>
        <p:txBody>
          <a:bodyPr vertOverflow="overflow" vert="horz" wrap="square" rtlCol="0" anchor="t">
            <a:spAutoFit/>
          </a:bodyPr>
          <a:lstStyle/>
          <a:p>
            <a:pPr algn="l"/>
            <a:r>
              <a:rPr lang="en-US" sz="2400" b="1">
                <a:solidFill>
                  <a:srgbClr val="F0F0F0"/>
                </a:solidFill>
              </a:rPr>
              <a:t>Reading Documentation: Visual Anatomy</a:t>
            </a:r>
          </a:p>
        </p:txBody>
      </p:sp>
      <p:sp>
        <p:nvSpPr>
          <p:cNvPr id="11" name="Rectangle: Rounded Corners 10">
            <a:extLst>
              <a:ext uri="{FF2B5EF4-FFF2-40B4-BE49-F238E27FC236}">
                <a16:creationId xmlns:a16="http://schemas.microsoft.com/office/drawing/2014/main" id="{AA21573B-5579-4D68-9B40-CC4CC043C2DB}"/>
              </a:ext>
            </a:extLst>
          </p:cNvPr>
          <p:cNvSpPr/>
          <p:nvPr/>
        </p:nvSpPr>
        <p:spPr>
          <a:xfrm>
            <a:off x="381000" y="698500"/>
            <a:ext cx="6350000" cy="3810000"/>
          </a:xfrm>
          <a:prstGeom prst="roundRect">
            <a:avLst/>
          </a:prstGeom>
          <a:solidFill>
            <a:srgbClr val="FFFFFF"/>
          </a:solidFill>
          <a:ln w="12700" cap="flat" cmpd="sng" algn="ctr">
            <a:solidFill>
              <a:srgbClr val="CCCCC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oAutofit/>
          </a:bodyPr>
          <a:lstStyle/>
          <a:p>
            <a:pPr algn="l"/>
            <a:endParaRPr lang="en-US"/>
          </a:p>
        </p:txBody>
      </p:sp>
      <p:sp>
        <p:nvSpPr>
          <p:cNvPr id="12" name="Rectangle 11">
            <a:extLst>
              <a:ext uri="{FF2B5EF4-FFF2-40B4-BE49-F238E27FC236}">
                <a16:creationId xmlns:a16="http://schemas.microsoft.com/office/drawing/2014/main" id="{799EA4B3-94F3-427E-9680-7AF106E6AD42}"/>
              </a:ext>
            </a:extLst>
          </p:cNvPr>
          <p:cNvSpPr/>
          <p:nvPr/>
        </p:nvSpPr>
        <p:spPr>
          <a:xfrm>
            <a:off x="381000" y="698500"/>
            <a:ext cx="6350000" cy="355600"/>
          </a:xfrm>
          <a:prstGeom prst="rect">
            <a:avLst/>
          </a:prstGeom>
          <a:solidFill>
            <a:srgbClr val="15045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sv-SE" sz="1000">
                <a:solidFill>
                  <a:srgbClr val="FFFFFF"/>
                </a:solidFill>
                <a:latin typeface="Consolas"/>
              </a:rPr>
              <a:t>  pandas documentation — pandas.DataFrame.rolling</a:t>
            </a:r>
            <a:endParaRPr lang="en-US" sz="1000">
              <a:solidFill>
                <a:srgbClr val="FFFFFF"/>
              </a:solidFill>
              <a:latin typeface="Consolas"/>
            </a:endParaRPr>
          </a:p>
        </p:txBody>
      </p:sp>
      <p:sp>
        <p:nvSpPr>
          <p:cNvPr id="13" name="Rectangle 12">
            <a:extLst>
              <a:ext uri="{FF2B5EF4-FFF2-40B4-BE49-F238E27FC236}">
                <a16:creationId xmlns:a16="http://schemas.microsoft.com/office/drawing/2014/main" id="{B636C775-A410-4551-BF78-B560D9A94C99}"/>
              </a:ext>
            </a:extLst>
          </p:cNvPr>
          <p:cNvSpPr/>
          <p:nvPr/>
        </p:nvSpPr>
        <p:spPr>
          <a:xfrm>
            <a:off x="508000" y="1130300"/>
            <a:ext cx="6096000" cy="406400"/>
          </a:xfrm>
          <a:prstGeom prst="rect">
            <a:avLst/>
          </a:prstGeom>
          <a:solidFill>
            <a:srgbClr val="F0F8FF"/>
          </a:solidFill>
          <a:ln w="25400" cap="flat" cmpd="sng" algn="ctr">
            <a:solidFill>
              <a:srgbClr val="42A5F5"/>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000" b="1">
                <a:solidFill>
                  <a:srgbClr val="1E1E1E"/>
                </a:solidFill>
                <a:latin typeface="Consolas"/>
              </a:rPr>
              <a:t>DataFrame.rolling(window, min_periods=None, center=False)</a:t>
            </a:r>
          </a:p>
        </p:txBody>
      </p:sp>
      <p:sp>
        <p:nvSpPr>
          <p:cNvPr id="14" name="TextBox 13">
            <a:extLst>
              <a:ext uri="{FF2B5EF4-FFF2-40B4-BE49-F238E27FC236}">
                <a16:creationId xmlns:a16="http://schemas.microsoft.com/office/drawing/2014/main" id="{40B31C37-8570-4B5D-9C4E-97A441C8F11B}"/>
              </a:ext>
            </a:extLst>
          </p:cNvPr>
          <p:cNvSpPr txBox="1"/>
          <p:nvPr/>
        </p:nvSpPr>
        <p:spPr>
          <a:xfrm>
            <a:off x="6883400" y="1079500"/>
            <a:ext cx="2159000" cy="482600"/>
          </a:xfrm>
          <a:prstGeom prst="rect">
            <a:avLst/>
          </a:prstGeom>
          <a:noFill/>
        </p:spPr>
        <p:txBody>
          <a:bodyPr vertOverflow="overflow" vert="horz" wrap="square" rtlCol="0" anchor="t">
            <a:spAutoFit/>
          </a:bodyPr>
          <a:lstStyle/>
          <a:p>
            <a:pPr algn="l"/>
            <a:r>
              <a:rPr lang="en-US" sz="1000" b="1">
                <a:solidFill>
                  <a:srgbClr val="42A5F5"/>
                </a:solidFill>
              </a:rPr>
              <a:t>◀ 1. FUNCTION SIGNATURE
What you type</a:t>
            </a:r>
          </a:p>
        </p:txBody>
      </p:sp>
      <p:sp>
        <p:nvSpPr>
          <p:cNvPr id="15" name="Rectangle 14">
            <a:extLst>
              <a:ext uri="{FF2B5EF4-FFF2-40B4-BE49-F238E27FC236}">
                <a16:creationId xmlns:a16="http://schemas.microsoft.com/office/drawing/2014/main" id="{D220D699-FCDB-4D83-817A-4418E23ED82A}"/>
              </a:ext>
            </a:extLst>
          </p:cNvPr>
          <p:cNvSpPr/>
          <p:nvPr/>
        </p:nvSpPr>
        <p:spPr>
          <a:xfrm>
            <a:off x="508000" y="1612900"/>
            <a:ext cx="6096000" cy="914400"/>
          </a:xfrm>
          <a:prstGeom prst="rect">
            <a:avLst/>
          </a:prstGeom>
          <a:solidFill>
            <a:srgbClr val="FFFFFF"/>
          </a:solidFill>
          <a:ln w="25400" cap="flat" cmpd="sng" algn="ctr">
            <a:solidFill>
              <a:srgbClr val="66BB6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oAutofit/>
          </a:bodyPr>
          <a:lstStyle/>
          <a:p>
            <a:pPr algn="l"/>
            <a:r>
              <a:rPr lang="en-US" sz="900">
                <a:solidFill>
                  <a:srgbClr val="333333"/>
                </a:solidFill>
                <a:latin typeface="Consolas"/>
              </a:rPr>
              <a:t>Parameters:
  window : int — Size of the moving window
  min_periods : int — Minimum observations needed
  center : bool — Set labels at center of window</a:t>
            </a:r>
          </a:p>
        </p:txBody>
      </p:sp>
      <p:sp>
        <p:nvSpPr>
          <p:cNvPr id="16" name="TextBox 15">
            <a:extLst>
              <a:ext uri="{FF2B5EF4-FFF2-40B4-BE49-F238E27FC236}">
                <a16:creationId xmlns:a16="http://schemas.microsoft.com/office/drawing/2014/main" id="{281B80D6-9757-4841-A3FC-BD16971519A7}"/>
              </a:ext>
            </a:extLst>
          </p:cNvPr>
          <p:cNvSpPr txBox="1"/>
          <p:nvPr/>
        </p:nvSpPr>
        <p:spPr>
          <a:xfrm>
            <a:off x="6883400" y="1739900"/>
            <a:ext cx="2159000" cy="482600"/>
          </a:xfrm>
          <a:prstGeom prst="rect">
            <a:avLst/>
          </a:prstGeom>
          <a:noFill/>
        </p:spPr>
        <p:txBody>
          <a:bodyPr vertOverflow="overflow" vert="horz" wrap="square" rtlCol="0" anchor="t">
            <a:spAutoFit/>
          </a:bodyPr>
          <a:lstStyle/>
          <a:p>
            <a:pPr algn="l"/>
            <a:r>
              <a:rPr lang="en-US" sz="1000" b="1">
                <a:solidFill>
                  <a:srgbClr val="66BB6A"/>
                </a:solidFill>
              </a:rPr>
              <a:t>◀ 2. PARAMETERS
What each argument does</a:t>
            </a:r>
          </a:p>
        </p:txBody>
      </p:sp>
      <p:sp>
        <p:nvSpPr>
          <p:cNvPr id="17" name="Rectangle 16">
            <a:extLst>
              <a:ext uri="{FF2B5EF4-FFF2-40B4-BE49-F238E27FC236}">
                <a16:creationId xmlns:a16="http://schemas.microsoft.com/office/drawing/2014/main" id="{4397A4B3-1D9F-4A93-B997-9B6CC89D220F}"/>
              </a:ext>
            </a:extLst>
          </p:cNvPr>
          <p:cNvSpPr/>
          <p:nvPr/>
        </p:nvSpPr>
        <p:spPr>
          <a:xfrm>
            <a:off x="508000" y="2603500"/>
            <a:ext cx="6096000" cy="406400"/>
          </a:xfrm>
          <a:prstGeom prst="rect">
            <a:avLst/>
          </a:prstGeom>
          <a:solidFill>
            <a:srgbClr val="FFFFFF"/>
          </a:solidFill>
          <a:ln w="25400" cap="flat" cmpd="sng" algn="ctr">
            <a:solidFill>
              <a:srgbClr val="FF9F4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900">
                <a:solidFill>
                  <a:srgbClr val="333333"/>
                </a:solidFill>
                <a:latin typeface="Consolas"/>
              </a:rPr>
              <a:t>Returns: Rolling — Rolling subclass for further operations</a:t>
            </a:r>
          </a:p>
        </p:txBody>
      </p:sp>
      <p:sp>
        <p:nvSpPr>
          <p:cNvPr id="18" name="TextBox 17">
            <a:extLst>
              <a:ext uri="{FF2B5EF4-FFF2-40B4-BE49-F238E27FC236}">
                <a16:creationId xmlns:a16="http://schemas.microsoft.com/office/drawing/2014/main" id="{24FACEB0-8A49-420F-88C2-33040B060B9E}"/>
              </a:ext>
            </a:extLst>
          </p:cNvPr>
          <p:cNvSpPr txBox="1"/>
          <p:nvPr/>
        </p:nvSpPr>
        <p:spPr>
          <a:xfrm>
            <a:off x="6883400" y="2578100"/>
            <a:ext cx="2159000" cy="482600"/>
          </a:xfrm>
          <a:prstGeom prst="rect">
            <a:avLst/>
          </a:prstGeom>
          <a:noFill/>
        </p:spPr>
        <p:txBody>
          <a:bodyPr vertOverflow="overflow" vert="horz" wrap="square" rtlCol="0" anchor="t">
            <a:spAutoFit/>
          </a:bodyPr>
          <a:lstStyle/>
          <a:p>
            <a:pPr algn="l"/>
            <a:r>
              <a:rPr lang="en-US" sz="1000" b="1">
                <a:solidFill>
                  <a:srgbClr val="FF9F43"/>
                </a:solidFill>
              </a:rPr>
              <a:t>◀ 3. RETURNS
What you get back</a:t>
            </a:r>
          </a:p>
        </p:txBody>
      </p:sp>
      <p:sp>
        <p:nvSpPr>
          <p:cNvPr id="19" name="Rectangle 18">
            <a:extLst>
              <a:ext uri="{FF2B5EF4-FFF2-40B4-BE49-F238E27FC236}">
                <a16:creationId xmlns:a16="http://schemas.microsoft.com/office/drawing/2014/main" id="{88AC8D36-6E8C-437B-9E45-A5C5541655C6}"/>
              </a:ext>
            </a:extLst>
          </p:cNvPr>
          <p:cNvSpPr/>
          <p:nvPr/>
        </p:nvSpPr>
        <p:spPr>
          <a:xfrm>
            <a:off x="508000" y="3111500"/>
            <a:ext cx="6096000" cy="660400"/>
          </a:xfrm>
          <a:prstGeom prst="rect">
            <a:avLst/>
          </a:prstGeom>
          <a:solidFill>
            <a:srgbClr val="F5F5F5"/>
          </a:solidFill>
          <a:ln w="25400" cap="flat" cmpd="sng" algn="ctr">
            <a:solidFill>
              <a:srgbClr val="6C5CE7"/>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noAutofit/>
          </a:bodyPr>
          <a:lstStyle/>
          <a:p>
            <a:pPr algn="l"/>
            <a:r>
              <a:rPr lang="en-US" sz="900">
                <a:solidFill>
                  <a:srgbClr val="333333"/>
                </a:solidFill>
                <a:latin typeface="Consolas"/>
              </a:rPr>
              <a:t>Examples:
&gt;&gt;&gt; df['Close'].rolling(20).mean()
&gt;&gt;&gt; df['Volume'].rolling(5).std()</a:t>
            </a:r>
          </a:p>
        </p:txBody>
      </p:sp>
      <p:sp>
        <p:nvSpPr>
          <p:cNvPr id="20" name="TextBox 19">
            <a:extLst>
              <a:ext uri="{FF2B5EF4-FFF2-40B4-BE49-F238E27FC236}">
                <a16:creationId xmlns:a16="http://schemas.microsoft.com/office/drawing/2014/main" id="{C4847B10-495B-4F61-9A11-A1ECC99D85F4}"/>
              </a:ext>
            </a:extLst>
          </p:cNvPr>
          <p:cNvSpPr txBox="1"/>
          <p:nvPr/>
        </p:nvSpPr>
        <p:spPr>
          <a:xfrm>
            <a:off x="6883400" y="3213100"/>
            <a:ext cx="2159000" cy="482600"/>
          </a:xfrm>
          <a:prstGeom prst="rect">
            <a:avLst/>
          </a:prstGeom>
          <a:noFill/>
        </p:spPr>
        <p:txBody>
          <a:bodyPr vertOverflow="overflow" vert="horz" wrap="square" rtlCol="0" anchor="t">
            <a:spAutoFit/>
          </a:bodyPr>
          <a:lstStyle/>
          <a:p>
            <a:pPr algn="l"/>
            <a:r>
              <a:rPr lang="en-US" sz="1000" b="1">
                <a:solidFill>
                  <a:srgbClr val="6C5CE7"/>
                </a:solidFill>
              </a:rPr>
              <a:t>◀ 4. EXAMPLES
Copy-paste starting point</a:t>
            </a:r>
          </a:p>
        </p:txBody>
      </p:sp>
      <p:sp>
        <p:nvSpPr>
          <p:cNvPr id="21" name="Rectangle 20">
            <a:extLst>
              <a:ext uri="{FF2B5EF4-FFF2-40B4-BE49-F238E27FC236}">
                <a16:creationId xmlns:a16="http://schemas.microsoft.com/office/drawing/2014/main" id="{19C95902-6FA5-440C-ADB5-BB0074CDFBA3}"/>
              </a:ext>
            </a:extLst>
          </p:cNvPr>
          <p:cNvSpPr/>
          <p:nvPr/>
        </p:nvSpPr>
        <p:spPr>
          <a:xfrm>
            <a:off x="508000" y="3848100"/>
            <a:ext cx="6096000" cy="406400"/>
          </a:xfrm>
          <a:prstGeom prst="rect">
            <a:avLst/>
          </a:prstGeom>
          <a:solidFill>
            <a:srgbClr val="FFFFFF"/>
          </a:solidFill>
          <a:ln w="25400" cap="flat" cmpd="sng" algn="ctr">
            <a:solidFill>
              <a:srgbClr val="00D2D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900">
                <a:solidFill>
                  <a:srgbClr val="333333"/>
                </a:solidFill>
                <a:latin typeface="Consolas"/>
              </a:rPr>
              <a:t>See Also: expanding, ewm, GroupBy.rolling</a:t>
            </a:r>
          </a:p>
        </p:txBody>
      </p:sp>
      <p:sp>
        <p:nvSpPr>
          <p:cNvPr id="22" name="TextBox 21">
            <a:extLst>
              <a:ext uri="{FF2B5EF4-FFF2-40B4-BE49-F238E27FC236}">
                <a16:creationId xmlns:a16="http://schemas.microsoft.com/office/drawing/2014/main" id="{FB8FE15A-A124-4F7D-AA3C-C9CAF93BCE67}"/>
              </a:ext>
            </a:extLst>
          </p:cNvPr>
          <p:cNvSpPr txBox="1"/>
          <p:nvPr/>
        </p:nvSpPr>
        <p:spPr>
          <a:xfrm>
            <a:off x="6883400" y="3848100"/>
            <a:ext cx="2159000" cy="482600"/>
          </a:xfrm>
          <a:prstGeom prst="rect">
            <a:avLst/>
          </a:prstGeom>
          <a:noFill/>
        </p:spPr>
        <p:txBody>
          <a:bodyPr vertOverflow="overflow" vert="horz" wrap="square" rtlCol="0" anchor="t">
            <a:spAutoFit/>
          </a:bodyPr>
          <a:lstStyle/>
          <a:p>
            <a:pPr algn="l"/>
            <a:r>
              <a:rPr lang="en-US" sz="1000" b="1">
                <a:solidFill>
                  <a:srgbClr val="00D2D3"/>
                </a:solidFill>
              </a:rPr>
              <a:t>◀ 5. SEE ALSO
Related functions</a:t>
            </a:r>
          </a:p>
        </p:txBody>
      </p:sp>
      <p:sp>
        <p:nvSpPr>
          <p:cNvPr id="23" name="TextBox 22">
            <a:extLst>
              <a:ext uri="{FF2B5EF4-FFF2-40B4-BE49-F238E27FC236}">
                <a16:creationId xmlns:a16="http://schemas.microsoft.com/office/drawing/2014/main" id="{F0508B3A-46B0-4D1C-9CE1-6C0716083EAB}"/>
              </a:ext>
            </a:extLst>
          </p:cNvPr>
          <p:cNvSpPr txBox="1"/>
          <p:nvPr/>
        </p:nvSpPr>
        <p:spPr>
          <a:xfrm>
            <a:off x="381000" y="4635500"/>
            <a:ext cx="11557000" cy="1079500"/>
          </a:xfrm>
          <a:prstGeom prst="rect">
            <a:avLst/>
          </a:prstGeom>
          <a:noFill/>
        </p:spPr>
        <p:txBody>
          <a:bodyPr vertOverflow="overflow" vert="horz" wrap="square" rtlCol="0" anchor="t">
            <a:spAutoFit/>
          </a:bodyPr>
          <a:lstStyle/>
          <a:p>
            <a:pPr algn="l"/>
            <a:r>
              <a:rPr lang="en-US" sz="1200">
                <a:solidFill>
                  <a:srgbClr val="D0D4DC"/>
                </a:solidFill>
              </a:rPr>
              <a:t>How to read documentation fast:
1. Start with the EXAMPLES section — copy the code, run it, then modify
2. Look at the FUNCTION SIGNATURE to see what arguments exist
3. Read only the PARAMETERS you need — ignore the rest
4. If confused, paste the function signature into Claude and ask it to explain
Key resources: pandas.pydata.org/docs  |  docs.anthropic.com  |  docs.python.org</a:t>
            </a:r>
          </a:p>
        </p:txBody>
      </p:sp>
    </p:spTree>
    <p:extLst>
      <p:ext uri="{BB962C8B-B14F-4D97-AF65-F5344CB8AC3E}">
        <p14:creationId xmlns:p14="http://schemas.microsoft.com/office/powerpoint/2010/main" val="1499604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3BD52A8-BCF2-4219-B907-18A0F5173E46}"/>
              </a:ext>
            </a:extLst>
          </p:cNvPr>
          <p:cNvSpPr txBox="1"/>
          <p:nvPr/>
        </p:nvSpPr>
        <p:spPr>
          <a:xfrm>
            <a:off x="381000" y="508000"/>
            <a:ext cx="11430000" cy="698500"/>
          </a:xfrm>
          <a:prstGeom prst="rect">
            <a:avLst/>
          </a:prstGeom>
          <a:noFill/>
        </p:spPr>
        <p:txBody>
          <a:bodyPr vertOverflow="overflow" vert="horz" wrap="square" rtlCol="0" anchor="t">
            <a:spAutoFit/>
          </a:bodyPr>
          <a:lstStyle/>
          <a:p>
            <a:pPr algn="l"/>
            <a:r>
              <a:rPr lang="en-US" sz="3400" b="1">
                <a:solidFill>
                  <a:srgbClr val="F0F0F0"/>
                </a:solidFill>
              </a:rPr>
              <a:t>You Have the Stack. Now Go Build.</a:t>
            </a:r>
          </a:p>
        </p:txBody>
      </p:sp>
      <p:sp>
        <p:nvSpPr>
          <p:cNvPr id="8" name="TextBox 7">
            <a:extLst>
              <a:ext uri="{FF2B5EF4-FFF2-40B4-BE49-F238E27FC236}">
                <a16:creationId xmlns:a16="http://schemas.microsoft.com/office/drawing/2014/main" id="{FE452B28-8894-4FD4-9C41-6AA200B5D78E}"/>
              </a:ext>
            </a:extLst>
          </p:cNvPr>
          <p:cNvSpPr txBox="1"/>
          <p:nvPr/>
        </p:nvSpPr>
        <p:spPr>
          <a:xfrm>
            <a:off x="1016000" y="1333500"/>
            <a:ext cx="10160000" cy="3683000"/>
          </a:xfrm>
          <a:prstGeom prst="rect">
            <a:avLst/>
          </a:prstGeom>
          <a:noFill/>
        </p:spPr>
        <p:txBody>
          <a:bodyPr vertOverflow="overflow" vert="horz" wrap="square" rtlCol="0" anchor="t">
            <a:spAutoFit/>
          </a:bodyPr>
          <a:lstStyle/>
          <a:p>
            <a:pPr algn="l"/>
            <a:r>
              <a:rPr lang="en-US" sz="1400">
                <a:solidFill>
                  <a:srgbClr val="D0D4DC"/>
                </a:solidFill>
              </a:rPr>
              <a:t>You now have every tool you need to start building real quant finance projects:
• A code editor (VSCode or Cursor) with the right extensions installed
• A terminal where you run Python, Git, and everything else
• Git and GitHub for version control and your professional portfolio
• A properly configured Python environment with virtual environments
• Jupyter Notebooks for interactive data exploration and backtesting
• The quant Python stack: pandas, numpy, matplotlib, yfinance, scikit-learn
• The ability to call APIs and handle CSV/JSON data files
• Prompt engineering skills to direct Claude as your coding partner
• The habit of reading documentation and debugging your own errors
Claude handles the syntax. Your job is to know what to build and how to direct it. That is the edge. The people who will be most successful in quant finance over the next decade are not the ones who memorized the most Python — they are the ones who combined domain expertise with the ability to build tools quickly using AI.
Start today. Pick a project — any project. Download SPY data, calculate a moving average crossover strategy, plot the results. Ask Claude to help you every step of the way. The only way to learn this is by doing it.
TAMID Quant Finance  |  NYU  |  Go build something.</a:t>
            </a:r>
          </a:p>
        </p:txBody>
      </p:sp>
      <p:sp>
        <p:nvSpPr>
          <p:cNvPr id="2" name="Oval 1">
            <a:extLst>
              <a:ext uri="{FF2B5EF4-FFF2-40B4-BE49-F238E27FC236}">
                <a16:creationId xmlns:a16="http://schemas.microsoft.com/office/drawing/2014/main" id="{A8DF41AC-22B0-4676-B7D7-8E89DC1E45ED}"/>
              </a:ext>
            </a:extLst>
          </p:cNvPr>
          <p:cNvSpPr/>
          <p:nvPr/>
        </p:nvSpPr>
        <p:spPr>
          <a:xfrm>
            <a:off x="2667000" y="6096000"/>
            <a:ext cx="406400" cy="406400"/>
          </a:xfrm>
          <a:prstGeom prst="ellipse">
            <a:avLst/>
          </a:prstGeom>
          <a:solidFill>
            <a:srgbClr val="007AC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000" b="1">
                <a:solidFill>
                  <a:srgbClr val="FFFFFF"/>
                </a:solidFill>
              </a:rPr>
              <a:t>VS</a:t>
            </a:r>
          </a:p>
        </p:txBody>
      </p:sp>
      <p:sp>
        <p:nvSpPr>
          <p:cNvPr id="3" name="Oval 2">
            <a:extLst>
              <a:ext uri="{FF2B5EF4-FFF2-40B4-BE49-F238E27FC236}">
                <a16:creationId xmlns:a16="http://schemas.microsoft.com/office/drawing/2014/main" id="{8FAD4779-F450-447C-85F1-59DFCC69E21F}"/>
              </a:ext>
            </a:extLst>
          </p:cNvPr>
          <p:cNvSpPr/>
          <p:nvPr/>
        </p:nvSpPr>
        <p:spPr>
          <a:xfrm>
            <a:off x="3378200" y="6096000"/>
            <a:ext cx="406400" cy="406400"/>
          </a:xfrm>
          <a:prstGeom prst="ellipse">
            <a:avLst/>
          </a:prstGeom>
          <a:solidFill>
            <a:srgbClr val="3776A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000" b="1">
                <a:solidFill>
                  <a:srgbClr val="FFFFFF"/>
                </a:solidFill>
              </a:rPr>
              <a:t>Py</a:t>
            </a:r>
          </a:p>
        </p:txBody>
      </p:sp>
      <p:sp>
        <p:nvSpPr>
          <p:cNvPr id="4" name="Oval 3">
            <a:extLst>
              <a:ext uri="{FF2B5EF4-FFF2-40B4-BE49-F238E27FC236}">
                <a16:creationId xmlns:a16="http://schemas.microsoft.com/office/drawing/2014/main" id="{B4A60781-0C08-4BBB-9622-57004F30CC0B}"/>
              </a:ext>
            </a:extLst>
          </p:cNvPr>
          <p:cNvSpPr/>
          <p:nvPr/>
        </p:nvSpPr>
        <p:spPr>
          <a:xfrm>
            <a:off x="4089400" y="6096000"/>
            <a:ext cx="406400" cy="406400"/>
          </a:xfrm>
          <a:prstGeom prst="ellipse">
            <a:avLst/>
          </a:prstGeom>
          <a:solidFill>
            <a:srgbClr val="F0503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000" b="1">
                <a:solidFill>
                  <a:srgbClr val="FFFFFF"/>
                </a:solidFill>
              </a:rPr>
              <a:t>Git</a:t>
            </a:r>
          </a:p>
        </p:txBody>
      </p:sp>
      <p:sp>
        <p:nvSpPr>
          <p:cNvPr id="5" name="Oval 4">
            <a:extLst>
              <a:ext uri="{FF2B5EF4-FFF2-40B4-BE49-F238E27FC236}">
                <a16:creationId xmlns:a16="http://schemas.microsoft.com/office/drawing/2014/main" id="{09DAA79E-FCE1-4875-9219-44B20E04393D}"/>
              </a:ext>
            </a:extLst>
          </p:cNvPr>
          <p:cNvSpPr/>
          <p:nvPr/>
        </p:nvSpPr>
        <p:spPr>
          <a:xfrm>
            <a:off x="4800600" y="6096000"/>
            <a:ext cx="406400" cy="406400"/>
          </a:xfrm>
          <a:prstGeom prst="ellipse">
            <a:avLst/>
          </a:prstGeom>
          <a:solidFill>
            <a:srgbClr val="15045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000" b="1">
                <a:solidFill>
                  <a:srgbClr val="FFFFFF"/>
                </a:solidFill>
              </a:rPr>
              <a:t>pd</a:t>
            </a:r>
          </a:p>
        </p:txBody>
      </p:sp>
      <p:sp>
        <p:nvSpPr>
          <p:cNvPr id="6" name="Oval 5">
            <a:extLst>
              <a:ext uri="{FF2B5EF4-FFF2-40B4-BE49-F238E27FC236}">
                <a16:creationId xmlns:a16="http://schemas.microsoft.com/office/drawing/2014/main" id="{3E0DAB4C-E64F-4306-8A6F-3F825F2DDBC6}"/>
              </a:ext>
            </a:extLst>
          </p:cNvPr>
          <p:cNvSpPr/>
          <p:nvPr/>
        </p:nvSpPr>
        <p:spPr>
          <a:xfrm>
            <a:off x="5511800" y="6096000"/>
            <a:ext cx="406400" cy="406400"/>
          </a:xfrm>
          <a:prstGeom prst="ellipse">
            <a:avLst/>
          </a:prstGeom>
          <a:solidFill>
            <a:srgbClr val="4DABC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000" b="1">
                <a:solidFill>
                  <a:srgbClr val="0F1117"/>
                </a:solidFill>
              </a:rPr>
              <a:t>np</a:t>
            </a:r>
          </a:p>
        </p:txBody>
      </p:sp>
      <p:sp>
        <p:nvSpPr>
          <p:cNvPr id="10" name="Oval 9">
            <a:extLst>
              <a:ext uri="{FF2B5EF4-FFF2-40B4-BE49-F238E27FC236}">
                <a16:creationId xmlns:a16="http://schemas.microsoft.com/office/drawing/2014/main" id="{77A0A83B-F513-4D18-9276-F10ACF7AE26C}"/>
              </a:ext>
            </a:extLst>
          </p:cNvPr>
          <p:cNvSpPr/>
          <p:nvPr/>
        </p:nvSpPr>
        <p:spPr>
          <a:xfrm>
            <a:off x="6223000" y="6096000"/>
            <a:ext cx="406400" cy="406400"/>
          </a:xfrm>
          <a:prstGeom prst="ellipse">
            <a:avLst/>
          </a:prstGeom>
          <a:solidFill>
            <a:srgbClr val="11557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000" b="1">
                <a:solidFill>
                  <a:srgbClr val="FFFFFF"/>
                </a:solidFill>
              </a:rPr>
              <a:t>↑</a:t>
            </a:r>
          </a:p>
        </p:txBody>
      </p:sp>
      <p:sp>
        <p:nvSpPr>
          <p:cNvPr id="11" name="Oval 10">
            <a:extLst>
              <a:ext uri="{FF2B5EF4-FFF2-40B4-BE49-F238E27FC236}">
                <a16:creationId xmlns:a16="http://schemas.microsoft.com/office/drawing/2014/main" id="{5B1B29F9-A638-49A8-B278-4FDE1C634B3F}"/>
              </a:ext>
            </a:extLst>
          </p:cNvPr>
          <p:cNvSpPr/>
          <p:nvPr/>
        </p:nvSpPr>
        <p:spPr>
          <a:xfrm>
            <a:off x="6934200" y="6096000"/>
            <a:ext cx="406400" cy="406400"/>
          </a:xfrm>
          <a:prstGeom prst="ellipse">
            <a:avLst/>
          </a:prstGeom>
          <a:solidFill>
            <a:srgbClr val="5FD06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000" b="1">
                <a:solidFill>
                  <a:srgbClr val="0F1117"/>
                </a:solidFill>
              </a:rPr>
              <a:t>$</a:t>
            </a:r>
          </a:p>
        </p:txBody>
      </p:sp>
      <p:sp>
        <p:nvSpPr>
          <p:cNvPr id="12" name="Oval 11">
            <a:extLst>
              <a:ext uri="{FF2B5EF4-FFF2-40B4-BE49-F238E27FC236}">
                <a16:creationId xmlns:a16="http://schemas.microsoft.com/office/drawing/2014/main" id="{2B2FEE34-7438-441E-B46F-0AB0CC83BE19}"/>
              </a:ext>
            </a:extLst>
          </p:cNvPr>
          <p:cNvSpPr/>
          <p:nvPr/>
        </p:nvSpPr>
        <p:spPr>
          <a:xfrm>
            <a:off x="7645400" y="6096000"/>
            <a:ext cx="406400" cy="406400"/>
          </a:xfrm>
          <a:prstGeom prst="ellipse">
            <a:avLst/>
          </a:prstGeom>
          <a:solidFill>
            <a:srgbClr val="F7931E"/>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000" b="1">
                <a:solidFill>
                  <a:srgbClr val="0F1117"/>
                </a:solidFill>
              </a:rPr>
              <a:t>sk</a:t>
            </a:r>
          </a:p>
        </p:txBody>
      </p:sp>
      <p:sp>
        <p:nvSpPr>
          <p:cNvPr id="13" name="Oval 12">
            <a:extLst>
              <a:ext uri="{FF2B5EF4-FFF2-40B4-BE49-F238E27FC236}">
                <a16:creationId xmlns:a16="http://schemas.microsoft.com/office/drawing/2014/main" id="{63DAC043-2E62-4A3F-8385-D70E1279EA75}"/>
              </a:ext>
            </a:extLst>
          </p:cNvPr>
          <p:cNvSpPr/>
          <p:nvPr/>
        </p:nvSpPr>
        <p:spPr>
          <a:xfrm>
            <a:off x="8356600" y="6096000"/>
            <a:ext cx="406400" cy="406400"/>
          </a:xfrm>
          <a:prstGeom prst="ellipse">
            <a:avLst/>
          </a:prstGeom>
          <a:solidFill>
            <a:srgbClr val="FF9F4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000" b="1">
                <a:solidFill>
                  <a:srgbClr val="0F1117"/>
                </a:solidFill>
              </a:rPr>
              <a:t>{ }</a:t>
            </a:r>
          </a:p>
        </p:txBody>
      </p:sp>
      <p:sp>
        <p:nvSpPr>
          <p:cNvPr id="14" name="Oval 13">
            <a:extLst>
              <a:ext uri="{FF2B5EF4-FFF2-40B4-BE49-F238E27FC236}">
                <a16:creationId xmlns:a16="http://schemas.microsoft.com/office/drawing/2014/main" id="{908B8DC3-FE4D-4CC8-91A3-76F75C0C59A2}"/>
              </a:ext>
            </a:extLst>
          </p:cNvPr>
          <p:cNvSpPr/>
          <p:nvPr/>
        </p:nvSpPr>
        <p:spPr>
          <a:xfrm>
            <a:off x="9067800" y="6096000"/>
            <a:ext cx="406400" cy="406400"/>
          </a:xfrm>
          <a:prstGeom prst="ellipse">
            <a:avLst/>
          </a:prstGeom>
          <a:solidFill>
            <a:srgbClr val="6C5CE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000" b="1">
                <a:solidFill>
                  <a:srgbClr val="FFFFFF"/>
                </a:solidFill>
              </a:rPr>
              <a:t>✦</a:t>
            </a:r>
          </a:p>
        </p:txBody>
      </p:sp>
    </p:spTree>
    <p:extLst>
      <p:ext uri="{BB962C8B-B14F-4D97-AF65-F5344CB8AC3E}">
        <p14:creationId xmlns:p14="http://schemas.microsoft.com/office/powerpoint/2010/main" val="2766012254"/>
      </p:ext>
    </p:extLst>
  </p:cSld>
  <p:clrMapOvr>
    <a:masterClrMapping/>
  </p:clrMapOvr>
</p:sld>
</file>

<file path=ppt/theme/theme1.xml><?xml version="1.0" encoding="utf-8"?>
<a:theme xmlns:a="http://schemas.openxmlformats.org/drawingml/2006/main" name="Office Theme">
  <a:themeElements>
    <a:clrScheme name="TAMID Dark">
      <a:dk1>
        <a:srgbClr val="F0F0F0"/>
      </a:dk1>
      <a:lt1>
        <a:srgbClr val="0F1117"/>
      </a:lt1>
      <a:dk2>
        <a:srgbClr val="B0B8C4"/>
      </a:dk2>
      <a:lt2>
        <a:srgbClr val="1A1D27"/>
      </a:lt2>
      <a:accent1>
        <a:srgbClr val="6C5CE7"/>
      </a:accent1>
      <a:accent2>
        <a:srgbClr val="FF9F43"/>
      </a:accent2>
      <a:accent3>
        <a:srgbClr val="00D2D3"/>
      </a:accent3>
      <a:accent4>
        <a:srgbClr val="FF6B6B"/>
      </a:accent4>
      <a:accent5>
        <a:srgbClr val="54A0FF"/>
      </a:accent5>
      <a:accent6>
        <a:srgbClr val="5FD068"/>
      </a:accent6>
      <a:hlink>
        <a:srgbClr val="467886"/>
      </a:hlink>
      <a:folHlink>
        <a:srgbClr val="96607D"/>
      </a:folHlink>
    </a:clrScheme>
    <a:fontScheme name="TAMID Fonts">
      <a:majorFont>
        <a:latin typeface="Inter"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2730A68-82EB-4C7B-9350-13B897B29ECB}">
  <we:reference id="wa200010001" version="1.0.0.0" store="en-US" storeType="OMEX"/>
  <we:alternateReferences>
    <we:reference id="WA200010001" version="1.0.0.0" store="" storeType="OMEX"/>
  </we:alternateReferences>
  <we:properties>
    <we:property name="Office.AutoShowTaskpaneWithDocument" value="true"/>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60</TotalTime>
  <Words>5572</Words>
  <Application>Microsoft Office PowerPoint</Application>
  <PresentationFormat>Widescreen</PresentationFormat>
  <Paragraphs>313</Paragraphs>
  <Slides>37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Arial</vt:lpstr>
      <vt:lpstr>Consolas</vt:lpstr>
      <vt:lpstr>Inter</vt:lpstr>
      <vt:lpstr>Office Theme</vt:lpstr>
      <vt:lpstr>CS &amp; Technical Skills
Crash Course</vt:lpstr>
      <vt:lpstr>Welcome &amp; Philosophy</vt:lpstr>
      <vt:lpstr>PowerPoint Presentation</vt:lpstr>
      <vt:lpstr>Your Core Tools</vt:lpstr>
      <vt:lpstr>PowerPoint Presentation</vt:lpstr>
      <vt:lpstr>PowerPoint Presentation</vt:lpstr>
      <vt:lpstr>PowerPoint Presentation</vt:lpstr>
      <vt:lpstr>PowerPoint Presentation</vt:lpstr>
      <vt:lpstr>The Terminal</vt:lpstr>
      <vt:lpstr>PowerPoint Presentation</vt:lpstr>
      <vt:lpstr>Git &amp; GitHub</vt:lpstr>
      <vt:lpstr>PowerPoint Presentation</vt:lpstr>
      <vt:lpstr>PowerPoint Presentation</vt:lpstr>
      <vt:lpstr>Python Environment Setup</vt:lpstr>
      <vt:lpstr>PowerPoint Presentation</vt:lpstr>
      <vt:lpstr>Prompt Engineering for Coders</vt:lpstr>
      <vt:lpstr>PowerPoint Presentation</vt:lpstr>
      <vt:lpstr>Jupyter Notebooks</vt:lpstr>
      <vt:lpstr>PowerPoint Presentation</vt:lpstr>
      <vt:lpstr>The Quant Python Stack</vt:lpstr>
      <vt:lpstr>PowerPoint Presentation</vt:lpstr>
      <vt:lpstr>PowerPoint Presentation</vt:lpstr>
      <vt:lpstr>PowerPoint Presentation</vt:lpstr>
      <vt:lpstr>PowerPoint Presentation</vt:lpstr>
      <vt:lpstr>PowerPoint Presentation</vt:lpstr>
      <vt:lpstr>PowerPoint Presentation</vt:lpstr>
      <vt:lpstr>APIs &amp; Data</vt:lpstr>
      <vt:lpstr>PowerPoint Presentation</vt:lpstr>
      <vt:lpstr>Context Window Management &amp; Claude.md</vt:lpstr>
      <vt:lpstr>PowerPoint Presentation</vt:lpstr>
      <vt:lpstr>Docker Basics</vt:lpstr>
      <vt:lpstr>PowerPoint Presentation</vt:lpstr>
      <vt:lpstr>Debugging Fundamentals</vt:lpstr>
      <vt:lpstr>PowerPoint Presentation</vt:lpstr>
      <vt:lpstr>Reading Documentation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Sean Parnell</dc:creator>
  <cp:lastModifiedBy>Sean Parnell</cp:lastModifiedBy>
  <cp:revision>1</cp:revision>
  <dcterms:created xsi:type="dcterms:W3CDTF">2026-03-04T08:02:39Z</dcterms:created>
  <dcterms:modified xsi:type="dcterms:W3CDTF">2026-03-04T09:02:54Z</dcterms:modified>
</cp:coreProperties>
</file>